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1" r:id="rId2"/>
    <p:sldId id="258" r:id="rId3"/>
    <p:sldId id="264" r:id="rId4"/>
    <p:sldId id="265" r:id="rId5"/>
    <p:sldId id="266" r:id="rId6"/>
    <p:sldId id="267" r:id="rId7"/>
    <p:sldId id="268" r:id="rId8"/>
    <p:sldId id="262" r:id="rId9"/>
    <p:sldId id="269" r:id="rId10"/>
    <p:sldId id="270" r:id="rId11"/>
    <p:sldId id="272" r:id="rId12"/>
    <p:sldId id="271" r:id="rId13"/>
    <p:sldId id="274" r:id="rId14"/>
    <p:sldId id="275" r:id="rId15"/>
    <p:sldId id="276" r:id="rId16"/>
    <p:sldId id="278" r:id="rId17"/>
    <p:sldId id="279" r:id="rId18"/>
    <p:sldId id="280"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8A745"/>
    <a:srgbClr val="567FCA"/>
    <a:srgbClr val="3E6DC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1BFB1E-8BF4-4F73-AE12-6A9E6CEF3669}" v="5548" dt="2022-12-09T06:41:30.1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9" autoAdjust="0"/>
    <p:restoredTop sz="94660"/>
  </p:normalViewPr>
  <p:slideViewPr>
    <p:cSldViewPr snapToGrid="0">
      <p:cViewPr varScale="1">
        <p:scale>
          <a:sx n="98" d="100"/>
          <a:sy n="98" d="100"/>
        </p:scale>
        <p:origin x="132" y="2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193F2-7C98-E5F8-D2D5-F7D276E298E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38F901B1-C157-2791-3601-65B19F2680A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AFE27516-D28A-DD05-0287-6E936C8ABB5E}"/>
              </a:ext>
            </a:extLst>
          </p:cNvPr>
          <p:cNvSpPr>
            <a:spLocks noGrp="1"/>
          </p:cNvSpPr>
          <p:nvPr>
            <p:ph type="dt" sz="half" idx="10"/>
          </p:nvPr>
        </p:nvSpPr>
        <p:spPr/>
        <p:txBody>
          <a:bodyPr/>
          <a:lstStyle/>
          <a:p>
            <a:fld id="{14780091-D232-47A5-B173-E32AE4833AC2}" type="datetimeFigureOut">
              <a:rPr lang="en-GB" smtClean="0"/>
              <a:t>09/12/2022</a:t>
            </a:fld>
            <a:endParaRPr lang="en-GB"/>
          </a:p>
        </p:txBody>
      </p:sp>
      <p:sp>
        <p:nvSpPr>
          <p:cNvPr id="5" name="Footer Placeholder 4">
            <a:extLst>
              <a:ext uri="{FF2B5EF4-FFF2-40B4-BE49-F238E27FC236}">
                <a16:creationId xmlns:a16="http://schemas.microsoft.com/office/drawing/2014/main" id="{C35C5009-CD89-C950-F596-0D353040B3F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72C6957-57B9-0BA4-5540-709B94AC0EDA}"/>
              </a:ext>
            </a:extLst>
          </p:cNvPr>
          <p:cNvSpPr>
            <a:spLocks noGrp="1"/>
          </p:cNvSpPr>
          <p:nvPr>
            <p:ph type="sldNum" sz="quarter" idx="12"/>
          </p:nvPr>
        </p:nvSpPr>
        <p:spPr/>
        <p:txBody>
          <a:bodyPr/>
          <a:lstStyle/>
          <a:p>
            <a:fld id="{1D2842AF-8BA0-4709-B0ED-DB714B14C8D2}" type="slidenum">
              <a:rPr lang="en-GB" smtClean="0"/>
              <a:t>‹#›</a:t>
            </a:fld>
            <a:endParaRPr lang="en-GB"/>
          </a:p>
        </p:txBody>
      </p:sp>
    </p:spTree>
    <p:extLst>
      <p:ext uri="{BB962C8B-B14F-4D97-AF65-F5344CB8AC3E}">
        <p14:creationId xmlns:p14="http://schemas.microsoft.com/office/powerpoint/2010/main" val="21838508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AD6D8-9A1C-5AD9-D995-9E30B241B0F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290448D-879B-E71A-9802-92A54383CAB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94E39D7-E804-62FA-3E64-23A693A9C6A5}"/>
              </a:ext>
            </a:extLst>
          </p:cNvPr>
          <p:cNvSpPr>
            <a:spLocks noGrp="1"/>
          </p:cNvSpPr>
          <p:nvPr>
            <p:ph type="dt" sz="half" idx="10"/>
          </p:nvPr>
        </p:nvSpPr>
        <p:spPr/>
        <p:txBody>
          <a:bodyPr/>
          <a:lstStyle/>
          <a:p>
            <a:fld id="{14780091-D232-47A5-B173-E32AE4833AC2}" type="datetimeFigureOut">
              <a:rPr lang="en-GB" smtClean="0"/>
              <a:t>09/12/2022</a:t>
            </a:fld>
            <a:endParaRPr lang="en-GB"/>
          </a:p>
        </p:txBody>
      </p:sp>
      <p:sp>
        <p:nvSpPr>
          <p:cNvPr id="5" name="Footer Placeholder 4">
            <a:extLst>
              <a:ext uri="{FF2B5EF4-FFF2-40B4-BE49-F238E27FC236}">
                <a16:creationId xmlns:a16="http://schemas.microsoft.com/office/drawing/2014/main" id="{CF9E585F-E28D-C8EA-61B4-538C93AE8D8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4D0FF6D-6B23-2AC4-170D-257A2B35CB93}"/>
              </a:ext>
            </a:extLst>
          </p:cNvPr>
          <p:cNvSpPr>
            <a:spLocks noGrp="1"/>
          </p:cNvSpPr>
          <p:nvPr>
            <p:ph type="sldNum" sz="quarter" idx="12"/>
          </p:nvPr>
        </p:nvSpPr>
        <p:spPr/>
        <p:txBody>
          <a:bodyPr/>
          <a:lstStyle/>
          <a:p>
            <a:fld id="{1D2842AF-8BA0-4709-B0ED-DB714B14C8D2}" type="slidenum">
              <a:rPr lang="en-GB" smtClean="0"/>
              <a:t>‹#›</a:t>
            </a:fld>
            <a:endParaRPr lang="en-GB"/>
          </a:p>
        </p:txBody>
      </p:sp>
    </p:spTree>
    <p:extLst>
      <p:ext uri="{BB962C8B-B14F-4D97-AF65-F5344CB8AC3E}">
        <p14:creationId xmlns:p14="http://schemas.microsoft.com/office/powerpoint/2010/main" val="20587699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4DB37-4447-1330-98AD-8FFEAD3F5B8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C7A17539-5D06-FB11-300A-1EC1FCFF505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76D259-4175-E92F-860F-3153B38B5B4E}"/>
              </a:ext>
            </a:extLst>
          </p:cNvPr>
          <p:cNvSpPr>
            <a:spLocks noGrp="1"/>
          </p:cNvSpPr>
          <p:nvPr>
            <p:ph type="dt" sz="half" idx="10"/>
          </p:nvPr>
        </p:nvSpPr>
        <p:spPr/>
        <p:txBody>
          <a:bodyPr/>
          <a:lstStyle/>
          <a:p>
            <a:fld id="{14780091-D232-47A5-B173-E32AE4833AC2}" type="datetimeFigureOut">
              <a:rPr lang="en-GB" smtClean="0"/>
              <a:t>09/12/2022</a:t>
            </a:fld>
            <a:endParaRPr lang="en-GB"/>
          </a:p>
        </p:txBody>
      </p:sp>
      <p:sp>
        <p:nvSpPr>
          <p:cNvPr id="5" name="Footer Placeholder 4">
            <a:extLst>
              <a:ext uri="{FF2B5EF4-FFF2-40B4-BE49-F238E27FC236}">
                <a16:creationId xmlns:a16="http://schemas.microsoft.com/office/drawing/2014/main" id="{FCD7D4D6-428B-05C7-CBE1-00B32DD4D2B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C6F2014-6144-13FB-C45A-222F9BC33910}"/>
              </a:ext>
            </a:extLst>
          </p:cNvPr>
          <p:cNvSpPr>
            <a:spLocks noGrp="1"/>
          </p:cNvSpPr>
          <p:nvPr>
            <p:ph type="sldNum" sz="quarter" idx="12"/>
          </p:nvPr>
        </p:nvSpPr>
        <p:spPr/>
        <p:txBody>
          <a:bodyPr/>
          <a:lstStyle/>
          <a:p>
            <a:fld id="{1D2842AF-8BA0-4709-B0ED-DB714B14C8D2}" type="slidenum">
              <a:rPr lang="en-GB" smtClean="0"/>
              <a:t>‹#›</a:t>
            </a:fld>
            <a:endParaRPr lang="en-GB"/>
          </a:p>
        </p:txBody>
      </p:sp>
    </p:spTree>
    <p:extLst>
      <p:ext uri="{BB962C8B-B14F-4D97-AF65-F5344CB8AC3E}">
        <p14:creationId xmlns:p14="http://schemas.microsoft.com/office/powerpoint/2010/main" val="26656768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C546D-2750-2E8E-28E6-9F86FE7505B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E3DA3F3-A25D-C5B5-DB39-6975A03D58E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C93B7D55-2589-9D7F-3275-FAD7BA1B44E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17F48650-02DD-DC00-F812-3FB0028A1E36}"/>
              </a:ext>
            </a:extLst>
          </p:cNvPr>
          <p:cNvSpPr>
            <a:spLocks noGrp="1"/>
          </p:cNvSpPr>
          <p:nvPr>
            <p:ph type="dt" sz="half" idx="10"/>
          </p:nvPr>
        </p:nvSpPr>
        <p:spPr/>
        <p:txBody>
          <a:bodyPr/>
          <a:lstStyle/>
          <a:p>
            <a:fld id="{14780091-D232-47A5-B173-E32AE4833AC2}" type="datetimeFigureOut">
              <a:rPr lang="en-GB" smtClean="0"/>
              <a:t>09/12/2022</a:t>
            </a:fld>
            <a:endParaRPr lang="en-GB"/>
          </a:p>
        </p:txBody>
      </p:sp>
      <p:sp>
        <p:nvSpPr>
          <p:cNvPr id="6" name="Footer Placeholder 5">
            <a:extLst>
              <a:ext uri="{FF2B5EF4-FFF2-40B4-BE49-F238E27FC236}">
                <a16:creationId xmlns:a16="http://schemas.microsoft.com/office/drawing/2014/main" id="{B1CB7137-04E1-43AA-6096-0C2857EBC48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D4D163C-05B9-6D65-B57F-6A5E8BB4AD18}"/>
              </a:ext>
            </a:extLst>
          </p:cNvPr>
          <p:cNvSpPr>
            <a:spLocks noGrp="1"/>
          </p:cNvSpPr>
          <p:nvPr>
            <p:ph type="sldNum" sz="quarter" idx="12"/>
          </p:nvPr>
        </p:nvSpPr>
        <p:spPr/>
        <p:txBody>
          <a:bodyPr/>
          <a:lstStyle/>
          <a:p>
            <a:fld id="{1D2842AF-8BA0-4709-B0ED-DB714B14C8D2}" type="slidenum">
              <a:rPr lang="en-GB" smtClean="0"/>
              <a:t>‹#›</a:t>
            </a:fld>
            <a:endParaRPr lang="en-GB"/>
          </a:p>
        </p:txBody>
      </p:sp>
    </p:spTree>
    <p:extLst>
      <p:ext uri="{BB962C8B-B14F-4D97-AF65-F5344CB8AC3E}">
        <p14:creationId xmlns:p14="http://schemas.microsoft.com/office/powerpoint/2010/main" val="11088697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A22A6-0EF3-E39E-5301-2FB6C0724386}"/>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8E3FCBC-0B5F-C807-A773-B469DB2FE93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32D7997-9964-70C8-A194-81AEAF86818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36CB491B-188E-F3A8-E24F-5FD22EC692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A4E7C3A-FC7A-9E8F-FD57-9AA6E563988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1BDB11E4-8FB6-CA63-BB04-14322463299F}"/>
              </a:ext>
            </a:extLst>
          </p:cNvPr>
          <p:cNvSpPr>
            <a:spLocks noGrp="1"/>
          </p:cNvSpPr>
          <p:nvPr>
            <p:ph type="dt" sz="half" idx="10"/>
          </p:nvPr>
        </p:nvSpPr>
        <p:spPr/>
        <p:txBody>
          <a:bodyPr/>
          <a:lstStyle/>
          <a:p>
            <a:fld id="{14780091-D232-47A5-B173-E32AE4833AC2}" type="datetimeFigureOut">
              <a:rPr lang="en-GB" smtClean="0"/>
              <a:t>09/12/2022</a:t>
            </a:fld>
            <a:endParaRPr lang="en-GB"/>
          </a:p>
        </p:txBody>
      </p:sp>
      <p:sp>
        <p:nvSpPr>
          <p:cNvPr id="8" name="Footer Placeholder 7">
            <a:extLst>
              <a:ext uri="{FF2B5EF4-FFF2-40B4-BE49-F238E27FC236}">
                <a16:creationId xmlns:a16="http://schemas.microsoft.com/office/drawing/2014/main" id="{9FFDC06A-7320-CCCC-EA56-89F286739339}"/>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DDDC4C8B-3E02-AE55-A5C3-C4CB32521B83}"/>
              </a:ext>
            </a:extLst>
          </p:cNvPr>
          <p:cNvSpPr>
            <a:spLocks noGrp="1"/>
          </p:cNvSpPr>
          <p:nvPr>
            <p:ph type="sldNum" sz="quarter" idx="12"/>
          </p:nvPr>
        </p:nvSpPr>
        <p:spPr/>
        <p:txBody>
          <a:bodyPr/>
          <a:lstStyle/>
          <a:p>
            <a:fld id="{1D2842AF-8BA0-4709-B0ED-DB714B14C8D2}" type="slidenum">
              <a:rPr lang="en-GB" smtClean="0"/>
              <a:t>‹#›</a:t>
            </a:fld>
            <a:endParaRPr lang="en-GB"/>
          </a:p>
        </p:txBody>
      </p:sp>
    </p:spTree>
    <p:extLst>
      <p:ext uri="{BB962C8B-B14F-4D97-AF65-F5344CB8AC3E}">
        <p14:creationId xmlns:p14="http://schemas.microsoft.com/office/powerpoint/2010/main" val="29035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158C0-7B6C-EB81-4731-EB62F96E2A7E}"/>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F0A45F08-E9BC-2DF8-DF1F-7A0CFBBCB568}"/>
              </a:ext>
            </a:extLst>
          </p:cNvPr>
          <p:cNvSpPr>
            <a:spLocks noGrp="1"/>
          </p:cNvSpPr>
          <p:nvPr>
            <p:ph type="dt" sz="half" idx="10"/>
          </p:nvPr>
        </p:nvSpPr>
        <p:spPr/>
        <p:txBody>
          <a:bodyPr/>
          <a:lstStyle/>
          <a:p>
            <a:fld id="{14780091-D232-47A5-B173-E32AE4833AC2}" type="datetimeFigureOut">
              <a:rPr lang="en-GB" smtClean="0"/>
              <a:t>09/12/2022</a:t>
            </a:fld>
            <a:endParaRPr lang="en-GB"/>
          </a:p>
        </p:txBody>
      </p:sp>
      <p:sp>
        <p:nvSpPr>
          <p:cNvPr id="4" name="Footer Placeholder 3">
            <a:extLst>
              <a:ext uri="{FF2B5EF4-FFF2-40B4-BE49-F238E27FC236}">
                <a16:creationId xmlns:a16="http://schemas.microsoft.com/office/drawing/2014/main" id="{A5CFCF37-BDE9-FB92-BA3C-55D2FEFAC1A3}"/>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03F380B9-51ED-B505-0852-071356B4951B}"/>
              </a:ext>
            </a:extLst>
          </p:cNvPr>
          <p:cNvSpPr>
            <a:spLocks noGrp="1"/>
          </p:cNvSpPr>
          <p:nvPr>
            <p:ph type="sldNum" sz="quarter" idx="12"/>
          </p:nvPr>
        </p:nvSpPr>
        <p:spPr/>
        <p:txBody>
          <a:bodyPr/>
          <a:lstStyle/>
          <a:p>
            <a:fld id="{1D2842AF-8BA0-4709-B0ED-DB714B14C8D2}" type="slidenum">
              <a:rPr lang="en-GB" smtClean="0"/>
              <a:t>‹#›</a:t>
            </a:fld>
            <a:endParaRPr lang="en-GB"/>
          </a:p>
        </p:txBody>
      </p:sp>
    </p:spTree>
    <p:extLst>
      <p:ext uri="{BB962C8B-B14F-4D97-AF65-F5344CB8AC3E}">
        <p14:creationId xmlns:p14="http://schemas.microsoft.com/office/powerpoint/2010/main" val="2078911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28407C-E7D8-F1A5-D78B-C37DFAA14890}"/>
              </a:ext>
            </a:extLst>
          </p:cNvPr>
          <p:cNvSpPr>
            <a:spLocks noGrp="1"/>
          </p:cNvSpPr>
          <p:nvPr>
            <p:ph type="dt" sz="half" idx="10"/>
          </p:nvPr>
        </p:nvSpPr>
        <p:spPr/>
        <p:txBody>
          <a:bodyPr/>
          <a:lstStyle/>
          <a:p>
            <a:fld id="{14780091-D232-47A5-B173-E32AE4833AC2}" type="datetimeFigureOut">
              <a:rPr lang="en-GB" smtClean="0"/>
              <a:t>09/12/2022</a:t>
            </a:fld>
            <a:endParaRPr lang="en-GB"/>
          </a:p>
        </p:txBody>
      </p:sp>
      <p:sp>
        <p:nvSpPr>
          <p:cNvPr id="3" name="Footer Placeholder 2">
            <a:extLst>
              <a:ext uri="{FF2B5EF4-FFF2-40B4-BE49-F238E27FC236}">
                <a16:creationId xmlns:a16="http://schemas.microsoft.com/office/drawing/2014/main" id="{4C4FB8B0-9358-4305-03A6-AF243D938D88}"/>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6BBE13C-000B-96A1-7F1E-72B04C51BB5E}"/>
              </a:ext>
            </a:extLst>
          </p:cNvPr>
          <p:cNvSpPr>
            <a:spLocks noGrp="1"/>
          </p:cNvSpPr>
          <p:nvPr>
            <p:ph type="sldNum" sz="quarter" idx="12"/>
          </p:nvPr>
        </p:nvSpPr>
        <p:spPr/>
        <p:txBody>
          <a:bodyPr/>
          <a:lstStyle/>
          <a:p>
            <a:fld id="{1D2842AF-8BA0-4709-B0ED-DB714B14C8D2}" type="slidenum">
              <a:rPr lang="en-GB" smtClean="0"/>
              <a:t>‹#›</a:t>
            </a:fld>
            <a:endParaRPr lang="en-GB"/>
          </a:p>
        </p:txBody>
      </p:sp>
    </p:spTree>
    <p:extLst>
      <p:ext uri="{BB962C8B-B14F-4D97-AF65-F5344CB8AC3E}">
        <p14:creationId xmlns:p14="http://schemas.microsoft.com/office/powerpoint/2010/main" val="30688354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FA7A5-E77E-029E-7BA8-506EF60061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B6103912-36BC-D31C-2DBF-E4DC787B08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CD842B57-3F2F-F4D6-1635-B0F47AEB67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E29092-D380-C926-2428-068DDAD99A8E}"/>
              </a:ext>
            </a:extLst>
          </p:cNvPr>
          <p:cNvSpPr>
            <a:spLocks noGrp="1"/>
          </p:cNvSpPr>
          <p:nvPr>
            <p:ph type="dt" sz="half" idx="10"/>
          </p:nvPr>
        </p:nvSpPr>
        <p:spPr/>
        <p:txBody>
          <a:bodyPr/>
          <a:lstStyle/>
          <a:p>
            <a:fld id="{14780091-D232-47A5-B173-E32AE4833AC2}" type="datetimeFigureOut">
              <a:rPr lang="en-GB" smtClean="0"/>
              <a:t>09/12/2022</a:t>
            </a:fld>
            <a:endParaRPr lang="en-GB"/>
          </a:p>
        </p:txBody>
      </p:sp>
      <p:sp>
        <p:nvSpPr>
          <p:cNvPr id="6" name="Footer Placeholder 5">
            <a:extLst>
              <a:ext uri="{FF2B5EF4-FFF2-40B4-BE49-F238E27FC236}">
                <a16:creationId xmlns:a16="http://schemas.microsoft.com/office/drawing/2014/main" id="{0C45DF36-C1E3-BA42-B0D0-D13784D886D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5974247-1B93-2E4E-4C97-78FE76F728B4}"/>
              </a:ext>
            </a:extLst>
          </p:cNvPr>
          <p:cNvSpPr>
            <a:spLocks noGrp="1"/>
          </p:cNvSpPr>
          <p:nvPr>
            <p:ph type="sldNum" sz="quarter" idx="12"/>
          </p:nvPr>
        </p:nvSpPr>
        <p:spPr/>
        <p:txBody>
          <a:bodyPr/>
          <a:lstStyle/>
          <a:p>
            <a:fld id="{1D2842AF-8BA0-4709-B0ED-DB714B14C8D2}" type="slidenum">
              <a:rPr lang="en-GB" smtClean="0"/>
              <a:t>‹#›</a:t>
            </a:fld>
            <a:endParaRPr lang="en-GB"/>
          </a:p>
        </p:txBody>
      </p:sp>
    </p:spTree>
    <p:extLst>
      <p:ext uri="{BB962C8B-B14F-4D97-AF65-F5344CB8AC3E}">
        <p14:creationId xmlns:p14="http://schemas.microsoft.com/office/powerpoint/2010/main" val="39822145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958A4-C293-A33A-48E9-76F497CD9A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5E34A306-78B9-464C-2677-1A42B7046A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CF01E9CE-607D-3A4C-2D35-C15996B677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998B20-BD4A-502A-E67E-98BBB22F10A8}"/>
              </a:ext>
            </a:extLst>
          </p:cNvPr>
          <p:cNvSpPr>
            <a:spLocks noGrp="1"/>
          </p:cNvSpPr>
          <p:nvPr>
            <p:ph type="dt" sz="half" idx="10"/>
          </p:nvPr>
        </p:nvSpPr>
        <p:spPr/>
        <p:txBody>
          <a:bodyPr/>
          <a:lstStyle/>
          <a:p>
            <a:fld id="{14780091-D232-47A5-B173-E32AE4833AC2}" type="datetimeFigureOut">
              <a:rPr lang="en-GB" smtClean="0"/>
              <a:t>09/12/2022</a:t>
            </a:fld>
            <a:endParaRPr lang="en-GB"/>
          </a:p>
        </p:txBody>
      </p:sp>
      <p:sp>
        <p:nvSpPr>
          <p:cNvPr id="6" name="Footer Placeholder 5">
            <a:extLst>
              <a:ext uri="{FF2B5EF4-FFF2-40B4-BE49-F238E27FC236}">
                <a16:creationId xmlns:a16="http://schemas.microsoft.com/office/drawing/2014/main" id="{6FAE46B0-C8A0-4E65-2941-78EA8B9A14C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3C77B61-D5F6-7E8C-1BF2-C2868034BBC1}"/>
              </a:ext>
            </a:extLst>
          </p:cNvPr>
          <p:cNvSpPr>
            <a:spLocks noGrp="1"/>
          </p:cNvSpPr>
          <p:nvPr>
            <p:ph type="sldNum" sz="quarter" idx="12"/>
          </p:nvPr>
        </p:nvSpPr>
        <p:spPr/>
        <p:txBody>
          <a:bodyPr/>
          <a:lstStyle/>
          <a:p>
            <a:fld id="{1D2842AF-8BA0-4709-B0ED-DB714B14C8D2}" type="slidenum">
              <a:rPr lang="en-GB" smtClean="0"/>
              <a:t>‹#›</a:t>
            </a:fld>
            <a:endParaRPr lang="en-GB"/>
          </a:p>
        </p:txBody>
      </p:sp>
    </p:spTree>
    <p:extLst>
      <p:ext uri="{BB962C8B-B14F-4D97-AF65-F5344CB8AC3E}">
        <p14:creationId xmlns:p14="http://schemas.microsoft.com/office/powerpoint/2010/main" val="21326758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931B5-293F-5FAF-65D7-9256BFE36BAF}"/>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9C89E7A-FEF8-9C3C-D5E1-54109482276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0741E73-6ABC-2229-1DC1-5A36BDC982DD}"/>
              </a:ext>
            </a:extLst>
          </p:cNvPr>
          <p:cNvSpPr>
            <a:spLocks noGrp="1"/>
          </p:cNvSpPr>
          <p:nvPr>
            <p:ph type="dt" sz="half" idx="10"/>
          </p:nvPr>
        </p:nvSpPr>
        <p:spPr/>
        <p:txBody>
          <a:bodyPr/>
          <a:lstStyle/>
          <a:p>
            <a:fld id="{14780091-D232-47A5-B173-E32AE4833AC2}" type="datetimeFigureOut">
              <a:rPr lang="en-GB" smtClean="0"/>
              <a:t>09/12/2022</a:t>
            </a:fld>
            <a:endParaRPr lang="en-GB"/>
          </a:p>
        </p:txBody>
      </p:sp>
      <p:sp>
        <p:nvSpPr>
          <p:cNvPr id="5" name="Footer Placeholder 4">
            <a:extLst>
              <a:ext uri="{FF2B5EF4-FFF2-40B4-BE49-F238E27FC236}">
                <a16:creationId xmlns:a16="http://schemas.microsoft.com/office/drawing/2014/main" id="{3B7841BF-9E50-5D55-C3C9-78CACAD98C4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478512B-3FC8-97B1-9702-4C69504577A2}"/>
              </a:ext>
            </a:extLst>
          </p:cNvPr>
          <p:cNvSpPr>
            <a:spLocks noGrp="1"/>
          </p:cNvSpPr>
          <p:nvPr>
            <p:ph type="sldNum" sz="quarter" idx="12"/>
          </p:nvPr>
        </p:nvSpPr>
        <p:spPr/>
        <p:txBody>
          <a:bodyPr/>
          <a:lstStyle/>
          <a:p>
            <a:fld id="{1D2842AF-8BA0-4709-B0ED-DB714B14C8D2}" type="slidenum">
              <a:rPr lang="en-GB" smtClean="0"/>
              <a:t>‹#›</a:t>
            </a:fld>
            <a:endParaRPr lang="en-GB"/>
          </a:p>
        </p:txBody>
      </p:sp>
    </p:spTree>
    <p:extLst>
      <p:ext uri="{BB962C8B-B14F-4D97-AF65-F5344CB8AC3E}">
        <p14:creationId xmlns:p14="http://schemas.microsoft.com/office/powerpoint/2010/main" val="13464268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98D4EF4-3E60-5069-16BC-B3DEF8BF245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89C2A5B-F92D-E0F1-86CB-F8EE5B59DFE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228BFC5-152D-7B9D-A2D2-C598CC7546C4}"/>
              </a:ext>
            </a:extLst>
          </p:cNvPr>
          <p:cNvSpPr>
            <a:spLocks noGrp="1"/>
          </p:cNvSpPr>
          <p:nvPr>
            <p:ph type="dt" sz="half" idx="10"/>
          </p:nvPr>
        </p:nvSpPr>
        <p:spPr/>
        <p:txBody>
          <a:bodyPr/>
          <a:lstStyle/>
          <a:p>
            <a:fld id="{14780091-D232-47A5-B173-E32AE4833AC2}" type="datetimeFigureOut">
              <a:rPr lang="en-GB" smtClean="0"/>
              <a:t>09/12/2022</a:t>
            </a:fld>
            <a:endParaRPr lang="en-GB"/>
          </a:p>
        </p:txBody>
      </p:sp>
      <p:sp>
        <p:nvSpPr>
          <p:cNvPr id="5" name="Footer Placeholder 4">
            <a:extLst>
              <a:ext uri="{FF2B5EF4-FFF2-40B4-BE49-F238E27FC236}">
                <a16:creationId xmlns:a16="http://schemas.microsoft.com/office/drawing/2014/main" id="{76E210E4-B578-4BC3-5633-3D7FE4E3DA7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CD87170-2414-DBF8-3179-837FBA18C96A}"/>
              </a:ext>
            </a:extLst>
          </p:cNvPr>
          <p:cNvSpPr>
            <a:spLocks noGrp="1"/>
          </p:cNvSpPr>
          <p:nvPr>
            <p:ph type="sldNum" sz="quarter" idx="12"/>
          </p:nvPr>
        </p:nvSpPr>
        <p:spPr/>
        <p:txBody>
          <a:bodyPr/>
          <a:lstStyle/>
          <a:p>
            <a:fld id="{1D2842AF-8BA0-4709-B0ED-DB714B14C8D2}" type="slidenum">
              <a:rPr lang="en-GB" smtClean="0"/>
              <a:t>‹#›</a:t>
            </a:fld>
            <a:endParaRPr lang="en-GB"/>
          </a:p>
        </p:txBody>
      </p:sp>
    </p:spTree>
    <p:extLst>
      <p:ext uri="{BB962C8B-B14F-4D97-AF65-F5344CB8AC3E}">
        <p14:creationId xmlns:p14="http://schemas.microsoft.com/office/powerpoint/2010/main" val="10304230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1DEA2F-621A-2AA5-0365-2FAF316950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C61DAFD-7BAC-864E-7138-3287335D283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89038B6-E7BE-12D0-925A-58C990F711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780091-D232-47A5-B173-E32AE4833AC2}" type="datetimeFigureOut">
              <a:rPr lang="en-GB" smtClean="0"/>
              <a:t>09/12/2022</a:t>
            </a:fld>
            <a:endParaRPr lang="en-GB"/>
          </a:p>
        </p:txBody>
      </p:sp>
      <p:sp>
        <p:nvSpPr>
          <p:cNvPr id="5" name="Footer Placeholder 4">
            <a:extLst>
              <a:ext uri="{FF2B5EF4-FFF2-40B4-BE49-F238E27FC236}">
                <a16:creationId xmlns:a16="http://schemas.microsoft.com/office/drawing/2014/main" id="{199ECE6D-BEA5-53ED-FB2F-AB14F3BC191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49F698AA-0D07-B871-F028-9F9F59E598E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2842AF-8BA0-4709-B0ED-DB714B14C8D2}" type="slidenum">
              <a:rPr lang="en-GB" smtClean="0"/>
              <a:t>‹#›</a:t>
            </a:fld>
            <a:endParaRPr lang="en-GB"/>
          </a:p>
        </p:txBody>
      </p:sp>
    </p:spTree>
    <p:extLst>
      <p:ext uri="{BB962C8B-B14F-4D97-AF65-F5344CB8AC3E}">
        <p14:creationId xmlns:p14="http://schemas.microsoft.com/office/powerpoint/2010/main" val="32341898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hyperlink" Target="https://ispa.org.za/" TargetMode="External"/><Relationship Id="rId7"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jpg"/><Relationship Id="rId5" Type="http://schemas.openxmlformats.org/officeDocument/2006/relationships/hyperlink" Target="https://waspa.org.za/" TargetMode="External"/><Relationship Id="rId4" Type="http://schemas.openxmlformats.org/officeDocument/2006/relationships/hyperlink" Target="https://wapa.org.za/"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8.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hyperlink" Target="https://www.dimstudio.org/come-europa-privatizza-istruzione/" TargetMode="External"/><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0.jpg"/><Relationship Id="rId5" Type="http://schemas.openxmlformats.org/officeDocument/2006/relationships/image" Target="../media/image3.png"/><Relationship Id="rId4" Type="http://schemas.openxmlformats.org/officeDocument/2006/relationships/image" Target="../media/image2.jp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jpg"/></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hyperlink" Target="https://www.uni-med.net/etf-conference-skills-and-qualifications-benefits-for-people/" TargetMode="Externa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3.jpg"/><Relationship Id="rId5" Type="http://schemas.openxmlformats.org/officeDocument/2006/relationships/image" Target="../media/image5.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17.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18.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21.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22.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jpg"/><Relationship Id="rId7"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2CED9618-66FC-0446-722A-4DCEEB77BCD9}"/>
              </a:ext>
            </a:extLst>
          </p:cNvPr>
          <p:cNvGrpSpPr/>
          <p:nvPr/>
        </p:nvGrpSpPr>
        <p:grpSpPr>
          <a:xfrm>
            <a:off x="-1" y="468383"/>
            <a:ext cx="12180277" cy="6415496"/>
            <a:chOff x="-1" y="442504"/>
            <a:chExt cx="12180277" cy="6415496"/>
          </a:xfrm>
        </p:grpSpPr>
        <p:pic>
          <p:nvPicPr>
            <p:cNvPr id="2" name="Picture 2">
              <a:extLst>
                <a:ext uri="{FF2B5EF4-FFF2-40B4-BE49-F238E27FC236}">
                  <a16:creationId xmlns:a16="http://schemas.microsoft.com/office/drawing/2014/main" id="{0A835356-E8ED-D10F-D8C2-67D1CBBDB6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3620" y="442504"/>
              <a:ext cx="2373814" cy="1222442"/>
            </a:xfrm>
            <a:prstGeom prst="rect">
              <a:avLst/>
            </a:prstGeom>
            <a:noFill/>
            <a:extLst>
              <a:ext uri="{909E8E84-426E-40DD-AFC4-6F175D3DCCD1}">
                <a14:hiddenFill xmlns:a14="http://schemas.microsoft.com/office/drawing/2010/main">
                  <a:solidFill>
                    <a:srgbClr val="FFFFFF"/>
                  </a:solidFill>
                </a14:hiddenFill>
              </a:ext>
            </a:extLst>
          </p:spPr>
        </p:pic>
        <p:grpSp>
          <p:nvGrpSpPr>
            <p:cNvPr id="10" name="Group 9">
              <a:extLst>
                <a:ext uri="{FF2B5EF4-FFF2-40B4-BE49-F238E27FC236}">
                  <a16:creationId xmlns:a16="http://schemas.microsoft.com/office/drawing/2014/main" id="{DB65464F-05C0-37D3-FF16-F06B7AC049DC}"/>
                </a:ext>
              </a:extLst>
            </p:cNvPr>
            <p:cNvGrpSpPr/>
            <p:nvPr/>
          </p:nvGrpSpPr>
          <p:grpSpPr>
            <a:xfrm>
              <a:off x="-1" y="5767754"/>
              <a:ext cx="12180277" cy="1090246"/>
              <a:chOff x="-1" y="5181600"/>
              <a:chExt cx="12180277" cy="1676400"/>
            </a:xfrm>
          </p:grpSpPr>
          <p:sp>
            <p:nvSpPr>
              <p:cNvPr id="3" name="Arrow: Chevron 2">
                <a:extLst>
                  <a:ext uri="{FF2B5EF4-FFF2-40B4-BE49-F238E27FC236}">
                    <a16:creationId xmlns:a16="http://schemas.microsoft.com/office/drawing/2014/main" id="{FD04F38B-62CA-B27A-4EAE-B77ABB408D0A}"/>
                  </a:ext>
                </a:extLst>
              </p:cNvPr>
              <p:cNvSpPr/>
              <p:nvPr/>
            </p:nvSpPr>
            <p:spPr>
              <a:xfrm>
                <a:off x="-1" y="5181600"/>
                <a:ext cx="4154369" cy="1676400"/>
              </a:xfrm>
              <a:prstGeom prst="chevron">
                <a:avLst/>
              </a:prstGeom>
              <a:solidFill>
                <a:srgbClr val="3E6DC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 name="Arrow: Chevron 3">
                <a:extLst>
                  <a:ext uri="{FF2B5EF4-FFF2-40B4-BE49-F238E27FC236}">
                    <a16:creationId xmlns:a16="http://schemas.microsoft.com/office/drawing/2014/main" id="{677D1AEE-7688-1AAB-4370-D1BAEC0A32BD}"/>
                  </a:ext>
                </a:extLst>
              </p:cNvPr>
              <p:cNvSpPr/>
              <p:nvPr/>
            </p:nvSpPr>
            <p:spPr>
              <a:xfrm>
                <a:off x="1648313" y="5181600"/>
                <a:ext cx="4154369" cy="1676400"/>
              </a:xfrm>
              <a:prstGeom prst="chevron">
                <a:avLst/>
              </a:prstGeom>
              <a:solidFill>
                <a:schemeClr val="accent1">
                  <a:lumMod val="60000"/>
                  <a:lumOff val="40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5" name="Arrow: Chevron 4">
                <a:extLst>
                  <a:ext uri="{FF2B5EF4-FFF2-40B4-BE49-F238E27FC236}">
                    <a16:creationId xmlns:a16="http://schemas.microsoft.com/office/drawing/2014/main" id="{B34A0FF0-7DC0-7575-26F3-01ECEED841D5}"/>
                  </a:ext>
                </a:extLst>
              </p:cNvPr>
              <p:cNvSpPr/>
              <p:nvPr/>
            </p:nvSpPr>
            <p:spPr>
              <a:xfrm>
                <a:off x="3296627" y="5181600"/>
                <a:ext cx="4154369" cy="1676400"/>
              </a:xfrm>
              <a:prstGeom prst="chevron">
                <a:avLst/>
              </a:prstGeom>
              <a:solidFill>
                <a:schemeClr val="accent1">
                  <a:lumMod val="40000"/>
                  <a:lumOff val="60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6" name="Arrow: Chevron 5">
                <a:extLst>
                  <a:ext uri="{FF2B5EF4-FFF2-40B4-BE49-F238E27FC236}">
                    <a16:creationId xmlns:a16="http://schemas.microsoft.com/office/drawing/2014/main" id="{2DABBF5A-EE57-E287-A7C8-9D9ED018A1FA}"/>
                  </a:ext>
                </a:extLst>
              </p:cNvPr>
              <p:cNvSpPr/>
              <p:nvPr/>
            </p:nvSpPr>
            <p:spPr>
              <a:xfrm>
                <a:off x="4944941" y="5181600"/>
                <a:ext cx="4154369" cy="1676400"/>
              </a:xfrm>
              <a:prstGeom prst="chevron">
                <a:avLst/>
              </a:prstGeom>
              <a:solidFill>
                <a:schemeClr val="tx2">
                  <a:lumMod val="40000"/>
                  <a:lumOff val="60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 name="Arrow: Chevron 6">
                <a:extLst>
                  <a:ext uri="{FF2B5EF4-FFF2-40B4-BE49-F238E27FC236}">
                    <a16:creationId xmlns:a16="http://schemas.microsoft.com/office/drawing/2014/main" id="{11250641-0684-F8BA-37BB-C618A1748D11}"/>
                  </a:ext>
                </a:extLst>
              </p:cNvPr>
              <p:cNvSpPr/>
              <p:nvPr/>
            </p:nvSpPr>
            <p:spPr>
              <a:xfrm>
                <a:off x="6593255" y="5181600"/>
                <a:ext cx="4154369" cy="1676400"/>
              </a:xfrm>
              <a:prstGeom prst="chevron">
                <a:avLst/>
              </a:prstGeom>
              <a:solidFill>
                <a:schemeClr val="bg1">
                  <a:lumMod val="8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8" name="Arrow: Chevron 7">
                <a:extLst>
                  <a:ext uri="{FF2B5EF4-FFF2-40B4-BE49-F238E27FC236}">
                    <a16:creationId xmlns:a16="http://schemas.microsoft.com/office/drawing/2014/main" id="{77A469CE-4747-55EA-DB65-906431287ED6}"/>
                  </a:ext>
                </a:extLst>
              </p:cNvPr>
              <p:cNvSpPr/>
              <p:nvPr/>
            </p:nvSpPr>
            <p:spPr>
              <a:xfrm>
                <a:off x="8241570" y="5181600"/>
                <a:ext cx="3856645" cy="1676400"/>
              </a:xfrm>
              <a:prstGeom prst="chevron">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Arrow: Chevron 8">
                <a:extLst>
                  <a:ext uri="{FF2B5EF4-FFF2-40B4-BE49-F238E27FC236}">
                    <a16:creationId xmlns:a16="http://schemas.microsoft.com/office/drawing/2014/main" id="{FA01AECF-8542-27C3-6CB8-1444B012996C}"/>
                  </a:ext>
                </a:extLst>
              </p:cNvPr>
              <p:cNvSpPr/>
              <p:nvPr/>
            </p:nvSpPr>
            <p:spPr>
              <a:xfrm>
                <a:off x="10007112" y="5181600"/>
                <a:ext cx="2173164" cy="1676400"/>
              </a:xfrm>
              <a:prstGeom prst="chevron">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grpSp>
      </p:grpSp>
      <p:pic>
        <p:nvPicPr>
          <p:cNvPr id="18" name="Picture 17">
            <a:extLst>
              <a:ext uri="{FF2B5EF4-FFF2-40B4-BE49-F238E27FC236}">
                <a16:creationId xmlns:a16="http://schemas.microsoft.com/office/drawing/2014/main" id="{20F8A472-4AE1-A25A-701D-CDF63751EA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12174" y="73195"/>
            <a:ext cx="3198762" cy="2016610"/>
          </a:xfrm>
          <a:prstGeom prst="rect">
            <a:avLst/>
          </a:prstGeom>
        </p:spPr>
      </p:pic>
      <p:pic>
        <p:nvPicPr>
          <p:cNvPr id="20" name="Picture 19">
            <a:extLst>
              <a:ext uri="{FF2B5EF4-FFF2-40B4-BE49-F238E27FC236}">
                <a16:creationId xmlns:a16="http://schemas.microsoft.com/office/drawing/2014/main" id="{DA53A636-D1AE-3EB4-CE99-DF02186FAAD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54219" y="582774"/>
            <a:ext cx="2393262" cy="1017136"/>
          </a:xfrm>
          <a:prstGeom prst="rect">
            <a:avLst/>
          </a:prstGeom>
        </p:spPr>
      </p:pic>
      <p:pic>
        <p:nvPicPr>
          <p:cNvPr id="16" name="Picture 15">
            <a:extLst>
              <a:ext uri="{FF2B5EF4-FFF2-40B4-BE49-F238E27FC236}">
                <a16:creationId xmlns:a16="http://schemas.microsoft.com/office/drawing/2014/main" id="{FA7B30C1-7C7B-41AD-E9AA-14486C7577D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57060" y="2748263"/>
            <a:ext cx="9160305" cy="2465649"/>
          </a:xfrm>
          <a:prstGeom prst="rect">
            <a:avLst/>
          </a:prstGeom>
        </p:spPr>
      </p:pic>
    </p:spTree>
    <p:extLst>
      <p:ext uri="{BB962C8B-B14F-4D97-AF65-F5344CB8AC3E}">
        <p14:creationId xmlns:p14="http://schemas.microsoft.com/office/powerpoint/2010/main" val="39183075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33" name="Group 1032">
            <a:extLst>
              <a:ext uri="{FF2B5EF4-FFF2-40B4-BE49-F238E27FC236}">
                <a16:creationId xmlns:a16="http://schemas.microsoft.com/office/drawing/2014/main" id="{1A17E533-B8F6-89CD-494C-E6EE0229C73F}"/>
              </a:ext>
            </a:extLst>
          </p:cNvPr>
          <p:cNvGrpSpPr/>
          <p:nvPr/>
        </p:nvGrpSpPr>
        <p:grpSpPr>
          <a:xfrm>
            <a:off x="0" y="141563"/>
            <a:ext cx="12192000" cy="6716437"/>
            <a:chOff x="-11723" y="153285"/>
            <a:chExt cx="12192000" cy="6716437"/>
          </a:xfrm>
        </p:grpSpPr>
        <p:pic>
          <p:nvPicPr>
            <p:cNvPr id="1026" name="Picture 2">
              <a:extLst>
                <a:ext uri="{FF2B5EF4-FFF2-40B4-BE49-F238E27FC236}">
                  <a16:creationId xmlns:a16="http://schemas.microsoft.com/office/drawing/2014/main" id="{C96C64D5-85C7-4E2E-D07A-4EF8130D07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6868" y="153285"/>
              <a:ext cx="1044366" cy="547828"/>
            </a:xfrm>
            <a:prstGeom prst="rect">
              <a:avLst/>
            </a:prstGeom>
            <a:noFill/>
            <a:extLst>
              <a:ext uri="{909E8E84-426E-40DD-AFC4-6F175D3DCCD1}">
                <a14:hiddenFill xmlns:a14="http://schemas.microsoft.com/office/drawing/2010/main">
                  <a:solidFill>
                    <a:srgbClr val="FFFFFF"/>
                  </a:solidFill>
                </a14:hiddenFill>
              </a:ext>
            </a:extLst>
          </p:spPr>
        </p:pic>
        <p:sp>
          <p:nvSpPr>
            <p:cNvPr id="1031" name="Arrow: Pentagon 1030">
              <a:extLst>
                <a:ext uri="{FF2B5EF4-FFF2-40B4-BE49-F238E27FC236}">
                  <a16:creationId xmlns:a16="http://schemas.microsoft.com/office/drawing/2014/main" id="{38B8D902-A698-C164-2406-95FAF4A236F5}"/>
                </a:ext>
              </a:extLst>
            </p:cNvPr>
            <p:cNvSpPr/>
            <p:nvPr/>
          </p:nvSpPr>
          <p:spPr>
            <a:xfrm flipV="1">
              <a:off x="-11723" y="6517340"/>
              <a:ext cx="12192000" cy="352382"/>
            </a:xfrm>
            <a:prstGeom prst="homePlate">
              <a:avLst/>
            </a:prstGeom>
            <a:gradFill flip="none" rotWithShape="1">
              <a:gsLst>
                <a:gs pos="0">
                  <a:schemeClr val="accent1">
                    <a:lumMod val="0"/>
                    <a:lumOff val="100000"/>
                  </a:schemeClr>
                </a:gs>
                <a:gs pos="46000">
                  <a:schemeClr val="accent1">
                    <a:lumMod val="0"/>
                    <a:lumOff val="100000"/>
                  </a:schemeClr>
                </a:gs>
                <a:gs pos="100000">
                  <a:schemeClr val="accent1">
                    <a:lumMod val="100000"/>
                  </a:schemeClr>
                </a:gs>
              </a:gsLst>
              <a:path path="rect">
                <a:fillToRect l="100000" t="100000"/>
              </a:path>
              <a:tileRect r="-100000" b="-100000"/>
            </a:gra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 name="TextBox 1">
            <a:extLst>
              <a:ext uri="{FF2B5EF4-FFF2-40B4-BE49-F238E27FC236}">
                <a16:creationId xmlns:a16="http://schemas.microsoft.com/office/drawing/2014/main" id="{2AB46648-8FE1-AA28-1A45-7CC37EC7312B}"/>
              </a:ext>
            </a:extLst>
          </p:cNvPr>
          <p:cNvSpPr txBox="1"/>
          <p:nvPr/>
        </p:nvSpPr>
        <p:spPr>
          <a:xfrm>
            <a:off x="422031" y="1964353"/>
            <a:ext cx="11347938" cy="4524315"/>
          </a:xfrm>
          <a:prstGeom prst="rect">
            <a:avLst/>
          </a:prstGeom>
          <a:noFill/>
        </p:spPr>
        <p:txBody>
          <a:bodyPr wrap="square" rtlCol="0">
            <a:spAutoFit/>
          </a:bodyPr>
          <a:lstStyle/>
          <a:p>
            <a:pPr algn="just" rtl="0">
              <a:spcBef>
                <a:spcPts val="0"/>
              </a:spcBef>
              <a:spcAft>
                <a:spcPts val="0"/>
              </a:spcAft>
            </a:pPr>
            <a:r>
              <a:rPr lang="en-US" sz="2400" b="0" i="0" u="sng" strike="noStrike" dirty="0">
                <a:solidFill>
                  <a:srgbClr val="1155CC"/>
                </a:solidFill>
                <a:effectLst/>
                <a:latin typeface="Bahnschrift SemiLight Condensed" panose="020B0502040204020203" pitchFamily="34" charset="0"/>
                <a:hlinkClick r:id="rId3"/>
              </a:rPr>
              <a:t>ISPA</a:t>
            </a:r>
            <a:r>
              <a:rPr lang="en-US" sz="2400" b="0" i="0" u="none" strike="noStrike" dirty="0">
                <a:solidFill>
                  <a:srgbClr val="000000"/>
                </a:solidFill>
                <a:effectLst/>
                <a:latin typeface="Bahnschrift SemiLight Condensed" panose="020B0502040204020203" pitchFamily="34" charset="0"/>
              </a:rPr>
              <a:t>, in partnership with </a:t>
            </a:r>
            <a:r>
              <a:rPr lang="en-US" sz="2400" b="0" i="0" u="sng" strike="noStrike" dirty="0">
                <a:solidFill>
                  <a:srgbClr val="1155CC"/>
                </a:solidFill>
                <a:effectLst/>
                <a:latin typeface="Bahnschrift SemiLight Condensed" panose="020B0502040204020203" pitchFamily="34" charset="0"/>
                <a:hlinkClick r:id="rId4"/>
              </a:rPr>
              <a:t>WAPA</a:t>
            </a:r>
            <a:r>
              <a:rPr lang="en-US" sz="2400" b="0" i="0" u="none" strike="noStrike" dirty="0">
                <a:solidFill>
                  <a:srgbClr val="000000"/>
                </a:solidFill>
                <a:effectLst/>
                <a:latin typeface="Bahnschrift SemiLight Condensed" panose="020B0502040204020203" pitchFamily="34" charset="0"/>
              </a:rPr>
              <a:t> and </a:t>
            </a:r>
            <a:r>
              <a:rPr lang="en-US" sz="2400" b="0" i="0" u="sng" strike="noStrike" dirty="0">
                <a:solidFill>
                  <a:srgbClr val="1155CC"/>
                </a:solidFill>
                <a:effectLst/>
                <a:latin typeface="Bahnschrift SemiLight Condensed" panose="020B0502040204020203" pitchFamily="34" charset="0"/>
                <a:hlinkClick r:id="rId5"/>
              </a:rPr>
              <a:t>WASPA</a:t>
            </a:r>
            <a:r>
              <a:rPr lang="en-US" sz="2400" b="0" i="0" u="none" strike="noStrike" dirty="0">
                <a:solidFill>
                  <a:srgbClr val="000000"/>
                </a:solidFill>
                <a:effectLst/>
                <a:latin typeface="Bahnschrift SemiLight Condensed" panose="020B0502040204020203" pitchFamily="34" charset="0"/>
              </a:rPr>
              <a:t>, launched phase 1 of the ICT</a:t>
            </a:r>
            <a:r>
              <a:rPr lang="en-US" sz="2400" b="1" i="1" u="none" strike="noStrike" dirty="0">
                <a:solidFill>
                  <a:srgbClr val="000000"/>
                </a:solidFill>
                <a:effectLst/>
                <a:latin typeface="Bahnschrift SemiLight Condensed" panose="020B0502040204020203" pitchFamily="34" charset="0"/>
              </a:rPr>
              <a:t> Skills Registry</a:t>
            </a:r>
            <a:r>
              <a:rPr lang="en-US" sz="2400" b="0" i="1" u="none" strike="noStrike" dirty="0">
                <a:solidFill>
                  <a:srgbClr val="000000"/>
                </a:solidFill>
                <a:effectLst/>
                <a:latin typeface="Bahnschrift SemiLight Condensed" panose="020B0502040204020203" pitchFamily="34" charset="0"/>
              </a:rPr>
              <a:t>,</a:t>
            </a:r>
            <a:r>
              <a:rPr lang="en-US" sz="2400" b="1" i="0" u="none" strike="noStrike" dirty="0">
                <a:solidFill>
                  <a:srgbClr val="000000"/>
                </a:solidFill>
                <a:effectLst/>
                <a:latin typeface="Bahnschrift SemiLight Condensed" panose="020B0502040204020203" pitchFamily="34" charset="0"/>
              </a:rPr>
              <a:t> </a:t>
            </a:r>
            <a:r>
              <a:rPr lang="en-US" sz="2400" i="0" u="none" strike="noStrike" dirty="0">
                <a:solidFill>
                  <a:srgbClr val="000000"/>
                </a:solidFill>
                <a:effectLst/>
                <a:latin typeface="Bahnschrift SemiLight Condensed" panose="020B0502040204020203" pitchFamily="34" charset="0"/>
              </a:rPr>
              <a:t>in September 2022, when registrations for candidates were opened. So far there have only been 75 candidate profiles submitted. 56 for internship/learnerships, and 23 seeking permanent employment.</a:t>
            </a:r>
          </a:p>
          <a:p>
            <a:pPr algn="just" rtl="0">
              <a:spcBef>
                <a:spcPts val="0"/>
              </a:spcBef>
              <a:spcAft>
                <a:spcPts val="0"/>
              </a:spcAft>
            </a:pPr>
            <a:endParaRPr lang="en-US" sz="2400" b="1" dirty="0">
              <a:solidFill>
                <a:srgbClr val="000000"/>
              </a:solidFill>
              <a:latin typeface="Bahnschrift SemiLight Condensed" panose="020B0502040204020203" pitchFamily="34" charset="0"/>
            </a:endParaRPr>
          </a:p>
          <a:p>
            <a:pPr algn="just"/>
            <a:r>
              <a:rPr lang="en-US" sz="2400" b="0" i="0" u="none" strike="noStrike" dirty="0">
                <a:solidFill>
                  <a:srgbClr val="000000"/>
                </a:solidFill>
                <a:effectLst/>
                <a:latin typeface="Bahnschrift SemiLight Condensed" panose="020B0502040204020203" pitchFamily="34" charset="0"/>
              </a:rPr>
              <a:t>The Skills Registry is a searchable database containing the profiles and skill sets of registered candidates pursuing a career path in the ICT industry. </a:t>
            </a:r>
            <a:r>
              <a:rPr lang="en-US" sz="2400" dirty="0">
                <a:solidFill>
                  <a:srgbClr val="000000"/>
                </a:solidFill>
                <a:latin typeface="Bahnschrift SemiLight Condensed" panose="020B0502040204020203" pitchFamily="34" charset="0"/>
              </a:rPr>
              <a:t>It </a:t>
            </a:r>
            <a:r>
              <a:rPr lang="en-US" sz="2400">
                <a:solidFill>
                  <a:srgbClr val="000000"/>
                </a:solidFill>
                <a:latin typeface="Bahnschrift SemiLight Condensed" panose="020B0502040204020203" pitchFamily="34" charset="0"/>
              </a:rPr>
              <a:t>is primarily designed </a:t>
            </a:r>
            <a:r>
              <a:rPr lang="en-US" sz="2400" dirty="0">
                <a:solidFill>
                  <a:srgbClr val="000000"/>
                </a:solidFill>
                <a:latin typeface="Bahnschrift SemiLight Condensed" panose="020B0502040204020203" pitchFamily="34" charset="0"/>
              </a:rPr>
              <a:t>to create an entry point for younger job seekers to obtain skills development through internship or learnership programs; or to gain workplace experience to complete their studies.</a:t>
            </a:r>
            <a:endParaRPr lang="en-US" sz="2400" dirty="0">
              <a:latin typeface="Bahnschrift SemiLight Condensed" panose="020B0502040204020203" pitchFamily="34" charset="0"/>
            </a:endParaRPr>
          </a:p>
          <a:p>
            <a:pPr algn="just" rtl="0">
              <a:spcBef>
                <a:spcPts val="0"/>
              </a:spcBef>
              <a:spcAft>
                <a:spcPts val="0"/>
              </a:spcAft>
            </a:pPr>
            <a:br>
              <a:rPr lang="en-US" sz="2400" dirty="0">
                <a:latin typeface="Bahnschrift SemiLight Condensed" panose="020B0502040204020203" pitchFamily="34" charset="0"/>
              </a:rPr>
            </a:br>
            <a:r>
              <a:rPr lang="en-US" sz="2400" b="0" i="0" u="none" strike="noStrike" dirty="0">
                <a:solidFill>
                  <a:srgbClr val="000000"/>
                </a:solidFill>
                <a:effectLst/>
                <a:latin typeface="Bahnschrift SemiLight Condensed" panose="020B0502040204020203" pitchFamily="34" charset="0"/>
              </a:rPr>
              <a:t>Phase 2 will be launched when sufficient candidates have registered, and the Skills Registry will then be open for qualifying ICT companies to easily search for candidates registered on the system to source and offer internship/learnerships, or full time employment to suitable individuals meeting their specific skills criteria.</a:t>
            </a:r>
            <a:endParaRPr lang="en-US" sz="2400" dirty="0">
              <a:effectLst/>
              <a:latin typeface="Bahnschrift SemiLight Condensed" panose="020B0502040204020203" pitchFamily="34" charset="0"/>
            </a:endParaRPr>
          </a:p>
        </p:txBody>
      </p:sp>
      <p:grpSp>
        <p:nvGrpSpPr>
          <p:cNvPr id="5" name="Group 4">
            <a:extLst>
              <a:ext uri="{FF2B5EF4-FFF2-40B4-BE49-F238E27FC236}">
                <a16:creationId xmlns:a16="http://schemas.microsoft.com/office/drawing/2014/main" id="{E8D8FB7B-A234-D8D5-BFDE-8161660F1857}"/>
              </a:ext>
            </a:extLst>
          </p:cNvPr>
          <p:cNvGrpSpPr/>
          <p:nvPr/>
        </p:nvGrpSpPr>
        <p:grpSpPr>
          <a:xfrm>
            <a:off x="4895420" y="175426"/>
            <a:ext cx="5902570" cy="1362999"/>
            <a:chOff x="4895420" y="61126"/>
            <a:chExt cx="5902570" cy="1362999"/>
          </a:xfrm>
        </p:grpSpPr>
        <p:sp>
          <p:nvSpPr>
            <p:cNvPr id="4" name="TextBox 3">
              <a:extLst>
                <a:ext uri="{FF2B5EF4-FFF2-40B4-BE49-F238E27FC236}">
                  <a16:creationId xmlns:a16="http://schemas.microsoft.com/office/drawing/2014/main" id="{F15C939E-710E-E581-9C4E-B4C89DD5C867}"/>
                </a:ext>
              </a:extLst>
            </p:cNvPr>
            <p:cNvSpPr txBox="1"/>
            <p:nvPr/>
          </p:nvSpPr>
          <p:spPr>
            <a:xfrm>
              <a:off x="5366101" y="716239"/>
              <a:ext cx="4961207" cy="707886"/>
            </a:xfrm>
            <a:prstGeom prst="rect">
              <a:avLst/>
            </a:prstGeom>
            <a:solidFill>
              <a:srgbClr val="567FCA"/>
            </a:solidFill>
            <a:ln>
              <a:solidFill>
                <a:srgbClr val="567FCA"/>
              </a:solidFill>
            </a:ln>
          </p:spPr>
          <p:txBody>
            <a:bodyPr wrap="square" rtlCol="0">
              <a:spAutoFit/>
            </a:bodyPr>
            <a:lstStyle/>
            <a:p>
              <a:pPr algn="ctr"/>
              <a:r>
                <a:rPr lang="en-US" sz="4000" b="1" dirty="0">
                  <a:solidFill>
                    <a:schemeClr val="bg1"/>
                  </a:solidFill>
                  <a:effectLst>
                    <a:outerShdw blurRad="38100" dist="38100" dir="2700000" algn="tl">
                      <a:srgbClr val="000000">
                        <a:alpha val="43137"/>
                      </a:srgbClr>
                    </a:outerShdw>
                  </a:effectLst>
                  <a:latin typeface="Bahnschrift SemiLight Condensed" panose="020B0502040204020203" pitchFamily="34" charset="0"/>
                </a:rPr>
                <a:t>Overview</a:t>
              </a:r>
              <a:endParaRPr lang="en-GB" sz="4000" b="1" dirty="0">
                <a:solidFill>
                  <a:schemeClr val="bg1"/>
                </a:solidFill>
                <a:effectLst>
                  <a:outerShdw blurRad="38100" dist="38100" dir="2700000" algn="tl">
                    <a:srgbClr val="000000">
                      <a:alpha val="43137"/>
                    </a:srgbClr>
                  </a:outerShdw>
                </a:effectLst>
                <a:latin typeface="Bahnschrift SemiLight Condensed" panose="020B0502040204020203" pitchFamily="34" charset="0"/>
              </a:endParaRPr>
            </a:p>
          </p:txBody>
        </p:sp>
        <p:sp>
          <p:nvSpPr>
            <p:cNvPr id="3" name="TextBox 2">
              <a:extLst>
                <a:ext uri="{FF2B5EF4-FFF2-40B4-BE49-F238E27FC236}">
                  <a16:creationId xmlns:a16="http://schemas.microsoft.com/office/drawing/2014/main" id="{CAB93EE4-B38A-9EA3-F262-A66D0FA24009}"/>
                </a:ext>
              </a:extLst>
            </p:cNvPr>
            <p:cNvSpPr txBox="1"/>
            <p:nvPr/>
          </p:nvSpPr>
          <p:spPr>
            <a:xfrm>
              <a:off x="4895420" y="61126"/>
              <a:ext cx="5902570" cy="655113"/>
            </a:xfrm>
            <a:prstGeom prst="rect">
              <a:avLst/>
            </a:prstGeom>
            <a:solidFill>
              <a:srgbClr val="567FCA"/>
            </a:solidFill>
            <a:ln>
              <a:solidFill>
                <a:srgbClr val="567FCA"/>
              </a:solidFill>
            </a:ln>
          </p:spPr>
          <p:txBody>
            <a:bodyPr wrap="square" rtlCol="0">
              <a:spAutoFit/>
            </a:bodyPr>
            <a:lstStyle/>
            <a:p>
              <a:pPr algn="ctr"/>
              <a:r>
                <a:rPr lang="en-US" sz="3600" b="1" dirty="0">
                  <a:solidFill>
                    <a:schemeClr val="bg1"/>
                  </a:solidFill>
                  <a:latin typeface="Bahnschrift SemiLight Condensed" panose="020B0502040204020203" pitchFamily="34" charset="0"/>
                </a:rPr>
                <a:t>Skills  </a:t>
              </a:r>
              <a:r>
                <a:rPr lang="en-US" sz="2800" b="1" dirty="0">
                  <a:solidFill>
                    <a:schemeClr val="bg1"/>
                  </a:solidFill>
                  <a:latin typeface="Bahnschrift SemiLight Condensed" panose="020B0502040204020203" pitchFamily="34" charset="0"/>
                </a:rPr>
                <a:t>Development</a:t>
              </a:r>
              <a:r>
                <a:rPr lang="en-US" sz="3600" b="1" dirty="0">
                  <a:solidFill>
                    <a:schemeClr val="bg1"/>
                  </a:solidFill>
                  <a:latin typeface="Bahnschrift SemiLight Condensed" panose="020B0502040204020203" pitchFamily="34" charset="0"/>
                </a:rPr>
                <a:t> program 2022/2023</a:t>
              </a:r>
              <a:endParaRPr lang="en-GB" sz="3600" b="1" dirty="0">
                <a:solidFill>
                  <a:schemeClr val="bg1"/>
                </a:solidFill>
                <a:latin typeface="Bahnschrift SemiLight Condensed" panose="020B0502040204020203" pitchFamily="34" charset="0"/>
              </a:endParaRPr>
            </a:p>
          </p:txBody>
        </p:sp>
      </p:grpSp>
      <p:pic>
        <p:nvPicPr>
          <p:cNvPr id="8" name="Picture 7">
            <a:extLst>
              <a:ext uri="{FF2B5EF4-FFF2-40B4-BE49-F238E27FC236}">
                <a16:creationId xmlns:a16="http://schemas.microsoft.com/office/drawing/2014/main" id="{A155C7D1-93B5-98E9-99D1-BA343FFB8B0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46223" y="70100"/>
            <a:ext cx="1345180" cy="848048"/>
          </a:xfrm>
          <a:prstGeom prst="rect">
            <a:avLst/>
          </a:prstGeom>
        </p:spPr>
      </p:pic>
      <p:pic>
        <p:nvPicPr>
          <p:cNvPr id="9" name="Picture 8">
            <a:extLst>
              <a:ext uri="{FF2B5EF4-FFF2-40B4-BE49-F238E27FC236}">
                <a16:creationId xmlns:a16="http://schemas.microsoft.com/office/drawing/2014/main" id="{510CE7ED-7626-E7BD-D4F0-3FDD3E70D8F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12141" y="175426"/>
            <a:ext cx="1541443" cy="655113"/>
          </a:xfrm>
          <a:prstGeom prst="rect">
            <a:avLst/>
          </a:prstGeom>
        </p:spPr>
      </p:pic>
      <p:pic>
        <p:nvPicPr>
          <p:cNvPr id="6" name="Picture 4">
            <a:extLst>
              <a:ext uri="{FF2B5EF4-FFF2-40B4-BE49-F238E27FC236}">
                <a16:creationId xmlns:a16="http://schemas.microsoft.com/office/drawing/2014/main" id="{0E3400F3-78E4-DD68-34E2-5C0FDE6E094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4266" y="1201770"/>
            <a:ext cx="1381125" cy="400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9831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33"/>
                                        </p:tgtEl>
                                        <p:attrNameLst>
                                          <p:attrName>style.visibility</p:attrName>
                                        </p:attrNameLst>
                                      </p:cBhvr>
                                      <p:to>
                                        <p:strVal val="visible"/>
                                      </p:to>
                                    </p:set>
                                  </p:childTnLst>
                                </p:cTn>
                              </p:par>
                            </p:childTnLst>
                          </p:cTn>
                        </p:par>
                        <p:par>
                          <p:cTn id="7" fill="hold">
                            <p:stCondLst>
                              <p:cond delay="0"/>
                            </p:stCondLst>
                            <p:childTnLst>
                              <p:par>
                                <p:cTn id="8" presetID="47" presetClass="entr" presetSubtype="0" fill="hold" nodeType="afterEffect">
                                  <p:stCondLst>
                                    <p:cond delay="25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1000"/>
                                        <p:tgtEl>
                                          <p:spTgt spid="5"/>
                                        </p:tgtEl>
                                      </p:cBhvr>
                                    </p:animEffect>
                                    <p:anim calcmode="lin" valueType="num">
                                      <p:cBhvr>
                                        <p:cTn id="11" dur="1000" fill="hold"/>
                                        <p:tgtEl>
                                          <p:spTgt spid="5"/>
                                        </p:tgtEl>
                                        <p:attrNameLst>
                                          <p:attrName>ppt_x</p:attrName>
                                        </p:attrNameLst>
                                      </p:cBhvr>
                                      <p:tavLst>
                                        <p:tav tm="0">
                                          <p:val>
                                            <p:strVal val="#ppt_x"/>
                                          </p:val>
                                        </p:tav>
                                        <p:tav tm="100000">
                                          <p:val>
                                            <p:strVal val="#ppt_x"/>
                                          </p:val>
                                        </p:tav>
                                      </p:tavLst>
                                    </p:anim>
                                    <p:anim calcmode="lin" valueType="num">
                                      <p:cBhvr>
                                        <p:cTn id="12" dur="1000" fill="hold"/>
                                        <p:tgtEl>
                                          <p:spTgt spid="5"/>
                                        </p:tgtEl>
                                        <p:attrNameLst>
                                          <p:attrName>ppt_y</p:attrName>
                                        </p:attrNameLst>
                                      </p:cBhvr>
                                      <p:tavLst>
                                        <p:tav tm="0">
                                          <p:val>
                                            <p:strVal val="#ppt_y-.1"/>
                                          </p:val>
                                        </p:tav>
                                        <p:tav tm="100000">
                                          <p:val>
                                            <p:strVal val="#ppt_y"/>
                                          </p:val>
                                        </p:tav>
                                      </p:tavLst>
                                    </p:anim>
                                  </p:childTnLst>
                                </p:cTn>
                              </p:par>
                            </p:childTnLst>
                          </p:cTn>
                        </p:par>
                        <p:par>
                          <p:cTn id="13" fill="hold">
                            <p:stCondLst>
                              <p:cond delay="1250"/>
                            </p:stCondLst>
                            <p:childTnLst>
                              <p:par>
                                <p:cTn id="14" presetID="22" presetClass="entr" presetSubtype="1" fill="hold" grpId="0" nodeType="afterEffect">
                                  <p:stCondLst>
                                    <p:cond delay="250"/>
                                  </p:stCondLst>
                                  <p:childTnLst>
                                    <p:set>
                                      <p:cBhvr>
                                        <p:cTn id="15" dur="1" fill="hold">
                                          <p:stCondLst>
                                            <p:cond delay="0"/>
                                          </p:stCondLst>
                                        </p:cTn>
                                        <p:tgtEl>
                                          <p:spTgt spid="2"/>
                                        </p:tgtEl>
                                        <p:attrNameLst>
                                          <p:attrName>style.visibility</p:attrName>
                                        </p:attrNameLst>
                                      </p:cBhvr>
                                      <p:to>
                                        <p:strVal val="visible"/>
                                      </p:to>
                                    </p:set>
                                    <p:animEffect transition="in" filter="wipe(up)">
                                      <p:cBhvr>
                                        <p:cTn id="1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DB65464F-05C0-37D3-FF16-F06B7AC049DC}"/>
              </a:ext>
            </a:extLst>
          </p:cNvPr>
          <p:cNvGrpSpPr/>
          <p:nvPr/>
        </p:nvGrpSpPr>
        <p:grpSpPr>
          <a:xfrm>
            <a:off x="-1" y="5767754"/>
            <a:ext cx="12180277" cy="1090246"/>
            <a:chOff x="-1" y="5181600"/>
            <a:chExt cx="12180277" cy="1676400"/>
          </a:xfrm>
        </p:grpSpPr>
        <p:sp>
          <p:nvSpPr>
            <p:cNvPr id="3" name="Arrow: Chevron 2">
              <a:extLst>
                <a:ext uri="{FF2B5EF4-FFF2-40B4-BE49-F238E27FC236}">
                  <a16:creationId xmlns:a16="http://schemas.microsoft.com/office/drawing/2014/main" id="{FD04F38B-62CA-B27A-4EAE-B77ABB408D0A}"/>
                </a:ext>
              </a:extLst>
            </p:cNvPr>
            <p:cNvSpPr/>
            <p:nvPr/>
          </p:nvSpPr>
          <p:spPr>
            <a:xfrm>
              <a:off x="-1" y="6472035"/>
              <a:ext cx="4154369" cy="385965"/>
            </a:xfrm>
            <a:prstGeom prst="chevron">
              <a:avLst/>
            </a:prstGeom>
            <a:solidFill>
              <a:srgbClr val="3E6DC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 name="Arrow: Chevron 3">
              <a:extLst>
                <a:ext uri="{FF2B5EF4-FFF2-40B4-BE49-F238E27FC236}">
                  <a16:creationId xmlns:a16="http://schemas.microsoft.com/office/drawing/2014/main" id="{677D1AEE-7688-1AAB-4370-D1BAEC0A32BD}"/>
                </a:ext>
              </a:extLst>
            </p:cNvPr>
            <p:cNvSpPr/>
            <p:nvPr/>
          </p:nvSpPr>
          <p:spPr>
            <a:xfrm>
              <a:off x="1648313" y="6472035"/>
              <a:ext cx="4154369" cy="385965"/>
            </a:xfrm>
            <a:prstGeom prst="chevron">
              <a:avLst/>
            </a:prstGeom>
            <a:solidFill>
              <a:schemeClr val="accent1">
                <a:lumMod val="60000"/>
                <a:lumOff val="40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5" name="Arrow: Chevron 4">
              <a:extLst>
                <a:ext uri="{FF2B5EF4-FFF2-40B4-BE49-F238E27FC236}">
                  <a16:creationId xmlns:a16="http://schemas.microsoft.com/office/drawing/2014/main" id="{B34A0FF0-7DC0-7575-26F3-01ECEED841D5}"/>
                </a:ext>
              </a:extLst>
            </p:cNvPr>
            <p:cNvSpPr/>
            <p:nvPr/>
          </p:nvSpPr>
          <p:spPr>
            <a:xfrm>
              <a:off x="3296627" y="6472035"/>
              <a:ext cx="4154369" cy="385965"/>
            </a:xfrm>
            <a:prstGeom prst="chevron">
              <a:avLst/>
            </a:prstGeom>
            <a:solidFill>
              <a:schemeClr val="accent1">
                <a:lumMod val="40000"/>
                <a:lumOff val="60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6" name="Arrow: Chevron 5">
              <a:extLst>
                <a:ext uri="{FF2B5EF4-FFF2-40B4-BE49-F238E27FC236}">
                  <a16:creationId xmlns:a16="http://schemas.microsoft.com/office/drawing/2014/main" id="{2DABBF5A-EE57-E287-A7C8-9D9ED018A1FA}"/>
                </a:ext>
              </a:extLst>
            </p:cNvPr>
            <p:cNvSpPr/>
            <p:nvPr/>
          </p:nvSpPr>
          <p:spPr>
            <a:xfrm>
              <a:off x="4944941" y="6472035"/>
              <a:ext cx="4154369" cy="385965"/>
            </a:xfrm>
            <a:prstGeom prst="chevron">
              <a:avLst/>
            </a:prstGeom>
            <a:solidFill>
              <a:schemeClr val="tx2">
                <a:lumMod val="40000"/>
                <a:lumOff val="60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 name="Arrow: Chevron 6">
              <a:extLst>
                <a:ext uri="{FF2B5EF4-FFF2-40B4-BE49-F238E27FC236}">
                  <a16:creationId xmlns:a16="http://schemas.microsoft.com/office/drawing/2014/main" id="{11250641-0684-F8BA-37BB-C618A1748D11}"/>
                </a:ext>
              </a:extLst>
            </p:cNvPr>
            <p:cNvSpPr/>
            <p:nvPr/>
          </p:nvSpPr>
          <p:spPr>
            <a:xfrm>
              <a:off x="6593255" y="6472035"/>
              <a:ext cx="4154369" cy="385965"/>
            </a:xfrm>
            <a:prstGeom prst="chevron">
              <a:avLst/>
            </a:prstGeom>
            <a:solidFill>
              <a:schemeClr val="bg1">
                <a:lumMod val="8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8" name="Arrow: Chevron 7">
              <a:extLst>
                <a:ext uri="{FF2B5EF4-FFF2-40B4-BE49-F238E27FC236}">
                  <a16:creationId xmlns:a16="http://schemas.microsoft.com/office/drawing/2014/main" id="{77A469CE-4747-55EA-DB65-906431287ED6}"/>
                </a:ext>
              </a:extLst>
            </p:cNvPr>
            <p:cNvSpPr/>
            <p:nvPr/>
          </p:nvSpPr>
          <p:spPr>
            <a:xfrm>
              <a:off x="8241570" y="6472035"/>
              <a:ext cx="3856645" cy="385965"/>
            </a:xfrm>
            <a:prstGeom prst="chevron">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Arrow: Chevron 8">
              <a:extLst>
                <a:ext uri="{FF2B5EF4-FFF2-40B4-BE49-F238E27FC236}">
                  <a16:creationId xmlns:a16="http://schemas.microsoft.com/office/drawing/2014/main" id="{FA01AECF-8542-27C3-6CB8-1444B012996C}"/>
                </a:ext>
              </a:extLst>
            </p:cNvPr>
            <p:cNvSpPr/>
            <p:nvPr/>
          </p:nvSpPr>
          <p:spPr>
            <a:xfrm>
              <a:off x="10007112" y="5181600"/>
              <a:ext cx="2173164" cy="1676400"/>
            </a:xfrm>
            <a:prstGeom prst="chevron">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grpSp>
      <p:grpSp>
        <p:nvGrpSpPr>
          <p:cNvPr id="12" name="Group 11">
            <a:extLst>
              <a:ext uri="{FF2B5EF4-FFF2-40B4-BE49-F238E27FC236}">
                <a16:creationId xmlns:a16="http://schemas.microsoft.com/office/drawing/2014/main" id="{C0EB53CC-DED4-6B4D-82C5-CBD8A9492FDC}"/>
              </a:ext>
            </a:extLst>
          </p:cNvPr>
          <p:cNvGrpSpPr/>
          <p:nvPr/>
        </p:nvGrpSpPr>
        <p:grpSpPr>
          <a:xfrm>
            <a:off x="0" y="141563"/>
            <a:ext cx="12192000" cy="6716437"/>
            <a:chOff x="-11723" y="153285"/>
            <a:chExt cx="12192000" cy="6716437"/>
          </a:xfrm>
        </p:grpSpPr>
        <p:pic>
          <p:nvPicPr>
            <p:cNvPr id="13" name="Picture 2">
              <a:extLst>
                <a:ext uri="{FF2B5EF4-FFF2-40B4-BE49-F238E27FC236}">
                  <a16:creationId xmlns:a16="http://schemas.microsoft.com/office/drawing/2014/main" id="{818B8C9C-C958-856D-BAF7-C70A81F19B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6868" y="153285"/>
              <a:ext cx="562843" cy="295242"/>
            </a:xfrm>
            <a:prstGeom prst="rect">
              <a:avLst/>
            </a:prstGeom>
            <a:noFill/>
            <a:extLst>
              <a:ext uri="{909E8E84-426E-40DD-AFC4-6F175D3DCCD1}">
                <a14:hiddenFill xmlns:a14="http://schemas.microsoft.com/office/drawing/2010/main">
                  <a:solidFill>
                    <a:srgbClr val="FFFFFF"/>
                  </a:solidFill>
                </a14:hiddenFill>
              </a:ext>
            </a:extLst>
          </p:spPr>
        </p:pic>
        <p:sp>
          <p:nvSpPr>
            <p:cNvPr id="14" name="Arrow: Pentagon 13">
              <a:extLst>
                <a:ext uri="{FF2B5EF4-FFF2-40B4-BE49-F238E27FC236}">
                  <a16:creationId xmlns:a16="http://schemas.microsoft.com/office/drawing/2014/main" id="{D7C3F4FC-5953-EA50-CF23-A598AECDEA8C}"/>
                </a:ext>
              </a:extLst>
            </p:cNvPr>
            <p:cNvSpPr/>
            <p:nvPr/>
          </p:nvSpPr>
          <p:spPr>
            <a:xfrm flipV="1">
              <a:off x="-11723" y="6517340"/>
              <a:ext cx="12192000" cy="352382"/>
            </a:xfrm>
            <a:prstGeom prst="homePlate">
              <a:avLst/>
            </a:prstGeom>
            <a:gradFill flip="none" rotWithShape="1">
              <a:gsLst>
                <a:gs pos="0">
                  <a:schemeClr val="accent1">
                    <a:lumMod val="0"/>
                    <a:lumOff val="100000"/>
                  </a:schemeClr>
                </a:gs>
                <a:gs pos="46000">
                  <a:schemeClr val="accent1">
                    <a:lumMod val="0"/>
                    <a:lumOff val="100000"/>
                  </a:schemeClr>
                </a:gs>
                <a:gs pos="100000">
                  <a:schemeClr val="accent1">
                    <a:lumMod val="100000"/>
                  </a:schemeClr>
                </a:gs>
              </a:gsLst>
              <a:path path="rect">
                <a:fillToRect l="100000" t="100000"/>
              </a:path>
              <a:tileRect r="-100000" b="-100000"/>
            </a:gra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pic>
        <p:nvPicPr>
          <p:cNvPr id="15" name="Picture 14">
            <a:extLst>
              <a:ext uri="{FF2B5EF4-FFF2-40B4-BE49-F238E27FC236}">
                <a16:creationId xmlns:a16="http://schemas.microsoft.com/office/drawing/2014/main" id="{1B4145E9-7F7E-A844-442F-0C0DD45B37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4132" y="87352"/>
            <a:ext cx="677800" cy="427309"/>
          </a:xfrm>
          <a:prstGeom prst="rect">
            <a:avLst/>
          </a:prstGeom>
        </p:spPr>
      </p:pic>
      <p:pic>
        <p:nvPicPr>
          <p:cNvPr id="16" name="Picture 15">
            <a:extLst>
              <a:ext uri="{FF2B5EF4-FFF2-40B4-BE49-F238E27FC236}">
                <a16:creationId xmlns:a16="http://schemas.microsoft.com/office/drawing/2014/main" id="{7A507078-E7E5-D183-2BD7-3A314458F84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80495" y="123670"/>
            <a:ext cx="777382" cy="330387"/>
          </a:xfrm>
          <a:prstGeom prst="rect">
            <a:avLst/>
          </a:prstGeom>
        </p:spPr>
      </p:pic>
      <p:pic>
        <p:nvPicPr>
          <p:cNvPr id="26" name="Picture 25">
            <a:extLst>
              <a:ext uri="{FF2B5EF4-FFF2-40B4-BE49-F238E27FC236}">
                <a16:creationId xmlns:a16="http://schemas.microsoft.com/office/drawing/2014/main" id="{CC4AA724-81E5-D836-98ED-6F6BB2E537EC}"/>
              </a:ext>
            </a:extLst>
          </p:cNvPr>
          <p:cNvPicPr>
            <a:picLocks noChangeAspect="1"/>
          </p:cNvPicPr>
          <p:nvPr/>
        </p:nvPicPr>
        <p:blipFill>
          <a:blip r:embed="rId5"/>
          <a:stretch>
            <a:fillRect/>
          </a:stretch>
        </p:blipFill>
        <p:spPr>
          <a:xfrm>
            <a:off x="193652" y="836531"/>
            <a:ext cx="5647563" cy="5357235"/>
          </a:xfrm>
          <a:prstGeom prst="rect">
            <a:avLst/>
          </a:prstGeom>
        </p:spPr>
      </p:pic>
      <p:sp>
        <p:nvSpPr>
          <p:cNvPr id="31" name="TextBox 30">
            <a:extLst>
              <a:ext uri="{FF2B5EF4-FFF2-40B4-BE49-F238E27FC236}">
                <a16:creationId xmlns:a16="http://schemas.microsoft.com/office/drawing/2014/main" id="{64C87D37-A3B6-4D98-F5A8-96A76F27DA1D}"/>
              </a:ext>
            </a:extLst>
          </p:cNvPr>
          <p:cNvSpPr txBox="1"/>
          <p:nvPr/>
        </p:nvSpPr>
        <p:spPr>
          <a:xfrm>
            <a:off x="3384696" y="287562"/>
            <a:ext cx="3978229" cy="369332"/>
          </a:xfrm>
          <a:prstGeom prst="rect">
            <a:avLst/>
          </a:prstGeom>
          <a:noFill/>
        </p:spPr>
        <p:txBody>
          <a:bodyPr wrap="square" rtlCol="0">
            <a:spAutoFit/>
          </a:bodyPr>
          <a:lstStyle/>
          <a:p>
            <a:r>
              <a:rPr lang="en-GB" b="1" dirty="0"/>
              <a:t>Phase 1, step 1:  Candidate registration</a:t>
            </a:r>
            <a:endParaRPr lang="en-ZA" b="1" dirty="0"/>
          </a:p>
        </p:txBody>
      </p:sp>
      <p:sp>
        <p:nvSpPr>
          <p:cNvPr id="11" name="Arrow: Right 10">
            <a:extLst>
              <a:ext uri="{FF2B5EF4-FFF2-40B4-BE49-F238E27FC236}">
                <a16:creationId xmlns:a16="http://schemas.microsoft.com/office/drawing/2014/main" id="{D5BAA6D7-A066-1CC0-8667-C5AA6A2C9E1D}"/>
              </a:ext>
            </a:extLst>
          </p:cNvPr>
          <p:cNvSpPr/>
          <p:nvPr/>
        </p:nvSpPr>
        <p:spPr>
          <a:xfrm rot="9143965">
            <a:off x="3539272" y="744578"/>
            <a:ext cx="936061" cy="128749"/>
          </a:xfrm>
          <a:prstGeom prst="right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18" name="Connector: Curved 17">
            <a:extLst>
              <a:ext uri="{FF2B5EF4-FFF2-40B4-BE49-F238E27FC236}">
                <a16:creationId xmlns:a16="http://schemas.microsoft.com/office/drawing/2014/main" id="{BD96B7CB-3DB5-61B0-4E3D-B43469BA2C33}"/>
              </a:ext>
            </a:extLst>
          </p:cNvPr>
          <p:cNvCxnSpPr/>
          <p:nvPr/>
        </p:nvCxnSpPr>
        <p:spPr>
          <a:xfrm rot="5400000">
            <a:off x="5083170" y="4631553"/>
            <a:ext cx="449179" cy="344905"/>
          </a:xfrm>
          <a:prstGeom prst="curvedConnector3">
            <a:avLst/>
          </a:prstGeom>
          <a:ln>
            <a:headEnd type="triangle"/>
            <a:tailEnd type="triangle"/>
          </a:ln>
        </p:spPr>
        <p:style>
          <a:lnRef idx="1">
            <a:schemeClr val="accent1"/>
          </a:lnRef>
          <a:fillRef idx="0">
            <a:schemeClr val="accent1"/>
          </a:fillRef>
          <a:effectRef idx="0">
            <a:schemeClr val="accent1"/>
          </a:effectRef>
          <a:fontRef idx="minor">
            <a:schemeClr val="tx1"/>
          </a:fontRef>
        </p:style>
      </p:cxnSp>
      <p:pic>
        <p:nvPicPr>
          <p:cNvPr id="20" name="Picture 19">
            <a:extLst>
              <a:ext uri="{FF2B5EF4-FFF2-40B4-BE49-F238E27FC236}">
                <a16:creationId xmlns:a16="http://schemas.microsoft.com/office/drawing/2014/main" id="{9ECE43F2-CBB3-0B44-FE89-EA4980DB4C7F}"/>
              </a:ext>
            </a:extLst>
          </p:cNvPr>
          <p:cNvPicPr>
            <a:picLocks noChangeAspect="1"/>
          </p:cNvPicPr>
          <p:nvPr/>
        </p:nvPicPr>
        <p:blipFill>
          <a:blip r:embed="rId6"/>
          <a:stretch>
            <a:fillRect/>
          </a:stretch>
        </p:blipFill>
        <p:spPr>
          <a:xfrm>
            <a:off x="6049440" y="595116"/>
            <a:ext cx="6079839" cy="5667768"/>
          </a:xfrm>
          <a:prstGeom prst="rect">
            <a:avLst/>
          </a:prstGeom>
        </p:spPr>
      </p:pic>
      <p:sp>
        <p:nvSpPr>
          <p:cNvPr id="21" name="Arrow: Right 20">
            <a:extLst>
              <a:ext uri="{FF2B5EF4-FFF2-40B4-BE49-F238E27FC236}">
                <a16:creationId xmlns:a16="http://schemas.microsoft.com/office/drawing/2014/main" id="{3AA073E1-B4F0-81DA-F8EF-32C27CC43DC7}"/>
              </a:ext>
            </a:extLst>
          </p:cNvPr>
          <p:cNvSpPr/>
          <p:nvPr/>
        </p:nvSpPr>
        <p:spPr>
          <a:xfrm>
            <a:off x="1371757" y="5926296"/>
            <a:ext cx="1000350" cy="190345"/>
          </a:xfrm>
          <a:prstGeom prst="rightArrow">
            <a:avLst/>
          </a:prstGeom>
          <a:solidFill>
            <a:srgbClr val="28A74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23" name="Speech Bubble: Oval 22">
            <a:extLst>
              <a:ext uri="{FF2B5EF4-FFF2-40B4-BE49-F238E27FC236}">
                <a16:creationId xmlns:a16="http://schemas.microsoft.com/office/drawing/2014/main" id="{134D33A3-9A5A-0D39-FA4A-BBA8ADFD7206}"/>
              </a:ext>
            </a:extLst>
          </p:cNvPr>
          <p:cNvSpPr/>
          <p:nvPr/>
        </p:nvSpPr>
        <p:spPr>
          <a:xfrm>
            <a:off x="7936302" y="4106174"/>
            <a:ext cx="940279" cy="310551"/>
          </a:xfrm>
          <a:prstGeom prst="wedgeEllipseCallout">
            <a:avLst>
              <a:gd name="adj1" fmla="val -91475"/>
              <a:gd name="adj2" fmla="val 106945"/>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NB</a:t>
            </a:r>
            <a:endParaRPr lang="en-ZA" dirty="0">
              <a:solidFill>
                <a:srgbClr val="FF0000"/>
              </a:solidFill>
            </a:endParaRPr>
          </a:p>
        </p:txBody>
      </p:sp>
    </p:spTree>
    <p:extLst>
      <p:ext uri="{BB962C8B-B14F-4D97-AF65-F5344CB8AC3E}">
        <p14:creationId xmlns:p14="http://schemas.microsoft.com/office/powerpoint/2010/main" val="2937453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500"/>
                                        <p:tgtEl>
                                          <p:spTgt spid="26"/>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8"/>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21"/>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20"/>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21" presetClass="entr" presetSubtype="1" fill="hold" grpId="0"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wheel(1)">
                                      <p:cBhvr>
                                        <p:cTn id="32" dur="2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1" grpId="0" animBg="1"/>
      <p:bldP spid="2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DB65464F-05C0-37D3-FF16-F06B7AC049DC}"/>
              </a:ext>
            </a:extLst>
          </p:cNvPr>
          <p:cNvGrpSpPr/>
          <p:nvPr/>
        </p:nvGrpSpPr>
        <p:grpSpPr>
          <a:xfrm>
            <a:off x="-1" y="5767754"/>
            <a:ext cx="12180277" cy="1090246"/>
            <a:chOff x="-1" y="5181600"/>
            <a:chExt cx="12180277" cy="1676400"/>
          </a:xfrm>
        </p:grpSpPr>
        <p:sp>
          <p:nvSpPr>
            <p:cNvPr id="3" name="Arrow: Chevron 2">
              <a:extLst>
                <a:ext uri="{FF2B5EF4-FFF2-40B4-BE49-F238E27FC236}">
                  <a16:creationId xmlns:a16="http://schemas.microsoft.com/office/drawing/2014/main" id="{FD04F38B-62CA-B27A-4EAE-B77ABB408D0A}"/>
                </a:ext>
              </a:extLst>
            </p:cNvPr>
            <p:cNvSpPr/>
            <p:nvPr/>
          </p:nvSpPr>
          <p:spPr>
            <a:xfrm>
              <a:off x="-1" y="6472035"/>
              <a:ext cx="4154369" cy="385965"/>
            </a:xfrm>
            <a:prstGeom prst="chevron">
              <a:avLst/>
            </a:prstGeom>
            <a:solidFill>
              <a:srgbClr val="3E6DC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 name="Arrow: Chevron 3">
              <a:extLst>
                <a:ext uri="{FF2B5EF4-FFF2-40B4-BE49-F238E27FC236}">
                  <a16:creationId xmlns:a16="http://schemas.microsoft.com/office/drawing/2014/main" id="{677D1AEE-7688-1AAB-4370-D1BAEC0A32BD}"/>
                </a:ext>
              </a:extLst>
            </p:cNvPr>
            <p:cNvSpPr/>
            <p:nvPr/>
          </p:nvSpPr>
          <p:spPr>
            <a:xfrm>
              <a:off x="1648313" y="6472035"/>
              <a:ext cx="4154369" cy="385965"/>
            </a:xfrm>
            <a:prstGeom prst="chevron">
              <a:avLst/>
            </a:prstGeom>
            <a:solidFill>
              <a:schemeClr val="accent1">
                <a:lumMod val="60000"/>
                <a:lumOff val="40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5" name="Arrow: Chevron 4">
              <a:extLst>
                <a:ext uri="{FF2B5EF4-FFF2-40B4-BE49-F238E27FC236}">
                  <a16:creationId xmlns:a16="http://schemas.microsoft.com/office/drawing/2014/main" id="{B34A0FF0-7DC0-7575-26F3-01ECEED841D5}"/>
                </a:ext>
              </a:extLst>
            </p:cNvPr>
            <p:cNvSpPr/>
            <p:nvPr/>
          </p:nvSpPr>
          <p:spPr>
            <a:xfrm>
              <a:off x="3296627" y="6472035"/>
              <a:ext cx="4154369" cy="385965"/>
            </a:xfrm>
            <a:prstGeom prst="chevron">
              <a:avLst/>
            </a:prstGeom>
            <a:solidFill>
              <a:schemeClr val="accent1">
                <a:lumMod val="40000"/>
                <a:lumOff val="60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6" name="Arrow: Chevron 5">
              <a:extLst>
                <a:ext uri="{FF2B5EF4-FFF2-40B4-BE49-F238E27FC236}">
                  <a16:creationId xmlns:a16="http://schemas.microsoft.com/office/drawing/2014/main" id="{2DABBF5A-EE57-E287-A7C8-9D9ED018A1FA}"/>
                </a:ext>
              </a:extLst>
            </p:cNvPr>
            <p:cNvSpPr/>
            <p:nvPr/>
          </p:nvSpPr>
          <p:spPr>
            <a:xfrm>
              <a:off x="4944941" y="6472035"/>
              <a:ext cx="4154369" cy="385965"/>
            </a:xfrm>
            <a:prstGeom prst="chevron">
              <a:avLst/>
            </a:prstGeom>
            <a:solidFill>
              <a:schemeClr val="tx2">
                <a:lumMod val="40000"/>
                <a:lumOff val="60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 name="Arrow: Chevron 6">
              <a:extLst>
                <a:ext uri="{FF2B5EF4-FFF2-40B4-BE49-F238E27FC236}">
                  <a16:creationId xmlns:a16="http://schemas.microsoft.com/office/drawing/2014/main" id="{11250641-0684-F8BA-37BB-C618A1748D11}"/>
                </a:ext>
              </a:extLst>
            </p:cNvPr>
            <p:cNvSpPr/>
            <p:nvPr/>
          </p:nvSpPr>
          <p:spPr>
            <a:xfrm>
              <a:off x="6593255" y="6472035"/>
              <a:ext cx="4154369" cy="385965"/>
            </a:xfrm>
            <a:prstGeom prst="chevron">
              <a:avLst/>
            </a:prstGeom>
            <a:solidFill>
              <a:schemeClr val="bg1">
                <a:lumMod val="8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8" name="Arrow: Chevron 7">
              <a:extLst>
                <a:ext uri="{FF2B5EF4-FFF2-40B4-BE49-F238E27FC236}">
                  <a16:creationId xmlns:a16="http://schemas.microsoft.com/office/drawing/2014/main" id="{77A469CE-4747-55EA-DB65-906431287ED6}"/>
                </a:ext>
              </a:extLst>
            </p:cNvPr>
            <p:cNvSpPr/>
            <p:nvPr/>
          </p:nvSpPr>
          <p:spPr>
            <a:xfrm>
              <a:off x="8241570" y="6472035"/>
              <a:ext cx="3856645" cy="385965"/>
            </a:xfrm>
            <a:prstGeom prst="chevron">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Arrow: Chevron 8">
              <a:extLst>
                <a:ext uri="{FF2B5EF4-FFF2-40B4-BE49-F238E27FC236}">
                  <a16:creationId xmlns:a16="http://schemas.microsoft.com/office/drawing/2014/main" id="{FA01AECF-8542-27C3-6CB8-1444B012996C}"/>
                </a:ext>
              </a:extLst>
            </p:cNvPr>
            <p:cNvSpPr/>
            <p:nvPr/>
          </p:nvSpPr>
          <p:spPr>
            <a:xfrm>
              <a:off x="10007112" y="5181600"/>
              <a:ext cx="2173164" cy="1676400"/>
            </a:xfrm>
            <a:prstGeom prst="chevron">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grpSp>
      <p:grpSp>
        <p:nvGrpSpPr>
          <p:cNvPr id="12" name="Group 11">
            <a:extLst>
              <a:ext uri="{FF2B5EF4-FFF2-40B4-BE49-F238E27FC236}">
                <a16:creationId xmlns:a16="http://schemas.microsoft.com/office/drawing/2014/main" id="{C0EB53CC-DED4-6B4D-82C5-CBD8A9492FDC}"/>
              </a:ext>
            </a:extLst>
          </p:cNvPr>
          <p:cNvGrpSpPr/>
          <p:nvPr/>
        </p:nvGrpSpPr>
        <p:grpSpPr>
          <a:xfrm>
            <a:off x="0" y="141563"/>
            <a:ext cx="12192000" cy="6716437"/>
            <a:chOff x="-11723" y="153285"/>
            <a:chExt cx="12192000" cy="6716437"/>
          </a:xfrm>
        </p:grpSpPr>
        <p:pic>
          <p:nvPicPr>
            <p:cNvPr id="13" name="Picture 2">
              <a:extLst>
                <a:ext uri="{FF2B5EF4-FFF2-40B4-BE49-F238E27FC236}">
                  <a16:creationId xmlns:a16="http://schemas.microsoft.com/office/drawing/2014/main" id="{818B8C9C-C958-856D-BAF7-C70A81F19B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6868" y="153285"/>
              <a:ext cx="562843" cy="295242"/>
            </a:xfrm>
            <a:prstGeom prst="rect">
              <a:avLst/>
            </a:prstGeom>
            <a:noFill/>
            <a:extLst>
              <a:ext uri="{909E8E84-426E-40DD-AFC4-6F175D3DCCD1}">
                <a14:hiddenFill xmlns:a14="http://schemas.microsoft.com/office/drawing/2010/main">
                  <a:solidFill>
                    <a:srgbClr val="FFFFFF"/>
                  </a:solidFill>
                </a14:hiddenFill>
              </a:ext>
            </a:extLst>
          </p:spPr>
        </p:pic>
        <p:sp>
          <p:nvSpPr>
            <p:cNvPr id="14" name="Arrow: Pentagon 13">
              <a:extLst>
                <a:ext uri="{FF2B5EF4-FFF2-40B4-BE49-F238E27FC236}">
                  <a16:creationId xmlns:a16="http://schemas.microsoft.com/office/drawing/2014/main" id="{D7C3F4FC-5953-EA50-CF23-A598AECDEA8C}"/>
                </a:ext>
              </a:extLst>
            </p:cNvPr>
            <p:cNvSpPr/>
            <p:nvPr/>
          </p:nvSpPr>
          <p:spPr>
            <a:xfrm flipV="1">
              <a:off x="-11723" y="6517340"/>
              <a:ext cx="12192000" cy="352382"/>
            </a:xfrm>
            <a:prstGeom prst="homePlate">
              <a:avLst/>
            </a:prstGeom>
            <a:gradFill flip="none" rotWithShape="1">
              <a:gsLst>
                <a:gs pos="0">
                  <a:schemeClr val="accent1">
                    <a:lumMod val="0"/>
                    <a:lumOff val="100000"/>
                  </a:schemeClr>
                </a:gs>
                <a:gs pos="46000">
                  <a:schemeClr val="accent1">
                    <a:lumMod val="0"/>
                    <a:lumOff val="100000"/>
                  </a:schemeClr>
                </a:gs>
                <a:gs pos="100000">
                  <a:schemeClr val="accent1">
                    <a:lumMod val="100000"/>
                  </a:schemeClr>
                </a:gs>
              </a:gsLst>
              <a:path path="rect">
                <a:fillToRect l="100000" t="100000"/>
              </a:path>
              <a:tileRect r="-100000" b="-100000"/>
            </a:gra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pic>
        <p:nvPicPr>
          <p:cNvPr id="15" name="Picture 14">
            <a:extLst>
              <a:ext uri="{FF2B5EF4-FFF2-40B4-BE49-F238E27FC236}">
                <a16:creationId xmlns:a16="http://schemas.microsoft.com/office/drawing/2014/main" id="{1B4145E9-7F7E-A844-442F-0C0DD45B37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4132" y="87352"/>
            <a:ext cx="677800" cy="427309"/>
          </a:xfrm>
          <a:prstGeom prst="rect">
            <a:avLst/>
          </a:prstGeom>
        </p:spPr>
      </p:pic>
      <p:pic>
        <p:nvPicPr>
          <p:cNvPr id="16" name="Picture 15">
            <a:extLst>
              <a:ext uri="{FF2B5EF4-FFF2-40B4-BE49-F238E27FC236}">
                <a16:creationId xmlns:a16="http://schemas.microsoft.com/office/drawing/2014/main" id="{7A507078-E7E5-D183-2BD7-3A314458F84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80495" y="123670"/>
            <a:ext cx="777382" cy="330387"/>
          </a:xfrm>
          <a:prstGeom prst="rect">
            <a:avLst/>
          </a:prstGeom>
        </p:spPr>
      </p:pic>
      <p:sp>
        <p:nvSpPr>
          <p:cNvPr id="31" name="TextBox 30">
            <a:extLst>
              <a:ext uri="{FF2B5EF4-FFF2-40B4-BE49-F238E27FC236}">
                <a16:creationId xmlns:a16="http://schemas.microsoft.com/office/drawing/2014/main" id="{64C87D37-A3B6-4D98-F5A8-96A76F27DA1D}"/>
              </a:ext>
            </a:extLst>
          </p:cNvPr>
          <p:cNvSpPr txBox="1"/>
          <p:nvPr/>
        </p:nvSpPr>
        <p:spPr>
          <a:xfrm>
            <a:off x="480071" y="822589"/>
            <a:ext cx="3978229" cy="5909310"/>
          </a:xfrm>
          <a:prstGeom prst="rect">
            <a:avLst/>
          </a:prstGeom>
          <a:noFill/>
        </p:spPr>
        <p:txBody>
          <a:bodyPr wrap="square" rtlCol="0">
            <a:spAutoFit/>
          </a:bodyPr>
          <a:lstStyle/>
          <a:p>
            <a:r>
              <a:rPr lang="en-GB" b="1" dirty="0"/>
              <a:t>Data captured on candidate webform includes:</a:t>
            </a:r>
          </a:p>
          <a:p>
            <a:endParaRPr lang="en-GB" dirty="0"/>
          </a:p>
          <a:p>
            <a:pPr marL="285750" indent="-285750">
              <a:buFont typeface="Arial" panose="020B0604020202020204" pitchFamily="34" charset="0"/>
              <a:buChar char="•"/>
            </a:pPr>
            <a:r>
              <a:rPr lang="en-GB" dirty="0"/>
              <a:t>Demographics</a:t>
            </a:r>
          </a:p>
          <a:p>
            <a:pPr marL="285750" indent="-285750">
              <a:buFont typeface="Arial" panose="020B0604020202020204" pitchFamily="34" charset="0"/>
              <a:buChar char="•"/>
            </a:pPr>
            <a:r>
              <a:rPr lang="en-GB" dirty="0"/>
              <a:t>Location using geolocation</a:t>
            </a:r>
          </a:p>
          <a:p>
            <a:pPr marL="285750" indent="-285750">
              <a:buFont typeface="Arial" panose="020B0604020202020204" pitchFamily="34" charset="0"/>
              <a:buChar char="•"/>
            </a:pPr>
            <a:r>
              <a:rPr lang="en-ZA" dirty="0"/>
              <a:t>Education</a:t>
            </a:r>
          </a:p>
          <a:p>
            <a:pPr marL="285750" indent="-285750">
              <a:buFont typeface="Arial" panose="020B0604020202020204" pitchFamily="34" charset="0"/>
              <a:buChar char="•"/>
            </a:pPr>
            <a:r>
              <a:rPr lang="en-ZA" dirty="0"/>
              <a:t>Qualifications</a:t>
            </a:r>
          </a:p>
          <a:p>
            <a:pPr marL="285750" indent="-285750">
              <a:buFont typeface="Arial" panose="020B0604020202020204" pitchFamily="34" charset="0"/>
              <a:buChar char="•"/>
            </a:pPr>
            <a:r>
              <a:rPr lang="en-ZA" dirty="0"/>
              <a:t>CV upload</a:t>
            </a:r>
          </a:p>
          <a:p>
            <a:pPr marL="285750" indent="-285750">
              <a:buFont typeface="Arial" panose="020B0604020202020204" pitchFamily="34" charset="0"/>
              <a:buChar char="•"/>
            </a:pPr>
            <a:r>
              <a:rPr lang="en-GB" dirty="0"/>
              <a:t>Industry experience / occupations (if applicable)</a:t>
            </a:r>
          </a:p>
          <a:p>
            <a:pPr marL="285750" indent="-285750">
              <a:buFont typeface="Arial" panose="020B0604020202020204" pitchFamily="34" charset="0"/>
              <a:buChar char="•"/>
            </a:pPr>
            <a:r>
              <a:rPr lang="en-GB" dirty="0"/>
              <a:t>Previous internship details if applicable</a:t>
            </a:r>
          </a:p>
          <a:p>
            <a:endParaRPr lang="en-GB" dirty="0"/>
          </a:p>
          <a:p>
            <a:pPr marL="285750" indent="-285750">
              <a:buFont typeface="Arial" panose="020B0604020202020204" pitchFamily="34" charset="0"/>
              <a:buChar char="•"/>
            </a:pPr>
            <a:r>
              <a:rPr lang="en-GB" dirty="0"/>
              <a:t>Work experience</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 Motivation</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Links to personal website/s. E.g. </a:t>
            </a:r>
            <a:r>
              <a:rPr lang="en-GB" dirty="0" err="1"/>
              <a:t>Linkedin</a:t>
            </a:r>
            <a:r>
              <a:rPr lang="en-GB" dirty="0"/>
              <a:t>, Instagram, etc., or </a:t>
            </a:r>
            <a:r>
              <a:rPr lang="en-GB" i="1" dirty="0"/>
              <a:t>personally </a:t>
            </a:r>
            <a:r>
              <a:rPr lang="en-GB" dirty="0"/>
              <a:t>designed showcase site.</a:t>
            </a:r>
          </a:p>
          <a:p>
            <a:endParaRPr lang="en-GB" dirty="0"/>
          </a:p>
        </p:txBody>
      </p:sp>
      <p:pic>
        <p:nvPicPr>
          <p:cNvPr id="11" name="Picture 10">
            <a:extLst>
              <a:ext uri="{FF2B5EF4-FFF2-40B4-BE49-F238E27FC236}">
                <a16:creationId xmlns:a16="http://schemas.microsoft.com/office/drawing/2014/main" id="{9F1E2A5B-8228-A2E4-5DB8-ADB93B0261CB}"/>
              </a:ext>
            </a:extLst>
          </p:cNvPr>
          <p:cNvPicPr>
            <a:picLocks noChangeAspect="1"/>
          </p:cNvPicPr>
          <p:nvPr/>
        </p:nvPicPr>
        <p:blipFill>
          <a:blip r:embed="rId5"/>
          <a:stretch>
            <a:fillRect/>
          </a:stretch>
        </p:blipFill>
        <p:spPr>
          <a:xfrm>
            <a:off x="6076362" y="6797"/>
            <a:ext cx="5690295" cy="6481569"/>
          </a:xfrm>
          <a:prstGeom prst="rect">
            <a:avLst/>
          </a:prstGeom>
        </p:spPr>
      </p:pic>
      <p:cxnSp>
        <p:nvCxnSpPr>
          <p:cNvPr id="37" name="Connector: Elbow 36">
            <a:extLst>
              <a:ext uri="{FF2B5EF4-FFF2-40B4-BE49-F238E27FC236}">
                <a16:creationId xmlns:a16="http://schemas.microsoft.com/office/drawing/2014/main" id="{45C63A5B-830E-FE02-8B23-A48B5B356527}"/>
              </a:ext>
            </a:extLst>
          </p:cNvPr>
          <p:cNvCxnSpPr/>
          <p:nvPr/>
        </p:nvCxnSpPr>
        <p:spPr>
          <a:xfrm rot="10800000" flipV="1">
            <a:off x="4354426" y="2054177"/>
            <a:ext cx="1805742" cy="1147011"/>
          </a:xfrm>
          <a:prstGeom prst="bentConnector3">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9" name="Connector: Elbow 38">
            <a:extLst>
              <a:ext uri="{FF2B5EF4-FFF2-40B4-BE49-F238E27FC236}">
                <a16:creationId xmlns:a16="http://schemas.microsoft.com/office/drawing/2014/main" id="{B18700D7-4FFC-DDC7-960D-8B7453F98968}"/>
              </a:ext>
            </a:extLst>
          </p:cNvPr>
          <p:cNvCxnSpPr>
            <a:cxnSpLocks/>
          </p:cNvCxnSpPr>
          <p:nvPr/>
        </p:nvCxnSpPr>
        <p:spPr>
          <a:xfrm rot="10800000" flipV="1">
            <a:off x="2469186" y="3998884"/>
            <a:ext cx="3490459" cy="1118871"/>
          </a:xfrm>
          <a:prstGeom prst="bentConnector3">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 name="Connector: Elbow 1">
            <a:extLst>
              <a:ext uri="{FF2B5EF4-FFF2-40B4-BE49-F238E27FC236}">
                <a16:creationId xmlns:a16="http://schemas.microsoft.com/office/drawing/2014/main" id="{2A8DAD05-7478-E402-4A7E-E1F8CC8CFB25}"/>
              </a:ext>
            </a:extLst>
          </p:cNvPr>
          <p:cNvCxnSpPr/>
          <p:nvPr/>
        </p:nvCxnSpPr>
        <p:spPr>
          <a:xfrm>
            <a:off x="5894674" y="5943600"/>
            <a:ext cx="1048" cy="12700"/>
          </a:xfrm>
          <a:prstGeom prst="bentConnector3">
            <a:avLst>
              <a:gd name="adj1" fmla="val -153798696"/>
            </a:avLst>
          </a:prstGeom>
          <a:ln>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7" name="Picture 4">
            <a:extLst>
              <a:ext uri="{FF2B5EF4-FFF2-40B4-BE49-F238E27FC236}">
                <a16:creationId xmlns:a16="http://schemas.microsoft.com/office/drawing/2014/main" id="{C43C2C1F-E231-8F29-8A14-07296183F7A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08295" y="304626"/>
            <a:ext cx="1381125" cy="400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85327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par>
                          <p:cTn id="7" fill="hold">
                            <p:stCondLst>
                              <p:cond delay="0"/>
                            </p:stCondLst>
                            <p:childTnLst>
                              <p:par>
                                <p:cTn id="8" presetID="42" presetClass="entr" presetSubtype="0" fill="hold" nodeType="afterEffect">
                                  <p:stCondLst>
                                    <p:cond delay="25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1000"/>
                                        <p:tgtEl>
                                          <p:spTgt spid="11"/>
                                        </p:tgtEl>
                                      </p:cBhvr>
                                    </p:animEffect>
                                    <p:anim calcmode="lin" valueType="num">
                                      <p:cBhvr>
                                        <p:cTn id="11" dur="1000" fill="hold"/>
                                        <p:tgtEl>
                                          <p:spTgt spid="11"/>
                                        </p:tgtEl>
                                        <p:attrNameLst>
                                          <p:attrName>ppt_x</p:attrName>
                                        </p:attrNameLst>
                                      </p:cBhvr>
                                      <p:tavLst>
                                        <p:tav tm="0">
                                          <p:val>
                                            <p:strVal val="#ppt_x"/>
                                          </p:val>
                                        </p:tav>
                                        <p:tav tm="100000">
                                          <p:val>
                                            <p:strVal val="#ppt_x"/>
                                          </p:val>
                                        </p:tav>
                                      </p:tavLst>
                                    </p:anim>
                                    <p:anim calcmode="lin" valueType="num">
                                      <p:cBhvr>
                                        <p:cTn id="12"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5765EAD5-2621-9FA4-B2A7-630BFC0B7C34}"/>
              </a:ext>
            </a:extLst>
          </p:cNvPr>
          <p:cNvPicPr>
            <a:picLocks noChangeAspect="1"/>
          </p:cNvPicPr>
          <p:nvPr/>
        </p:nvPicPr>
        <p:blipFill>
          <a:blip r:embed="rId2"/>
          <a:stretch>
            <a:fillRect/>
          </a:stretch>
        </p:blipFill>
        <p:spPr>
          <a:xfrm>
            <a:off x="5359849" y="639281"/>
            <a:ext cx="6757829" cy="5866337"/>
          </a:xfrm>
          <a:prstGeom prst="rect">
            <a:avLst/>
          </a:prstGeom>
        </p:spPr>
      </p:pic>
      <p:grpSp>
        <p:nvGrpSpPr>
          <p:cNvPr id="10" name="Group 9">
            <a:extLst>
              <a:ext uri="{FF2B5EF4-FFF2-40B4-BE49-F238E27FC236}">
                <a16:creationId xmlns:a16="http://schemas.microsoft.com/office/drawing/2014/main" id="{DB65464F-05C0-37D3-FF16-F06B7AC049DC}"/>
              </a:ext>
            </a:extLst>
          </p:cNvPr>
          <p:cNvGrpSpPr/>
          <p:nvPr/>
        </p:nvGrpSpPr>
        <p:grpSpPr>
          <a:xfrm>
            <a:off x="-1" y="5767754"/>
            <a:ext cx="12180277" cy="1090246"/>
            <a:chOff x="-1" y="5181600"/>
            <a:chExt cx="12180277" cy="1676400"/>
          </a:xfrm>
        </p:grpSpPr>
        <p:sp>
          <p:nvSpPr>
            <p:cNvPr id="3" name="Arrow: Chevron 2">
              <a:extLst>
                <a:ext uri="{FF2B5EF4-FFF2-40B4-BE49-F238E27FC236}">
                  <a16:creationId xmlns:a16="http://schemas.microsoft.com/office/drawing/2014/main" id="{FD04F38B-62CA-B27A-4EAE-B77ABB408D0A}"/>
                </a:ext>
              </a:extLst>
            </p:cNvPr>
            <p:cNvSpPr/>
            <p:nvPr/>
          </p:nvSpPr>
          <p:spPr>
            <a:xfrm>
              <a:off x="-1" y="6472035"/>
              <a:ext cx="4154369" cy="385965"/>
            </a:xfrm>
            <a:prstGeom prst="chevron">
              <a:avLst/>
            </a:prstGeom>
            <a:solidFill>
              <a:srgbClr val="3E6DC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 name="Arrow: Chevron 3">
              <a:extLst>
                <a:ext uri="{FF2B5EF4-FFF2-40B4-BE49-F238E27FC236}">
                  <a16:creationId xmlns:a16="http://schemas.microsoft.com/office/drawing/2014/main" id="{677D1AEE-7688-1AAB-4370-D1BAEC0A32BD}"/>
                </a:ext>
              </a:extLst>
            </p:cNvPr>
            <p:cNvSpPr/>
            <p:nvPr/>
          </p:nvSpPr>
          <p:spPr>
            <a:xfrm>
              <a:off x="1648313" y="6472035"/>
              <a:ext cx="4154369" cy="385965"/>
            </a:xfrm>
            <a:prstGeom prst="chevron">
              <a:avLst/>
            </a:prstGeom>
            <a:solidFill>
              <a:schemeClr val="accent1">
                <a:lumMod val="60000"/>
                <a:lumOff val="40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5" name="Arrow: Chevron 4">
              <a:extLst>
                <a:ext uri="{FF2B5EF4-FFF2-40B4-BE49-F238E27FC236}">
                  <a16:creationId xmlns:a16="http://schemas.microsoft.com/office/drawing/2014/main" id="{B34A0FF0-7DC0-7575-26F3-01ECEED841D5}"/>
                </a:ext>
              </a:extLst>
            </p:cNvPr>
            <p:cNvSpPr/>
            <p:nvPr/>
          </p:nvSpPr>
          <p:spPr>
            <a:xfrm>
              <a:off x="3296627" y="6472035"/>
              <a:ext cx="4154369" cy="385965"/>
            </a:xfrm>
            <a:prstGeom prst="chevron">
              <a:avLst/>
            </a:prstGeom>
            <a:solidFill>
              <a:schemeClr val="accent1">
                <a:lumMod val="40000"/>
                <a:lumOff val="60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6" name="Arrow: Chevron 5">
              <a:extLst>
                <a:ext uri="{FF2B5EF4-FFF2-40B4-BE49-F238E27FC236}">
                  <a16:creationId xmlns:a16="http://schemas.microsoft.com/office/drawing/2014/main" id="{2DABBF5A-EE57-E287-A7C8-9D9ED018A1FA}"/>
                </a:ext>
              </a:extLst>
            </p:cNvPr>
            <p:cNvSpPr/>
            <p:nvPr/>
          </p:nvSpPr>
          <p:spPr>
            <a:xfrm>
              <a:off x="4944941" y="6472035"/>
              <a:ext cx="4154369" cy="385965"/>
            </a:xfrm>
            <a:prstGeom prst="chevron">
              <a:avLst/>
            </a:prstGeom>
            <a:solidFill>
              <a:schemeClr val="tx2">
                <a:lumMod val="40000"/>
                <a:lumOff val="60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 name="Arrow: Chevron 6">
              <a:extLst>
                <a:ext uri="{FF2B5EF4-FFF2-40B4-BE49-F238E27FC236}">
                  <a16:creationId xmlns:a16="http://schemas.microsoft.com/office/drawing/2014/main" id="{11250641-0684-F8BA-37BB-C618A1748D11}"/>
                </a:ext>
              </a:extLst>
            </p:cNvPr>
            <p:cNvSpPr/>
            <p:nvPr/>
          </p:nvSpPr>
          <p:spPr>
            <a:xfrm>
              <a:off x="6593255" y="6472035"/>
              <a:ext cx="4154369" cy="385965"/>
            </a:xfrm>
            <a:prstGeom prst="chevron">
              <a:avLst/>
            </a:prstGeom>
            <a:solidFill>
              <a:schemeClr val="bg1">
                <a:lumMod val="8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8" name="Arrow: Chevron 7">
              <a:extLst>
                <a:ext uri="{FF2B5EF4-FFF2-40B4-BE49-F238E27FC236}">
                  <a16:creationId xmlns:a16="http://schemas.microsoft.com/office/drawing/2014/main" id="{77A469CE-4747-55EA-DB65-906431287ED6}"/>
                </a:ext>
              </a:extLst>
            </p:cNvPr>
            <p:cNvSpPr/>
            <p:nvPr/>
          </p:nvSpPr>
          <p:spPr>
            <a:xfrm>
              <a:off x="8241570" y="6472035"/>
              <a:ext cx="3856645" cy="385965"/>
            </a:xfrm>
            <a:prstGeom prst="chevron">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Arrow: Chevron 8">
              <a:extLst>
                <a:ext uri="{FF2B5EF4-FFF2-40B4-BE49-F238E27FC236}">
                  <a16:creationId xmlns:a16="http://schemas.microsoft.com/office/drawing/2014/main" id="{FA01AECF-8542-27C3-6CB8-1444B012996C}"/>
                </a:ext>
              </a:extLst>
            </p:cNvPr>
            <p:cNvSpPr/>
            <p:nvPr/>
          </p:nvSpPr>
          <p:spPr>
            <a:xfrm>
              <a:off x="10007112" y="5181600"/>
              <a:ext cx="2173164" cy="1676400"/>
            </a:xfrm>
            <a:prstGeom prst="chevron">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grpSp>
      <p:grpSp>
        <p:nvGrpSpPr>
          <p:cNvPr id="12" name="Group 11">
            <a:extLst>
              <a:ext uri="{FF2B5EF4-FFF2-40B4-BE49-F238E27FC236}">
                <a16:creationId xmlns:a16="http://schemas.microsoft.com/office/drawing/2014/main" id="{C0EB53CC-DED4-6B4D-82C5-CBD8A9492FDC}"/>
              </a:ext>
            </a:extLst>
          </p:cNvPr>
          <p:cNvGrpSpPr/>
          <p:nvPr/>
        </p:nvGrpSpPr>
        <p:grpSpPr>
          <a:xfrm>
            <a:off x="0" y="141563"/>
            <a:ext cx="12192000" cy="6716437"/>
            <a:chOff x="-11723" y="153285"/>
            <a:chExt cx="12192000" cy="6716437"/>
          </a:xfrm>
        </p:grpSpPr>
        <p:pic>
          <p:nvPicPr>
            <p:cNvPr id="13" name="Picture 2">
              <a:extLst>
                <a:ext uri="{FF2B5EF4-FFF2-40B4-BE49-F238E27FC236}">
                  <a16:creationId xmlns:a16="http://schemas.microsoft.com/office/drawing/2014/main" id="{818B8C9C-C958-856D-BAF7-C70A81F19B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6868" y="153285"/>
              <a:ext cx="562843" cy="295242"/>
            </a:xfrm>
            <a:prstGeom prst="rect">
              <a:avLst/>
            </a:prstGeom>
            <a:noFill/>
            <a:extLst>
              <a:ext uri="{909E8E84-426E-40DD-AFC4-6F175D3DCCD1}">
                <a14:hiddenFill xmlns:a14="http://schemas.microsoft.com/office/drawing/2010/main">
                  <a:solidFill>
                    <a:srgbClr val="FFFFFF"/>
                  </a:solidFill>
                </a14:hiddenFill>
              </a:ext>
            </a:extLst>
          </p:spPr>
        </p:pic>
        <p:sp>
          <p:nvSpPr>
            <p:cNvPr id="14" name="Arrow: Pentagon 13">
              <a:extLst>
                <a:ext uri="{FF2B5EF4-FFF2-40B4-BE49-F238E27FC236}">
                  <a16:creationId xmlns:a16="http://schemas.microsoft.com/office/drawing/2014/main" id="{D7C3F4FC-5953-EA50-CF23-A598AECDEA8C}"/>
                </a:ext>
              </a:extLst>
            </p:cNvPr>
            <p:cNvSpPr/>
            <p:nvPr/>
          </p:nvSpPr>
          <p:spPr>
            <a:xfrm flipV="1">
              <a:off x="-11723" y="6517340"/>
              <a:ext cx="12192000" cy="352382"/>
            </a:xfrm>
            <a:prstGeom prst="homePlate">
              <a:avLst/>
            </a:prstGeom>
            <a:gradFill flip="none" rotWithShape="1">
              <a:gsLst>
                <a:gs pos="0">
                  <a:schemeClr val="accent1">
                    <a:lumMod val="0"/>
                    <a:lumOff val="100000"/>
                  </a:schemeClr>
                </a:gs>
                <a:gs pos="46000">
                  <a:schemeClr val="accent1">
                    <a:lumMod val="0"/>
                    <a:lumOff val="100000"/>
                  </a:schemeClr>
                </a:gs>
                <a:gs pos="100000">
                  <a:schemeClr val="accent1">
                    <a:lumMod val="100000"/>
                  </a:schemeClr>
                </a:gs>
              </a:gsLst>
              <a:path path="rect">
                <a:fillToRect l="100000" t="100000"/>
              </a:path>
              <a:tileRect r="-100000" b="-100000"/>
            </a:gra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pic>
        <p:nvPicPr>
          <p:cNvPr id="15" name="Picture 14">
            <a:extLst>
              <a:ext uri="{FF2B5EF4-FFF2-40B4-BE49-F238E27FC236}">
                <a16:creationId xmlns:a16="http://schemas.microsoft.com/office/drawing/2014/main" id="{1B4145E9-7F7E-A844-442F-0C0DD45B378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94132" y="87352"/>
            <a:ext cx="677800" cy="427309"/>
          </a:xfrm>
          <a:prstGeom prst="rect">
            <a:avLst/>
          </a:prstGeom>
        </p:spPr>
      </p:pic>
      <p:pic>
        <p:nvPicPr>
          <p:cNvPr id="16" name="Picture 15">
            <a:extLst>
              <a:ext uri="{FF2B5EF4-FFF2-40B4-BE49-F238E27FC236}">
                <a16:creationId xmlns:a16="http://schemas.microsoft.com/office/drawing/2014/main" id="{7A507078-E7E5-D183-2BD7-3A314458F84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80495" y="123670"/>
            <a:ext cx="777382" cy="330387"/>
          </a:xfrm>
          <a:prstGeom prst="rect">
            <a:avLst/>
          </a:prstGeom>
        </p:spPr>
      </p:pic>
      <p:grpSp>
        <p:nvGrpSpPr>
          <p:cNvPr id="2" name="Group 1">
            <a:extLst>
              <a:ext uri="{FF2B5EF4-FFF2-40B4-BE49-F238E27FC236}">
                <a16:creationId xmlns:a16="http://schemas.microsoft.com/office/drawing/2014/main" id="{C16CFED1-F22F-AC2B-B730-3348036B26C9}"/>
              </a:ext>
            </a:extLst>
          </p:cNvPr>
          <p:cNvGrpSpPr/>
          <p:nvPr/>
        </p:nvGrpSpPr>
        <p:grpSpPr>
          <a:xfrm>
            <a:off x="293356" y="1512441"/>
            <a:ext cx="4074500" cy="4942492"/>
            <a:chOff x="293355" y="1082842"/>
            <a:chExt cx="4074500" cy="4942492"/>
          </a:xfrm>
        </p:grpSpPr>
        <p:sp>
          <p:nvSpPr>
            <p:cNvPr id="31" name="TextBox 30">
              <a:extLst>
                <a:ext uri="{FF2B5EF4-FFF2-40B4-BE49-F238E27FC236}">
                  <a16:creationId xmlns:a16="http://schemas.microsoft.com/office/drawing/2014/main" id="{64C87D37-A3B6-4D98-F5A8-96A76F27DA1D}"/>
                </a:ext>
              </a:extLst>
            </p:cNvPr>
            <p:cNvSpPr txBox="1"/>
            <p:nvPr/>
          </p:nvSpPr>
          <p:spPr>
            <a:xfrm>
              <a:off x="1042736" y="1082842"/>
              <a:ext cx="2767263" cy="851083"/>
            </a:xfrm>
            <a:prstGeom prst="rect">
              <a:avLst/>
            </a:prstGeom>
            <a:noFill/>
          </p:spPr>
          <p:txBody>
            <a:bodyPr wrap="square" rtlCol="0">
              <a:spAutoFit/>
            </a:bodyPr>
            <a:lstStyle/>
            <a:p>
              <a:r>
                <a:rPr lang="en-GB" sz="4800" b="1" dirty="0"/>
                <a:t>Candidate</a:t>
              </a:r>
              <a:endParaRPr lang="en-ZA" sz="4800" b="1" dirty="0"/>
            </a:p>
          </p:txBody>
        </p:sp>
        <p:pic>
          <p:nvPicPr>
            <p:cNvPr id="33" name="Picture 32" descr="Text&#10;&#10;Description automatically generated">
              <a:extLst>
                <a:ext uri="{FF2B5EF4-FFF2-40B4-BE49-F238E27FC236}">
                  <a16:creationId xmlns:a16="http://schemas.microsoft.com/office/drawing/2014/main" id="{90AC7703-05B8-B5BA-B2A9-3E552E450A7E}"/>
                </a:ext>
              </a:extLst>
            </p:cNvPr>
            <p:cNvPicPr>
              <a:picLocks noChangeAspect="1"/>
            </p:cNvPicPr>
            <p:nvPr/>
          </p:nvPicPr>
          <p:blipFill rotWithShape="1">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rcRect l="1933" t="12287" r="3572"/>
            <a:stretch/>
          </p:blipFill>
          <p:spPr>
            <a:xfrm>
              <a:off x="293355" y="2125951"/>
              <a:ext cx="4074500" cy="2834787"/>
            </a:xfrm>
            <a:prstGeom prst="rect">
              <a:avLst/>
            </a:prstGeom>
          </p:spPr>
        </p:pic>
        <p:sp>
          <p:nvSpPr>
            <p:cNvPr id="34" name="TextBox 33">
              <a:extLst>
                <a:ext uri="{FF2B5EF4-FFF2-40B4-BE49-F238E27FC236}">
                  <a16:creationId xmlns:a16="http://schemas.microsoft.com/office/drawing/2014/main" id="{38B2E6F3-CC0F-2449-FFFC-A8E370BC4EC8}"/>
                </a:ext>
              </a:extLst>
            </p:cNvPr>
            <p:cNvSpPr txBox="1"/>
            <p:nvPr/>
          </p:nvSpPr>
          <p:spPr>
            <a:xfrm>
              <a:off x="1033996" y="4825005"/>
              <a:ext cx="3193908" cy="1200329"/>
            </a:xfrm>
            <a:prstGeom prst="rect">
              <a:avLst/>
            </a:prstGeom>
            <a:noFill/>
          </p:spPr>
          <p:txBody>
            <a:bodyPr wrap="square" rtlCol="0">
              <a:spAutoFit/>
            </a:bodyPr>
            <a:lstStyle/>
            <a:p>
              <a:r>
                <a:rPr lang="en-GB" sz="7200" b="1" dirty="0"/>
                <a:t>Matrix</a:t>
              </a:r>
              <a:endParaRPr lang="en-ZA" sz="7200" b="1" dirty="0"/>
            </a:p>
          </p:txBody>
        </p:sp>
      </p:grpSp>
      <p:sp>
        <p:nvSpPr>
          <p:cNvPr id="37" name="TextBox 36">
            <a:extLst>
              <a:ext uri="{FF2B5EF4-FFF2-40B4-BE49-F238E27FC236}">
                <a16:creationId xmlns:a16="http://schemas.microsoft.com/office/drawing/2014/main" id="{2FA473A8-7A3D-A37C-D38A-3F8FF491DD2F}"/>
              </a:ext>
            </a:extLst>
          </p:cNvPr>
          <p:cNvSpPr txBox="1"/>
          <p:nvPr/>
        </p:nvSpPr>
        <p:spPr>
          <a:xfrm>
            <a:off x="3229669" y="176107"/>
            <a:ext cx="7517955" cy="338554"/>
          </a:xfrm>
          <a:prstGeom prst="rect">
            <a:avLst/>
          </a:prstGeom>
          <a:noFill/>
        </p:spPr>
        <p:txBody>
          <a:bodyPr wrap="square">
            <a:spAutoFit/>
          </a:bodyPr>
          <a:lstStyle/>
          <a:p>
            <a:r>
              <a:rPr lang="en-GB" sz="1600" dirty="0"/>
              <a:t>The core of the search engine is specific skills selected in section 3, ICT Skills &amp; Interests</a:t>
            </a:r>
          </a:p>
        </p:txBody>
      </p:sp>
    </p:spTree>
    <p:extLst>
      <p:ext uri="{BB962C8B-B14F-4D97-AF65-F5344CB8AC3E}">
        <p14:creationId xmlns:p14="http://schemas.microsoft.com/office/powerpoint/2010/main" val="3077520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250"/>
                                  </p:stCondLst>
                                  <p:childTnLst>
                                    <p:set>
                                      <p:cBhvr>
                                        <p:cTn id="6" dur="1" fill="hold">
                                          <p:stCondLst>
                                            <p:cond delay="0"/>
                                          </p:stCondLst>
                                        </p:cTn>
                                        <p:tgtEl>
                                          <p:spTgt spid="37"/>
                                        </p:tgtEl>
                                        <p:attrNameLst>
                                          <p:attrName>style.visibility</p:attrName>
                                        </p:attrNameLst>
                                      </p:cBhvr>
                                      <p:to>
                                        <p:strVal val="visible"/>
                                      </p:to>
                                    </p:set>
                                  </p:childTnLst>
                                </p:cTn>
                              </p:par>
                              <p:par>
                                <p:cTn id="7" presetID="22" presetClass="entr" presetSubtype="4" fill="hold" nodeType="withEffect">
                                  <p:stCondLst>
                                    <p:cond delay="250"/>
                                  </p:stCondLst>
                                  <p:childTnLst>
                                    <p:set>
                                      <p:cBhvr>
                                        <p:cTn id="8" dur="1" fill="hold">
                                          <p:stCondLst>
                                            <p:cond delay="0"/>
                                          </p:stCondLst>
                                        </p:cTn>
                                        <p:tgtEl>
                                          <p:spTgt spid="2"/>
                                        </p:tgtEl>
                                        <p:attrNameLst>
                                          <p:attrName>style.visibility</p:attrName>
                                        </p:attrNameLst>
                                      </p:cBhvr>
                                      <p:to>
                                        <p:strVal val="visible"/>
                                      </p:to>
                                    </p:set>
                                    <p:animEffect transition="in" filter="wipe(down)">
                                      <p:cBhvr>
                                        <p:cTn id="9" dur="500"/>
                                        <p:tgtEl>
                                          <p:spTgt spid="2"/>
                                        </p:tgtEl>
                                      </p:cBhvr>
                                    </p:animEffect>
                                  </p:childTnLst>
                                </p:cTn>
                              </p:par>
                            </p:childTnLst>
                          </p:cTn>
                        </p:par>
                        <p:par>
                          <p:cTn id="10" fill="hold">
                            <p:stCondLst>
                              <p:cond delay="750"/>
                            </p:stCondLst>
                            <p:childTnLst>
                              <p:par>
                                <p:cTn id="11" presetID="2" presetClass="entr" presetSubtype="4" fill="hold" nodeType="after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fill="hold"/>
                                        <p:tgtEl>
                                          <p:spTgt spid="17"/>
                                        </p:tgtEl>
                                        <p:attrNameLst>
                                          <p:attrName>ppt_x</p:attrName>
                                        </p:attrNameLst>
                                      </p:cBhvr>
                                      <p:tavLst>
                                        <p:tav tm="0">
                                          <p:val>
                                            <p:strVal val="#ppt_x"/>
                                          </p:val>
                                        </p:tav>
                                        <p:tav tm="100000">
                                          <p:val>
                                            <p:strVal val="#ppt_x"/>
                                          </p:val>
                                        </p:tav>
                                      </p:tavLst>
                                    </p:anim>
                                    <p:anim calcmode="lin" valueType="num">
                                      <p:cBhvr additive="base">
                                        <p:cTn id="1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09A05AA-3899-2821-059E-1E76C3B1E5BA}"/>
              </a:ext>
            </a:extLst>
          </p:cNvPr>
          <p:cNvPicPr>
            <a:picLocks noChangeAspect="1"/>
          </p:cNvPicPr>
          <p:nvPr/>
        </p:nvPicPr>
        <p:blipFill>
          <a:blip r:embed="rId2"/>
          <a:stretch>
            <a:fillRect/>
          </a:stretch>
        </p:blipFill>
        <p:spPr>
          <a:xfrm>
            <a:off x="6002464" y="54738"/>
            <a:ext cx="5725507" cy="6393933"/>
          </a:xfrm>
          <a:prstGeom prst="rect">
            <a:avLst/>
          </a:prstGeom>
        </p:spPr>
      </p:pic>
      <p:grpSp>
        <p:nvGrpSpPr>
          <p:cNvPr id="10" name="Group 9">
            <a:extLst>
              <a:ext uri="{FF2B5EF4-FFF2-40B4-BE49-F238E27FC236}">
                <a16:creationId xmlns:a16="http://schemas.microsoft.com/office/drawing/2014/main" id="{DB65464F-05C0-37D3-FF16-F06B7AC049DC}"/>
              </a:ext>
            </a:extLst>
          </p:cNvPr>
          <p:cNvGrpSpPr/>
          <p:nvPr/>
        </p:nvGrpSpPr>
        <p:grpSpPr>
          <a:xfrm>
            <a:off x="-1" y="5767754"/>
            <a:ext cx="12180277" cy="1090246"/>
            <a:chOff x="-1" y="5181600"/>
            <a:chExt cx="12180277" cy="1676400"/>
          </a:xfrm>
        </p:grpSpPr>
        <p:sp>
          <p:nvSpPr>
            <p:cNvPr id="3" name="Arrow: Chevron 2">
              <a:extLst>
                <a:ext uri="{FF2B5EF4-FFF2-40B4-BE49-F238E27FC236}">
                  <a16:creationId xmlns:a16="http://schemas.microsoft.com/office/drawing/2014/main" id="{FD04F38B-62CA-B27A-4EAE-B77ABB408D0A}"/>
                </a:ext>
              </a:extLst>
            </p:cNvPr>
            <p:cNvSpPr/>
            <p:nvPr/>
          </p:nvSpPr>
          <p:spPr>
            <a:xfrm>
              <a:off x="-1" y="6472035"/>
              <a:ext cx="4154369" cy="385965"/>
            </a:xfrm>
            <a:prstGeom prst="chevron">
              <a:avLst/>
            </a:prstGeom>
            <a:solidFill>
              <a:srgbClr val="3E6DC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 name="Arrow: Chevron 3">
              <a:extLst>
                <a:ext uri="{FF2B5EF4-FFF2-40B4-BE49-F238E27FC236}">
                  <a16:creationId xmlns:a16="http://schemas.microsoft.com/office/drawing/2014/main" id="{677D1AEE-7688-1AAB-4370-D1BAEC0A32BD}"/>
                </a:ext>
              </a:extLst>
            </p:cNvPr>
            <p:cNvSpPr/>
            <p:nvPr/>
          </p:nvSpPr>
          <p:spPr>
            <a:xfrm>
              <a:off x="1648313" y="6472035"/>
              <a:ext cx="4154369" cy="385965"/>
            </a:xfrm>
            <a:prstGeom prst="chevron">
              <a:avLst/>
            </a:prstGeom>
            <a:solidFill>
              <a:schemeClr val="accent1">
                <a:lumMod val="60000"/>
                <a:lumOff val="40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5" name="Arrow: Chevron 4">
              <a:extLst>
                <a:ext uri="{FF2B5EF4-FFF2-40B4-BE49-F238E27FC236}">
                  <a16:creationId xmlns:a16="http://schemas.microsoft.com/office/drawing/2014/main" id="{B34A0FF0-7DC0-7575-26F3-01ECEED841D5}"/>
                </a:ext>
              </a:extLst>
            </p:cNvPr>
            <p:cNvSpPr/>
            <p:nvPr/>
          </p:nvSpPr>
          <p:spPr>
            <a:xfrm>
              <a:off x="3296627" y="6472035"/>
              <a:ext cx="4154369" cy="385965"/>
            </a:xfrm>
            <a:prstGeom prst="chevron">
              <a:avLst/>
            </a:prstGeom>
            <a:solidFill>
              <a:schemeClr val="accent1">
                <a:lumMod val="40000"/>
                <a:lumOff val="60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6" name="Arrow: Chevron 5">
              <a:extLst>
                <a:ext uri="{FF2B5EF4-FFF2-40B4-BE49-F238E27FC236}">
                  <a16:creationId xmlns:a16="http://schemas.microsoft.com/office/drawing/2014/main" id="{2DABBF5A-EE57-E287-A7C8-9D9ED018A1FA}"/>
                </a:ext>
              </a:extLst>
            </p:cNvPr>
            <p:cNvSpPr/>
            <p:nvPr/>
          </p:nvSpPr>
          <p:spPr>
            <a:xfrm>
              <a:off x="4944941" y="6472035"/>
              <a:ext cx="4154369" cy="385965"/>
            </a:xfrm>
            <a:prstGeom prst="chevron">
              <a:avLst/>
            </a:prstGeom>
            <a:solidFill>
              <a:schemeClr val="tx2">
                <a:lumMod val="40000"/>
                <a:lumOff val="60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 name="Arrow: Chevron 6">
              <a:extLst>
                <a:ext uri="{FF2B5EF4-FFF2-40B4-BE49-F238E27FC236}">
                  <a16:creationId xmlns:a16="http://schemas.microsoft.com/office/drawing/2014/main" id="{11250641-0684-F8BA-37BB-C618A1748D11}"/>
                </a:ext>
              </a:extLst>
            </p:cNvPr>
            <p:cNvSpPr/>
            <p:nvPr/>
          </p:nvSpPr>
          <p:spPr>
            <a:xfrm>
              <a:off x="6593255" y="6472035"/>
              <a:ext cx="4154369" cy="385965"/>
            </a:xfrm>
            <a:prstGeom prst="chevron">
              <a:avLst/>
            </a:prstGeom>
            <a:solidFill>
              <a:schemeClr val="bg1">
                <a:lumMod val="8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8" name="Arrow: Chevron 7">
              <a:extLst>
                <a:ext uri="{FF2B5EF4-FFF2-40B4-BE49-F238E27FC236}">
                  <a16:creationId xmlns:a16="http://schemas.microsoft.com/office/drawing/2014/main" id="{77A469CE-4747-55EA-DB65-906431287ED6}"/>
                </a:ext>
              </a:extLst>
            </p:cNvPr>
            <p:cNvSpPr/>
            <p:nvPr/>
          </p:nvSpPr>
          <p:spPr>
            <a:xfrm>
              <a:off x="8241570" y="6472035"/>
              <a:ext cx="3856645" cy="385965"/>
            </a:xfrm>
            <a:prstGeom prst="chevron">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Arrow: Chevron 8">
              <a:extLst>
                <a:ext uri="{FF2B5EF4-FFF2-40B4-BE49-F238E27FC236}">
                  <a16:creationId xmlns:a16="http://schemas.microsoft.com/office/drawing/2014/main" id="{FA01AECF-8542-27C3-6CB8-1444B012996C}"/>
                </a:ext>
              </a:extLst>
            </p:cNvPr>
            <p:cNvSpPr/>
            <p:nvPr/>
          </p:nvSpPr>
          <p:spPr>
            <a:xfrm>
              <a:off x="10007112" y="5181600"/>
              <a:ext cx="2173164" cy="1676400"/>
            </a:xfrm>
            <a:prstGeom prst="chevron">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grpSp>
      <p:grpSp>
        <p:nvGrpSpPr>
          <p:cNvPr id="12" name="Group 11">
            <a:extLst>
              <a:ext uri="{FF2B5EF4-FFF2-40B4-BE49-F238E27FC236}">
                <a16:creationId xmlns:a16="http://schemas.microsoft.com/office/drawing/2014/main" id="{C0EB53CC-DED4-6B4D-82C5-CBD8A9492FDC}"/>
              </a:ext>
            </a:extLst>
          </p:cNvPr>
          <p:cNvGrpSpPr/>
          <p:nvPr/>
        </p:nvGrpSpPr>
        <p:grpSpPr>
          <a:xfrm>
            <a:off x="0" y="141563"/>
            <a:ext cx="12192000" cy="6716437"/>
            <a:chOff x="-11723" y="153285"/>
            <a:chExt cx="12192000" cy="6716437"/>
          </a:xfrm>
        </p:grpSpPr>
        <p:pic>
          <p:nvPicPr>
            <p:cNvPr id="13" name="Picture 2">
              <a:extLst>
                <a:ext uri="{FF2B5EF4-FFF2-40B4-BE49-F238E27FC236}">
                  <a16:creationId xmlns:a16="http://schemas.microsoft.com/office/drawing/2014/main" id="{818B8C9C-C958-856D-BAF7-C70A81F19B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6868" y="153285"/>
              <a:ext cx="562843" cy="295242"/>
            </a:xfrm>
            <a:prstGeom prst="rect">
              <a:avLst/>
            </a:prstGeom>
            <a:noFill/>
            <a:extLst>
              <a:ext uri="{909E8E84-426E-40DD-AFC4-6F175D3DCCD1}">
                <a14:hiddenFill xmlns:a14="http://schemas.microsoft.com/office/drawing/2010/main">
                  <a:solidFill>
                    <a:srgbClr val="FFFFFF"/>
                  </a:solidFill>
                </a14:hiddenFill>
              </a:ext>
            </a:extLst>
          </p:spPr>
        </p:pic>
        <p:sp>
          <p:nvSpPr>
            <p:cNvPr id="14" name="Arrow: Pentagon 13">
              <a:extLst>
                <a:ext uri="{FF2B5EF4-FFF2-40B4-BE49-F238E27FC236}">
                  <a16:creationId xmlns:a16="http://schemas.microsoft.com/office/drawing/2014/main" id="{D7C3F4FC-5953-EA50-CF23-A598AECDEA8C}"/>
                </a:ext>
              </a:extLst>
            </p:cNvPr>
            <p:cNvSpPr/>
            <p:nvPr/>
          </p:nvSpPr>
          <p:spPr>
            <a:xfrm flipV="1">
              <a:off x="-11723" y="6517340"/>
              <a:ext cx="12192000" cy="352382"/>
            </a:xfrm>
            <a:prstGeom prst="homePlate">
              <a:avLst/>
            </a:prstGeom>
            <a:gradFill flip="none" rotWithShape="1">
              <a:gsLst>
                <a:gs pos="0">
                  <a:schemeClr val="accent1">
                    <a:lumMod val="0"/>
                    <a:lumOff val="100000"/>
                  </a:schemeClr>
                </a:gs>
                <a:gs pos="46000">
                  <a:schemeClr val="accent1">
                    <a:lumMod val="0"/>
                    <a:lumOff val="100000"/>
                  </a:schemeClr>
                </a:gs>
                <a:gs pos="100000">
                  <a:schemeClr val="accent1">
                    <a:lumMod val="100000"/>
                  </a:schemeClr>
                </a:gs>
              </a:gsLst>
              <a:path path="rect">
                <a:fillToRect l="100000" t="100000"/>
              </a:path>
              <a:tileRect r="-100000" b="-100000"/>
            </a:gra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pic>
        <p:nvPicPr>
          <p:cNvPr id="15" name="Picture 14">
            <a:extLst>
              <a:ext uri="{FF2B5EF4-FFF2-40B4-BE49-F238E27FC236}">
                <a16:creationId xmlns:a16="http://schemas.microsoft.com/office/drawing/2014/main" id="{1B4145E9-7F7E-A844-442F-0C0DD45B378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94132" y="87352"/>
            <a:ext cx="677800" cy="427309"/>
          </a:xfrm>
          <a:prstGeom prst="rect">
            <a:avLst/>
          </a:prstGeom>
        </p:spPr>
      </p:pic>
      <p:pic>
        <p:nvPicPr>
          <p:cNvPr id="16" name="Picture 15">
            <a:extLst>
              <a:ext uri="{FF2B5EF4-FFF2-40B4-BE49-F238E27FC236}">
                <a16:creationId xmlns:a16="http://schemas.microsoft.com/office/drawing/2014/main" id="{7A507078-E7E5-D183-2BD7-3A314458F84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80495" y="123670"/>
            <a:ext cx="777382" cy="330387"/>
          </a:xfrm>
          <a:prstGeom prst="rect">
            <a:avLst/>
          </a:prstGeom>
        </p:spPr>
      </p:pic>
      <p:sp>
        <p:nvSpPr>
          <p:cNvPr id="18" name="TextBox 17">
            <a:extLst>
              <a:ext uri="{FF2B5EF4-FFF2-40B4-BE49-F238E27FC236}">
                <a16:creationId xmlns:a16="http://schemas.microsoft.com/office/drawing/2014/main" id="{18F3541A-32F9-99F1-41C3-73BEE622E00A}"/>
              </a:ext>
            </a:extLst>
          </p:cNvPr>
          <p:cNvSpPr txBox="1"/>
          <p:nvPr/>
        </p:nvSpPr>
        <p:spPr>
          <a:xfrm>
            <a:off x="464029" y="638701"/>
            <a:ext cx="3978229" cy="3693319"/>
          </a:xfrm>
          <a:prstGeom prst="rect">
            <a:avLst/>
          </a:prstGeom>
          <a:noFill/>
        </p:spPr>
        <p:txBody>
          <a:bodyPr wrap="square" rtlCol="0">
            <a:spAutoFit/>
          </a:bodyPr>
          <a:lstStyle/>
          <a:p>
            <a:r>
              <a:rPr lang="en-GB" b="1" dirty="0"/>
              <a:t>A few skill category examples:</a:t>
            </a:r>
          </a:p>
          <a:p>
            <a:endParaRPr lang="en-GB" dirty="0"/>
          </a:p>
          <a:p>
            <a:r>
              <a:rPr lang="en-GB" dirty="0"/>
              <a:t>Types of: </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Accounting packages</a:t>
            </a:r>
          </a:p>
          <a:p>
            <a:pPr marL="285750" indent="-285750">
              <a:buFont typeface="Arial" panose="020B0604020202020204" pitchFamily="34" charset="0"/>
              <a:buChar char="•"/>
            </a:pPr>
            <a:r>
              <a:rPr lang="en-GB" dirty="0"/>
              <a:t>Office productivity packages</a:t>
            </a:r>
          </a:p>
          <a:p>
            <a:pPr marL="285750" indent="-285750">
              <a:buFont typeface="Arial" panose="020B0604020202020204" pitchFamily="34" charset="0"/>
              <a:buChar char="•"/>
            </a:pPr>
            <a:r>
              <a:rPr lang="en-GB" dirty="0"/>
              <a:t>Operating systems</a:t>
            </a:r>
          </a:p>
          <a:p>
            <a:pPr marL="285750" indent="-285750">
              <a:buFont typeface="Arial" panose="020B0604020202020204" pitchFamily="34" charset="0"/>
              <a:buChar char="•"/>
            </a:pPr>
            <a:r>
              <a:rPr lang="en-GB" dirty="0"/>
              <a:t>Databases</a:t>
            </a:r>
          </a:p>
          <a:p>
            <a:pPr marL="285750" indent="-285750">
              <a:buFont typeface="Arial" panose="020B0604020202020204" pitchFamily="34" charset="0"/>
              <a:buChar char="•"/>
            </a:pPr>
            <a:r>
              <a:rPr lang="en-ZA" dirty="0"/>
              <a:t>Programming languages</a:t>
            </a:r>
          </a:p>
          <a:p>
            <a:pPr marL="285750" indent="-285750">
              <a:buFont typeface="Arial" panose="020B0604020202020204" pitchFamily="34" charset="0"/>
              <a:buChar char="•"/>
            </a:pPr>
            <a:r>
              <a:rPr lang="en-ZA" dirty="0"/>
              <a:t>Servers (Data Centre hardware)</a:t>
            </a:r>
          </a:p>
          <a:p>
            <a:pPr marL="285750" indent="-285750">
              <a:buFont typeface="Arial" panose="020B0604020202020204" pitchFamily="34" charset="0"/>
              <a:buChar char="•"/>
            </a:pPr>
            <a:r>
              <a:rPr lang="en-ZA" dirty="0"/>
              <a:t>Networking</a:t>
            </a:r>
          </a:p>
          <a:p>
            <a:pPr marL="285750" indent="-285750">
              <a:buFont typeface="Arial" panose="020B0604020202020204" pitchFamily="34" charset="0"/>
              <a:buChar char="•"/>
            </a:pPr>
            <a:r>
              <a:rPr lang="en-ZA" dirty="0"/>
              <a:t>S</a:t>
            </a:r>
            <a:r>
              <a:rPr lang="en-GB" dirty="0" err="1"/>
              <a:t>ocial</a:t>
            </a:r>
            <a:r>
              <a:rPr lang="en-GB" dirty="0"/>
              <a:t> Media and Marketing </a:t>
            </a:r>
          </a:p>
          <a:p>
            <a:pPr marL="285750" indent="-285750">
              <a:buFont typeface="Arial" panose="020B0604020202020204" pitchFamily="34" charset="0"/>
              <a:buChar char="•"/>
            </a:pPr>
            <a:r>
              <a:rPr lang="en-GB" dirty="0"/>
              <a:t>Etc., etc..</a:t>
            </a:r>
          </a:p>
        </p:txBody>
      </p:sp>
      <p:sp>
        <p:nvSpPr>
          <p:cNvPr id="20" name="TextBox 19">
            <a:extLst>
              <a:ext uri="{FF2B5EF4-FFF2-40B4-BE49-F238E27FC236}">
                <a16:creationId xmlns:a16="http://schemas.microsoft.com/office/drawing/2014/main" id="{11688F66-2DFF-0B1D-3A83-4FDBC9D6E421}"/>
              </a:ext>
            </a:extLst>
          </p:cNvPr>
          <p:cNvSpPr txBox="1"/>
          <p:nvPr/>
        </p:nvSpPr>
        <p:spPr>
          <a:xfrm>
            <a:off x="0" y="4366595"/>
            <a:ext cx="6116052" cy="1077218"/>
          </a:xfrm>
          <a:prstGeom prst="rect">
            <a:avLst/>
          </a:prstGeom>
          <a:noFill/>
        </p:spPr>
        <p:txBody>
          <a:bodyPr wrap="square">
            <a:spAutoFit/>
          </a:bodyPr>
          <a:lstStyle/>
          <a:p>
            <a:r>
              <a:rPr lang="en-GB" sz="1600" i="1" dirty="0"/>
              <a:t>(Certain specific applications or skillsets are duplicated in different categories. The more conscientious applicants will benefit by selecting, e.g., Bootstrap under both Frameworks and Web design; as the search engine ranks repeated keywords higher.)</a:t>
            </a:r>
          </a:p>
        </p:txBody>
      </p:sp>
      <p:sp>
        <p:nvSpPr>
          <p:cNvPr id="22" name="TextBox 21">
            <a:extLst>
              <a:ext uri="{FF2B5EF4-FFF2-40B4-BE49-F238E27FC236}">
                <a16:creationId xmlns:a16="http://schemas.microsoft.com/office/drawing/2014/main" id="{57B82CDC-E24D-59B2-E249-1E1572232CE6}"/>
              </a:ext>
            </a:extLst>
          </p:cNvPr>
          <p:cNvSpPr txBox="1"/>
          <p:nvPr/>
        </p:nvSpPr>
        <p:spPr>
          <a:xfrm>
            <a:off x="-6016" y="5594253"/>
            <a:ext cx="6128084" cy="646331"/>
          </a:xfrm>
          <a:prstGeom prst="rect">
            <a:avLst/>
          </a:prstGeom>
          <a:noFill/>
        </p:spPr>
        <p:txBody>
          <a:bodyPr wrap="square">
            <a:spAutoFit/>
          </a:bodyPr>
          <a:lstStyle/>
          <a:p>
            <a:r>
              <a:rPr lang="en-GB" dirty="0"/>
              <a:t>The candidate rates their experience in each selected category…</a:t>
            </a:r>
          </a:p>
        </p:txBody>
      </p:sp>
      <p:sp>
        <p:nvSpPr>
          <p:cNvPr id="26" name="Arrow: Right 25">
            <a:extLst>
              <a:ext uri="{FF2B5EF4-FFF2-40B4-BE49-F238E27FC236}">
                <a16:creationId xmlns:a16="http://schemas.microsoft.com/office/drawing/2014/main" id="{1D9E12B0-59C0-4B8A-1FA7-006B03FEB868}"/>
              </a:ext>
            </a:extLst>
          </p:cNvPr>
          <p:cNvSpPr/>
          <p:nvPr/>
        </p:nvSpPr>
        <p:spPr>
          <a:xfrm>
            <a:off x="5236142" y="5797479"/>
            <a:ext cx="755584" cy="21029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30" name="Callout: Line 29">
            <a:extLst>
              <a:ext uri="{FF2B5EF4-FFF2-40B4-BE49-F238E27FC236}">
                <a16:creationId xmlns:a16="http://schemas.microsoft.com/office/drawing/2014/main" id="{6A379AEA-9E8D-2C9B-67BD-2706BF4B1192}"/>
              </a:ext>
            </a:extLst>
          </p:cNvPr>
          <p:cNvSpPr/>
          <p:nvPr/>
        </p:nvSpPr>
        <p:spPr>
          <a:xfrm>
            <a:off x="8486270" y="5736688"/>
            <a:ext cx="1965162" cy="768930"/>
          </a:xfrm>
          <a:prstGeom prst="borderCallout1">
            <a:avLst>
              <a:gd name="adj1" fmla="val 46022"/>
              <a:gd name="adj2" fmla="val 485"/>
              <a:gd name="adj3" fmla="val 71071"/>
              <a:gd name="adj4" fmla="val -3596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1600" dirty="0"/>
              <a:t>And submits the application for moderation</a:t>
            </a:r>
          </a:p>
        </p:txBody>
      </p:sp>
    </p:spTree>
    <p:extLst>
      <p:ext uri="{BB962C8B-B14F-4D97-AF65-F5344CB8AC3E}">
        <p14:creationId xmlns:p14="http://schemas.microsoft.com/office/powerpoint/2010/main" val="2432747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par>
                          <p:cTn id="7" fill="hold">
                            <p:stCondLst>
                              <p:cond delay="0"/>
                            </p:stCondLst>
                            <p:childTnLst>
                              <p:par>
                                <p:cTn id="8" presetID="42" presetClass="entr" presetSubtype="0" fill="hold" grpId="0" nodeType="after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1000"/>
                                        <p:tgtEl>
                                          <p:spTgt spid="20"/>
                                        </p:tgtEl>
                                      </p:cBhvr>
                                    </p:animEffect>
                                    <p:anim calcmode="lin" valueType="num">
                                      <p:cBhvr>
                                        <p:cTn id="11" dur="1000" fill="hold"/>
                                        <p:tgtEl>
                                          <p:spTgt spid="20"/>
                                        </p:tgtEl>
                                        <p:attrNameLst>
                                          <p:attrName>ppt_x</p:attrName>
                                        </p:attrNameLst>
                                      </p:cBhvr>
                                      <p:tavLst>
                                        <p:tav tm="0">
                                          <p:val>
                                            <p:strVal val="#ppt_x"/>
                                          </p:val>
                                        </p:tav>
                                        <p:tav tm="100000">
                                          <p:val>
                                            <p:strVal val="#ppt_x"/>
                                          </p:val>
                                        </p:tav>
                                      </p:tavLst>
                                    </p:anim>
                                    <p:anim calcmode="lin" valueType="num">
                                      <p:cBhvr>
                                        <p:cTn id="12" dur="1000" fill="hold"/>
                                        <p:tgtEl>
                                          <p:spTgt spid="20"/>
                                        </p:tgtEl>
                                        <p:attrNameLst>
                                          <p:attrName>ppt_y</p:attrName>
                                        </p:attrNameLst>
                                      </p:cBhvr>
                                      <p:tavLst>
                                        <p:tav tm="0">
                                          <p:val>
                                            <p:strVal val="#ppt_y+.1"/>
                                          </p:val>
                                        </p:tav>
                                        <p:tav tm="100000">
                                          <p:val>
                                            <p:strVal val="#ppt_y"/>
                                          </p:val>
                                        </p:tav>
                                      </p:tavLst>
                                    </p:anim>
                                  </p:childTnLst>
                                </p:cTn>
                              </p:par>
                            </p:childTnLst>
                          </p:cTn>
                        </p:par>
                        <p:par>
                          <p:cTn id="13" fill="hold">
                            <p:stCondLst>
                              <p:cond delay="1000"/>
                            </p:stCondLst>
                            <p:childTnLst>
                              <p:par>
                                <p:cTn id="14" presetID="25" presetClass="entr" presetSubtype="0" fill="hold" nodeType="afterEffect">
                                  <p:stCondLst>
                                    <p:cond delay="250"/>
                                  </p:stCondLst>
                                  <p:childTnLst>
                                    <p:set>
                                      <p:cBhvr>
                                        <p:cTn id="15" dur="1" fill="hold">
                                          <p:stCondLst>
                                            <p:cond delay="0"/>
                                          </p:stCondLst>
                                        </p:cTn>
                                        <p:tgtEl>
                                          <p:spTgt spid="2"/>
                                        </p:tgtEl>
                                        <p:attrNameLst>
                                          <p:attrName>style.visibility</p:attrName>
                                        </p:attrNameLst>
                                      </p:cBhvr>
                                      <p:to>
                                        <p:strVal val="visible"/>
                                      </p:to>
                                    </p:set>
                                    <p:anim calcmode="lin" valueType="num">
                                      <p:cBhvr>
                                        <p:cTn id="16"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17"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18"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9" dur="1000" fill="hold"/>
                                        <p:tgtEl>
                                          <p:spTgt spid="2"/>
                                        </p:tgtEl>
                                        <p:attrNameLst>
                                          <p:attrName>ppt_h</p:attrName>
                                        </p:attrNameLst>
                                      </p:cBhvr>
                                      <p:tavLst>
                                        <p:tav tm="0">
                                          <p:val>
                                            <p:strVal val="#ppt_h"/>
                                          </p:val>
                                        </p:tav>
                                        <p:tav tm="100000">
                                          <p:val>
                                            <p:strVal val="#ppt_h"/>
                                          </p:val>
                                        </p:tav>
                                      </p:tavLst>
                                    </p:anim>
                                    <p:anim calcmode="lin" valueType="num">
                                      <p:cBhvr>
                                        <p:cTn id="20"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21"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22"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23" dur="1000" decel="50000">
                                          <p:stCondLst>
                                            <p:cond delay="0"/>
                                          </p:stCondLst>
                                        </p:cTn>
                                        <p:tgtEl>
                                          <p:spTgt spid="2"/>
                                        </p:tgtEl>
                                      </p:cBhvr>
                                    </p:animEffect>
                                  </p:childTnLst>
                                </p:cTn>
                              </p:par>
                            </p:childTnLst>
                          </p:cTn>
                        </p:par>
                        <p:par>
                          <p:cTn id="24" fill="hold">
                            <p:stCondLst>
                              <p:cond delay="2250"/>
                            </p:stCondLst>
                            <p:childTnLst>
                              <p:par>
                                <p:cTn id="25" presetID="2" presetClass="entr" presetSubtype="4" fill="hold" grpId="0" nodeType="afterEffect">
                                  <p:stCondLst>
                                    <p:cond delay="0"/>
                                  </p:stCondLst>
                                  <p:childTnLst>
                                    <p:set>
                                      <p:cBhvr>
                                        <p:cTn id="26" dur="1" fill="hold">
                                          <p:stCondLst>
                                            <p:cond delay="0"/>
                                          </p:stCondLst>
                                        </p:cTn>
                                        <p:tgtEl>
                                          <p:spTgt spid="22"/>
                                        </p:tgtEl>
                                        <p:attrNameLst>
                                          <p:attrName>style.visibility</p:attrName>
                                        </p:attrNameLst>
                                      </p:cBhvr>
                                      <p:to>
                                        <p:strVal val="visible"/>
                                      </p:to>
                                    </p:set>
                                    <p:anim calcmode="lin" valueType="num">
                                      <p:cBhvr additive="base">
                                        <p:cTn id="27" dur="500" fill="hold"/>
                                        <p:tgtEl>
                                          <p:spTgt spid="22"/>
                                        </p:tgtEl>
                                        <p:attrNameLst>
                                          <p:attrName>ppt_x</p:attrName>
                                        </p:attrNameLst>
                                      </p:cBhvr>
                                      <p:tavLst>
                                        <p:tav tm="0">
                                          <p:val>
                                            <p:strVal val="#ppt_x"/>
                                          </p:val>
                                        </p:tav>
                                        <p:tav tm="100000">
                                          <p:val>
                                            <p:strVal val="#ppt_x"/>
                                          </p:val>
                                        </p:tav>
                                      </p:tavLst>
                                    </p:anim>
                                    <p:anim calcmode="lin" valueType="num">
                                      <p:cBhvr additive="base">
                                        <p:cTn id="28" dur="500" fill="hold"/>
                                        <p:tgtEl>
                                          <p:spTgt spid="22"/>
                                        </p:tgtEl>
                                        <p:attrNameLst>
                                          <p:attrName>ppt_y</p:attrName>
                                        </p:attrNameLst>
                                      </p:cBhvr>
                                      <p:tavLst>
                                        <p:tav tm="0">
                                          <p:val>
                                            <p:strVal val="1+#ppt_h/2"/>
                                          </p:val>
                                        </p:tav>
                                        <p:tav tm="100000">
                                          <p:val>
                                            <p:strVal val="#ppt_y"/>
                                          </p:val>
                                        </p:tav>
                                      </p:tavLst>
                                    </p:anim>
                                  </p:childTnLst>
                                </p:cTn>
                              </p:par>
                            </p:childTnLst>
                          </p:cTn>
                        </p:par>
                        <p:par>
                          <p:cTn id="29" fill="hold">
                            <p:stCondLst>
                              <p:cond delay="2750"/>
                            </p:stCondLst>
                            <p:childTnLst>
                              <p:par>
                                <p:cTn id="30" presetID="2" presetClass="entr" presetSubtype="8" fill="hold" grpId="0" nodeType="afterEffect">
                                  <p:stCondLst>
                                    <p:cond delay="0"/>
                                  </p:stCondLst>
                                  <p:childTnLst>
                                    <p:set>
                                      <p:cBhvr>
                                        <p:cTn id="31" dur="1" fill="hold">
                                          <p:stCondLst>
                                            <p:cond delay="0"/>
                                          </p:stCondLst>
                                        </p:cTn>
                                        <p:tgtEl>
                                          <p:spTgt spid="26"/>
                                        </p:tgtEl>
                                        <p:attrNameLst>
                                          <p:attrName>style.visibility</p:attrName>
                                        </p:attrNameLst>
                                      </p:cBhvr>
                                      <p:to>
                                        <p:strVal val="visible"/>
                                      </p:to>
                                    </p:set>
                                    <p:anim calcmode="lin" valueType="num">
                                      <p:cBhvr additive="base">
                                        <p:cTn id="32" dur="500" fill="hold"/>
                                        <p:tgtEl>
                                          <p:spTgt spid="26"/>
                                        </p:tgtEl>
                                        <p:attrNameLst>
                                          <p:attrName>ppt_x</p:attrName>
                                        </p:attrNameLst>
                                      </p:cBhvr>
                                      <p:tavLst>
                                        <p:tav tm="0">
                                          <p:val>
                                            <p:strVal val="0-#ppt_w/2"/>
                                          </p:val>
                                        </p:tav>
                                        <p:tav tm="100000">
                                          <p:val>
                                            <p:strVal val="#ppt_x"/>
                                          </p:val>
                                        </p:tav>
                                      </p:tavLst>
                                    </p:anim>
                                    <p:anim calcmode="lin" valueType="num">
                                      <p:cBhvr additive="base">
                                        <p:cTn id="33" dur="500" fill="hold"/>
                                        <p:tgtEl>
                                          <p:spTgt spid="26"/>
                                        </p:tgtEl>
                                        <p:attrNameLst>
                                          <p:attrName>ppt_y</p:attrName>
                                        </p:attrNameLst>
                                      </p:cBhvr>
                                      <p:tavLst>
                                        <p:tav tm="0">
                                          <p:val>
                                            <p:strVal val="#ppt_y"/>
                                          </p:val>
                                        </p:tav>
                                        <p:tav tm="100000">
                                          <p:val>
                                            <p:strVal val="#ppt_y"/>
                                          </p:val>
                                        </p:tav>
                                      </p:tavLst>
                                    </p:anim>
                                  </p:childTnLst>
                                </p:cTn>
                              </p:par>
                            </p:childTnLst>
                          </p:cTn>
                        </p:par>
                        <p:par>
                          <p:cTn id="34" fill="hold">
                            <p:stCondLst>
                              <p:cond delay="3250"/>
                            </p:stCondLst>
                            <p:childTnLst>
                              <p:par>
                                <p:cTn id="35" presetID="2" presetClass="entr" presetSubtype="4" fill="hold" grpId="0" nodeType="afterEffect">
                                  <p:stCondLst>
                                    <p:cond delay="0"/>
                                  </p:stCondLst>
                                  <p:childTnLst>
                                    <p:set>
                                      <p:cBhvr>
                                        <p:cTn id="36" dur="1" fill="hold">
                                          <p:stCondLst>
                                            <p:cond delay="0"/>
                                          </p:stCondLst>
                                        </p:cTn>
                                        <p:tgtEl>
                                          <p:spTgt spid="30"/>
                                        </p:tgtEl>
                                        <p:attrNameLst>
                                          <p:attrName>style.visibility</p:attrName>
                                        </p:attrNameLst>
                                      </p:cBhvr>
                                      <p:to>
                                        <p:strVal val="visible"/>
                                      </p:to>
                                    </p:set>
                                    <p:anim calcmode="lin" valueType="num">
                                      <p:cBhvr additive="base">
                                        <p:cTn id="37" dur="500" fill="hold"/>
                                        <p:tgtEl>
                                          <p:spTgt spid="30"/>
                                        </p:tgtEl>
                                        <p:attrNameLst>
                                          <p:attrName>ppt_x</p:attrName>
                                        </p:attrNameLst>
                                      </p:cBhvr>
                                      <p:tavLst>
                                        <p:tav tm="0">
                                          <p:val>
                                            <p:strVal val="#ppt_x"/>
                                          </p:val>
                                        </p:tav>
                                        <p:tav tm="100000">
                                          <p:val>
                                            <p:strVal val="#ppt_x"/>
                                          </p:val>
                                        </p:tav>
                                      </p:tavLst>
                                    </p:anim>
                                    <p:anim calcmode="lin" valueType="num">
                                      <p:cBhvr additive="base">
                                        <p:cTn id="38"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P spid="22" grpId="0"/>
      <p:bldP spid="26" grpId="0" animBg="1"/>
      <p:bldP spid="3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DB65464F-05C0-37D3-FF16-F06B7AC049DC}"/>
              </a:ext>
            </a:extLst>
          </p:cNvPr>
          <p:cNvGrpSpPr/>
          <p:nvPr/>
        </p:nvGrpSpPr>
        <p:grpSpPr>
          <a:xfrm>
            <a:off x="-1" y="5767754"/>
            <a:ext cx="12180277" cy="1090246"/>
            <a:chOff x="-1" y="5181600"/>
            <a:chExt cx="12180277" cy="1676400"/>
          </a:xfrm>
        </p:grpSpPr>
        <p:sp>
          <p:nvSpPr>
            <p:cNvPr id="3" name="Arrow: Chevron 2">
              <a:extLst>
                <a:ext uri="{FF2B5EF4-FFF2-40B4-BE49-F238E27FC236}">
                  <a16:creationId xmlns:a16="http://schemas.microsoft.com/office/drawing/2014/main" id="{FD04F38B-62CA-B27A-4EAE-B77ABB408D0A}"/>
                </a:ext>
              </a:extLst>
            </p:cNvPr>
            <p:cNvSpPr/>
            <p:nvPr/>
          </p:nvSpPr>
          <p:spPr>
            <a:xfrm>
              <a:off x="-1" y="6472035"/>
              <a:ext cx="4154369" cy="385965"/>
            </a:xfrm>
            <a:prstGeom prst="chevron">
              <a:avLst/>
            </a:prstGeom>
            <a:solidFill>
              <a:srgbClr val="3E6DC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 name="Arrow: Chevron 3">
              <a:extLst>
                <a:ext uri="{FF2B5EF4-FFF2-40B4-BE49-F238E27FC236}">
                  <a16:creationId xmlns:a16="http://schemas.microsoft.com/office/drawing/2014/main" id="{677D1AEE-7688-1AAB-4370-D1BAEC0A32BD}"/>
                </a:ext>
              </a:extLst>
            </p:cNvPr>
            <p:cNvSpPr/>
            <p:nvPr/>
          </p:nvSpPr>
          <p:spPr>
            <a:xfrm>
              <a:off x="1648313" y="6472035"/>
              <a:ext cx="4154369" cy="385965"/>
            </a:xfrm>
            <a:prstGeom prst="chevron">
              <a:avLst/>
            </a:prstGeom>
            <a:solidFill>
              <a:schemeClr val="accent1">
                <a:lumMod val="60000"/>
                <a:lumOff val="40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5" name="Arrow: Chevron 4">
              <a:extLst>
                <a:ext uri="{FF2B5EF4-FFF2-40B4-BE49-F238E27FC236}">
                  <a16:creationId xmlns:a16="http://schemas.microsoft.com/office/drawing/2014/main" id="{B34A0FF0-7DC0-7575-26F3-01ECEED841D5}"/>
                </a:ext>
              </a:extLst>
            </p:cNvPr>
            <p:cNvSpPr/>
            <p:nvPr/>
          </p:nvSpPr>
          <p:spPr>
            <a:xfrm>
              <a:off x="3296627" y="6472035"/>
              <a:ext cx="4154369" cy="385965"/>
            </a:xfrm>
            <a:prstGeom prst="chevron">
              <a:avLst/>
            </a:prstGeom>
            <a:solidFill>
              <a:schemeClr val="accent1">
                <a:lumMod val="40000"/>
                <a:lumOff val="60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6" name="Arrow: Chevron 5">
              <a:extLst>
                <a:ext uri="{FF2B5EF4-FFF2-40B4-BE49-F238E27FC236}">
                  <a16:creationId xmlns:a16="http://schemas.microsoft.com/office/drawing/2014/main" id="{2DABBF5A-EE57-E287-A7C8-9D9ED018A1FA}"/>
                </a:ext>
              </a:extLst>
            </p:cNvPr>
            <p:cNvSpPr/>
            <p:nvPr/>
          </p:nvSpPr>
          <p:spPr>
            <a:xfrm>
              <a:off x="4944941" y="6472035"/>
              <a:ext cx="4154369" cy="385965"/>
            </a:xfrm>
            <a:prstGeom prst="chevron">
              <a:avLst/>
            </a:prstGeom>
            <a:solidFill>
              <a:schemeClr val="tx2">
                <a:lumMod val="40000"/>
                <a:lumOff val="60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 name="Arrow: Chevron 6">
              <a:extLst>
                <a:ext uri="{FF2B5EF4-FFF2-40B4-BE49-F238E27FC236}">
                  <a16:creationId xmlns:a16="http://schemas.microsoft.com/office/drawing/2014/main" id="{11250641-0684-F8BA-37BB-C618A1748D11}"/>
                </a:ext>
              </a:extLst>
            </p:cNvPr>
            <p:cNvSpPr/>
            <p:nvPr/>
          </p:nvSpPr>
          <p:spPr>
            <a:xfrm>
              <a:off x="6593255" y="6472035"/>
              <a:ext cx="4154369" cy="385965"/>
            </a:xfrm>
            <a:prstGeom prst="chevron">
              <a:avLst/>
            </a:prstGeom>
            <a:solidFill>
              <a:schemeClr val="bg1">
                <a:lumMod val="8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8" name="Arrow: Chevron 7">
              <a:extLst>
                <a:ext uri="{FF2B5EF4-FFF2-40B4-BE49-F238E27FC236}">
                  <a16:creationId xmlns:a16="http://schemas.microsoft.com/office/drawing/2014/main" id="{77A469CE-4747-55EA-DB65-906431287ED6}"/>
                </a:ext>
              </a:extLst>
            </p:cNvPr>
            <p:cNvSpPr/>
            <p:nvPr/>
          </p:nvSpPr>
          <p:spPr>
            <a:xfrm>
              <a:off x="8241570" y="6472035"/>
              <a:ext cx="3856645" cy="385965"/>
            </a:xfrm>
            <a:prstGeom prst="chevron">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Arrow: Chevron 8">
              <a:extLst>
                <a:ext uri="{FF2B5EF4-FFF2-40B4-BE49-F238E27FC236}">
                  <a16:creationId xmlns:a16="http://schemas.microsoft.com/office/drawing/2014/main" id="{FA01AECF-8542-27C3-6CB8-1444B012996C}"/>
                </a:ext>
              </a:extLst>
            </p:cNvPr>
            <p:cNvSpPr/>
            <p:nvPr/>
          </p:nvSpPr>
          <p:spPr>
            <a:xfrm>
              <a:off x="10007112" y="5181600"/>
              <a:ext cx="2173164" cy="1676400"/>
            </a:xfrm>
            <a:prstGeom prst="chevron">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grpSp>
      <p:grpSp>
        <p:nvGrpSpPr>
          <p:cNvPr id="12" name="Group 11">
            <a:extLst>
              <a:ext uri="{FF2B5EF4-FFF2-40B4-BE49-F238E27FC236}">
                <a16:creationId xmlns:a16="http://schemas.microsoft.com/office/drawing/2014/main" id="{C0EB53CC-DED4-6B4D-82C5-CBD8A9492FDC}"/>
              </a:ext>
            </a:extLst>
          </p:cNvPr>
          <p:cNvGrpSpPr/>
          <p:nvPr/>
        </p:nvGrpSpPr>
        <p:grpSpPr>
          <a:xfrm>
            <a:off x="0" y="141563"/>
            <a:ext cx="12192000" cy="6716437"/>
            <a:chOff x="-11723" y="153285"/>
            <a:chExt cx="12192000" cy="6716437"/>
          </a:xfrm>
        </p:grpSpPr>
        <p:pic>
          <p:nvPicPr>
            <p:cNvPr id="13" name="Picture 2">
              <a:extLst>
                <a:ext uri="{FF2B5EF4-FFF2-40B4-BE49-F238E27FC236}">
                  <a16:creationId xmlns:a16="http://schemas.microsoft.com/office/drawing/2014/main" id="{818B8C9C-C958-856D-BAF7-C70A81F19B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6868" y="153285"/>
              <a:ext cx="562843" cy="295242"/>
            </a:xfrm>
            <a:prstGeom prst="rect">
              <a:avLst/>
            </a:prstGeom>
            <a:noFill/>
            <a:extLst>
              <a:ext uri="{909E8E84-426E-40DD-AFC4-6F175D3DCCD1}">
                <a14:hiddenFill xmlns:a14="http://schemas.microsoft.com/office/drawing/2010/main">
                  <a:solidFill>
                    <a:srgbClr val="FFFFFF"/>
                  </a:solidFill>
                </a14:hiddenFill>
              </a:ext>
            </a:extLst>
          </p:spPr>
        </p:pic>
        <p:sp>
          <p:nvSpPr>
            <p:cNvPr id="14" name="Arrow: Pentagon 13">
              <a:extLst>
                <a:ext uri="{FF2B5EF4-FFF2-40B4-BE49-F238E27FC236}">
                  <a16:creationId xmlns:a16="http://schemas.microsoft.com/office/drawing/2014/main" id="{D7C3F4FC-5953-EA50-CF23-A598AECDEA8C}"/>
                </a:ext>
              </a:extLst>
            </p:cNvPr>
            <p:cNvSpPr/>
            <p:nvPr/>
          </p:nvSpPr>
          <p:spPr>
            <a:xfrm flipV="1">
              <a:off x="-11723" y="6517340"/>
              <a:ext cx="12192000" cy="352382"/>
            </a:xfrm>
            <a:prstGeom prst="homePlate">
              <a:avLst/>
            </a:prstGeom>
            <a:gradFill flip="none" rotWithShape="1">
              <a:gsLst>
                <a:gs pos="0">
                  <a:schemeClr val="accent1">
                    <a:lumMod val="0"/>
                    <a:lumOff val="100000"/>
                  </a:schemeClr>
                </a:gs>
                <a:gs pos="46000">
                  <a:schemeClr val="accent1">
                    <a:lumMod val="0"/>
                    <a:lumOff val="100000"/>
                  </a:schemeClr>
                </a:gs>
                <a:gs pos="100000">
                  <a:schemeClr val="accent1">
                    <a:lumMod val="100000"/>
                  </a:schemeClr>
                </a:gs>
              </a:gsLst>
              <a:path path="rect">
                <a:fillToRect l="100000" t="100000"/>
              </a:path>
              <a:tileRect r="-100000" b="-100000"/>
            </a:gra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pic>
        <p:nvPicPr>
          <p:cNvPr id="15" name="Picture 14">
            <a:extLst>
              <a:ext uri="{FF2B5EF4-FFF2-40B4-BE49-F238E27FC236}">
                <a16:creationId xmlns:a16="http://schemas.microsoft.com/office/drawing/2014/main" id="{1B4145E9-7F7E-A844-442F-0C0DD45B37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4132" y="87352"/>
            <a:ext cx="677800" cy="427309"/>
          </a:xfrm>
          <a:prstGeom prst="rect">
            <a:avLst/>
          </a:prstGeom>
        </p:spPr>
      </p:pic>
      <p:pic>
        <p:nvPicPr>
          <p:cNvPr id="16" name="Picture 15">
            <a:extLst>
              <a:ext uri="{FF2B5EF4-FFF2-40B4-BE49-F238E27FC236}">
                <a16:creationId xmlns:a16="http://schemas.microsoft.com/office/drawing/2014/main" id="{7A507078-E7E5-D183-2BD7-3A314458F84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80495" y="123670"/>
            <a:ext cx="777382" cy="330387"/>
          </a:xfrm>
          <a:prstGeom prst="rect">
            <a:avLst/>
          </a:prstGeom>
        </p:spPr>
      </p:pic>
      <p:sp>
        <p:nvSpPr>
          <p:cNvPr id="18" name="TextBox 17">
            <a:extLst>
              <a:ext uri="{FF2B5EF4-FFF2-40B4-BE49-F238E27FC236}">
                <a16:creationId xmlns:a16="http://schemas.microsoft.com/office/drawing/2014/main" id="{18F3541A-32F9-99F1-41C3-73BEE622E00A}"/>
              </a:ext>
            </a:extLst>
          </p:cNvPr>
          <p:cNvSpPr txBox="1"/>
          <p:nvPr/>
        </p:nvSpPr>
        <p:spPr>
          <a:xfrm>
            <a:off x="464029" y="2852511"/>
            <a:ext cx="3978229" cy="1754326"/>
          </a:xfrm>
          <a:prstGeom prst="rect">
            <a:avLst/>
          </a:prstGeom>
          <a:noFill/>
        </p:spPr>
        <p:txBody>
          <a:bodyPr wrap="square" rtlCol="0">
            <a:spAutoFit/>
          </a:bodyPr>
          <a:lstStyle/>
          <a:p>
            <a:r>
              <a:rPr lang="en-GB" b="1" dirty="0"/>
              <a:t>A KEY feature…</a:t>
            </a:r>
          </a:p>
          <a:p>
            <a:endParaRPr lang="en-GB" dirty="0"/>
          </a:p>
          <a:p>
            <a:r>
              <a:rPr lang="en-ZA" dirty="0"/>
              <a:t>A candidate can login to the system at any time and update their profile by clicking on [My skills] and working through the same webform….</a:t>
            </a:r>
            <a:endParaRPr lang="en-GB" dirty="0"/>
          </a:p>
        </p:txBody>
      </p:sp>
      <p:pic>
        <p:nvPicPr>
          <p:cNvPr id="17" name="Picture 16">
            <a:extLst>
              <a:ext uri="{FF2B5EF4-FFF2-40B4-BE49-F238E27FC236}">
                <a16:creationId xmlns:a16="http://schemas.microsoft.com/office/drawing/2014/main" id="{44C95F71-1EA6-C1DD-1AD2-6B3A37074851}"/>
              </a:ext>
            </a:extLst>
          </p:cNvPr>
          <p:cNvPicPr>
            <a:picLocks noChangeAspect="1"/>
          </p:cNvPicPr>
          <p:nvPr/>
        </p:nvPicPr>
        <p:blipFill>
          <a:blip r:embed="rId5"/>
          <a:stretch>
            <a:fillRect/>
          </a:stretch>
        </p:blipFill>
        <p:spPr>
          <a:xfrm>
            <a:off x="4701656" y="103182"/>
            <a:ext cx="6815254" cy="6234545"/>
          </a:xfrm>
          <a:prstGeom prst="rect">
            <a:avLst/>
          </a:prstGeom>
        </p:spPr>
      </p:pic>
      <p:sp>
        <p:nvSpPr>
          <p:cNvPr id="21" name="Arrow: Bent-Up 20">
            <a:extLst>
              <a:ext uri="{FF2B5EF4-FFF2-40B4-BE49-F238E27FC236}">
                <a16:creationId xmlns:a16="http://schemas.microsoft.com/office/drawing/2014/main" id="{325E461F-BEBA-87C8-EB4F-6271591E4353}"/>
              </a:ext>
            </a:extLst>
          </p:cNvPr>
          <p:cNvSpPr/>
          <p:nvPr/>
        </p:nvSpPr>
        <p:spPr>
          <a:xfrm>
            <a:off x="4235116" y="454056"/>
            <a:ext cx="6280484" cy="4085859"/>
          </a:xfrm>
          <a:prstGeom prst="bentUpArrow">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4201856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par>
                          <p:cTn id="7" fill="hold">
                            <p:stCondLst>
                              <p:cond delay="0"/>
                            </p:stCondLst>
                            <p:childTnLst>
                              <p:par>
                                <p:cTn id="8" presetID="2" presetClass="entr" presetSubtype="12" fill="hold" nodeType="afterEffect">
                                  <p:stCondLst>
                                    <p:cond delay="0"/>
                                  </p:stCondLst>
                                  <p:childTnLst>
                                    <p:set>
                                      <p:cBhvr>
                                        <p:cTn id="9" dur="1" fill="hold">
                                          <p:stCondLst>
                                            <p:cond delay="0"/>
                                          </p:stCondLst>
                                        </p:cTn>
                                        <p:tgtEl>
                                          <p:spTgt spid="17"/>
                                        </p:tgtEl>
                                        <p:attrNameLst>
                                          <p:attrName>style.visibility</p:attrName>
                                        </p:attrNameLst>
                                      </p:cBhvr>
                                      <p:to>
                                        <p:strVal val="visible"/>
                                      </p:to>
                                    </p:set>
                                    <p:anim calcmode="lin" valueType="num">
                                      <p:cBhvr additive="base">
                                        <p:cTn id="10" dur="500" fill="hold"/>
                                        <p:tgtEl>
                                          <p:spTgt spid="17"/>
                                        </p:tgtEl>
                                        <p:attrNameLst>
                                          <p:attrName>ppt_x</p:attrName>
                                        </p:attrNameLst>
                                      </p:cBhvr>
                                      <p:tavLst>
                                        <p:tav tm="0">
                                          <p:val>
                                            <p:strVal val="0-#ppt_w/2"/>
                                          </p:val>
                                        </p:tav>
                                        <p:tav tm="100000">
                                          <p:val>
                                            <p:strVal val="#ppt_x"/>
                                          </p:val>
                                        </p:tav>
                                      </p:tavLst>
                                    </p:anim>
                                    <p:anim calcmode="lin" valueType="num">
                                      <p:cBhvr additive="base">
                                        <p:cTn id="11" dur="500" fill="hold"/>
                                        <p:tgtEl>
                                          <p:spTgt spid="17"/>
                                        </p:tgtEl>
                                        <p:attrNameLst>
                                          <p:attrName>ppt_y</p:attrName>
                                        </p:attrNameLst>
                                      </p:cBhvr>
                                      <p:tavLst>
                                        <p:tav tm="0">
                                          <p:val>
                                            <p:strVal val="1+#ppt_h/2"/>
                                          </p:val>
                                        </p:tav>
                                        <p:tav tm="100000">
                                          <p:val>
                                            <p:strVal val="#ppt_y"/>
                                          </p:val>
                                        </p:tav>
                                      </p:tavLst>
                                    </p:anim>
                                  </p:childTnLst>
                                </p:cTn>
                              </p:par>
                            </p:childTnLst>
                          </p:cTn>
                        </p:par>
                        <p:par>
                          <p:cTn id="12" fill="hold">
                            <p:stCondLst>
                              <p:cond delay="500"/>
                            </p:stCondLst>
                            <p:childTnLst>
                              <p:par>
                                <p:cTn id="13" presetID="2" presetClass="entr" presetSubtype="4" fill="hold" grpId="0" nodeType="afterEffect">
                                  <p:stCondLst>
                                    <p:cond delay="0"/>
                                  </p:stCondLst>
                                  <p:childTnLst>
                                    <p:set>
                                      <p:cBhvr>
                                        <p:cTn id="14" dur="1" fill="hold">
                                          <p:stCondLst>
                                            <p:cond delay="0"/>
                                          </p:stCondLst>
                                        </p:cTn>
                                        <p:tgtEl>
                                          <p:spTgt spid="18"/>
                                        </p:tgtEl>
                                        <p:attrNameLst>
                                          <p:attrName>style.visibility</p:attrName>
                                        </p:attrNameLst>
                                      </p:cBhvr>
                                      <p:to>
                                        <p:strVal val="visible"/>
                                      </p:to>
                                    </p:set>
                                    <p:anim calcmode="lin" valueType="num">
                                      <p:cBhvr additive="base">
                                        <p:cTn id="15" dur="500" fill="hold"/>
                                        <p:tgtEl>
                                          <p:spTgt spid="18"/>
                                        </p:tgtEl>
                                        <p:attrNameLst>
                                          <p:attrName>ppt_x</p:attrName>
                                        </p:attrNameLst>
                                      </p:cBhvr>
                                      <p:tavLst>
                                        <p:tav tm="0">
                                          <p:val>
                                            <p:strVal val="#ppt_x"/>
                                          </p:val>
                                        </p:tav>
                                        <p:tav tm="100000">
                                          <p:val>
                                            <p:strVal val="#ppt_x"/>
                                          </p:val>
                                        </p:tav>
                                      </p:tavLst>
                                    </p:anim>
                                    <p:anim calcmode="lin" valueType="num">
                                      <p:cBhvr additive="base">
                                        <p:cTn id="16" dur="500" fill="hold"/>
                                        <p:tgtEl>
                                          <p:spTgt spid="18"/>
                                        </p:tgtEl>
                                        <p:attrNameLst>
                                          <p:attrName>ppt_y</p:attrName>
                                        </p:attrNameLst>
                                      </p:cBhvr>
                                      <p:tavLst>
                                        <p:tav tm="0">
                                          <p:val>
                                            <p:strVal val="1+#ppt_h/2"/>
                                          </p:val>
                                        </p:tav>
                                        <p:tav tm="100000">
                                          <p:val>
                                            <p:strVal val="#ppt_y"/>
                                          </p:val>
                                        </p:tav>
                                      </p:tavLst>
                                    </p:anim>
                                  </p:childTnLst>
                                </p:cTn>
                              </p:par>
                            </p:childTnLst>
                          </p:cTn>
                        </p:par>
                        <p:par>
                          <p:cTn id="17" fill="hold">
                            <p:stCondLst>
                              <p:cond delay="1000"/>
                            </p:stCondLst>
                            <p:childTnLst>
                              <p:par>
                                <p:cTn id="18" presetID="2" presetClass="entr" presetSubtype="8" fill="hold" grpId="0" nodeType="afterEffect">
                                  <p:stCondLst>
                                    <p:cond delay="0"/>
                                  </p:stCondLst>
                                  <p:childTnLst>
                                    <p:set>
                                      <p:cBhvr>
                                        <p:cTn id="19" dur="1" fill="hold">
                                          <p:stCondLst>
                                            <p:cond delay="0"/>
                                          </p:stCondLst>
                                        </p:cTn>
                                        <p:tgtEl>
                                          <p:spTgt spid="21"/>
                                        </p:tgtEl>
                                        <p:attrNameLst>
                                          <p:attrName>style.visibility</p:attrName>
                                        </p:attrNameLst>
                                      </p:cBhvr>
                                      <p:to>
                                        <p:strVal val="visible"/>
                                      </p:to>
                                    </p:set>
                                    <p:anim calcmode="lin" valueType="num">
                                      <p:cBhvr additive="base">
                                        <p:cTn id="20" dur="500" fill="hold"/>
                                        <p:tgtEl>
                                          <p:spTgt spid="21"/>
                                        </p:tgtEl>
                                        <p:attrNameLst>
                                          <p:attrName>ppt_x</p:attrName>
                                        </p:attrNameLst>
                                      </p:cBhvr>
                                      <p:tavLst>
                                        <p:tav tm="0">
                                          <p:val>
                                            <p:strVal val="0-#ppt_w/2"/>
                                          </p:val>
                                        </p:tav>
                                        <p:tav tm="100000">
                                          <p:val>
                                            <p:strVal val="#ppt_x"/>
                                          </p:val>
                                        </p:tav>
                                      </p:tavLst>
                                    </p:anim>
                                    <p:anim calcmode="lin" valueType="num">
                                      <p:cBhvr additive="base">
                                        <p:cTn id="21" dur="500" fill="hold"/>
                                        <p:tgtEl>
                                          <p:spTgt spid="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DB65464F-05C0-37D3-FF16-F06B7AC049DC}"/>
              </a:ext>
            </a:extLst>
          </p:cNvPr>
          <p:cNvGrpSpPr/>
          <p:nvPr/>
        </p:nvGrpSpPr>
        <p:grpSpPr>
          <a:xfrm>
            <a:off x="-1" y="5767754"/>
            <a:ext cx="12180277" cy="1090246"/>
            <a:chOff x="-1" y="5181600"/>
            <a:chExt cx="12180277" cy="1676400"/>
          </a:xfrm>
        </p:grpSpPr>
        <p:sp>
          <p:nvSpPr>
            <p:cNvPr id="3" name="Arrow: Chevron 2">
              <a:extLst>
                <a:ext uri="{FF2B5EF4-FFF2-40B4-BE49-F238E27FC236}">
                  <a16:creationId xmlns:a16="http://schemas.microsoft.com/office/drawing/2014/main" id="{FD04F38B-62CA-B27A-4EAE-B77ABB408D0A}"/>
                </a:ext>
              </a:extLst>
            </p:cNvPr>
            <p:cNvSpPr/>
            <p:nvPr/>
          </p:nvSpPr>
          <p:spPr>
            <a:xfrm>
              <a:off x="-1" y="5181600"/>
              <a:ext cx="4154369" cy="1676400"/>
            </a:xfrm>
            <a:prstGeom prst="chevron">
              <a:avLst/>
            </a:prstGeom>
            <a:solidFill>
              <a:srgbClr val="3E6DC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4" name="Arrow: Chevron 3">
              <a:extLst>
                <a:ext uri="{FF2B5EF4-FFF2-40B4-BE49-F238E27FC236}">
                  <a16:creationId xmlns:a16="http://schemas.microsoft.com/office/drawing/2014/main" id="{677D1AEE-7688-1AAB-4370-D1BAEC0A32BD}"/>
                </a:ext>
              </a:extLst>
            </p:cNvPr>
            <p:cNvSpPr/>
            <p:nvPr/>
          </p:nvSpPr>
          <p:spPr>
            <a:xfrm>
              <a:off x="1648313" y="5181600"/>
              <a:ext cx="4154369" cy="1676400"/>
            </a:xfrm>
            <a:prstGeom prst="chevron">
              <a:avLst/>
            </a:prstGeom>
            <a:solidFill>
              <a:schemeClr val="accent1">
                <a:lumMod val="60000"/>
                <a:lumOff val="40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5" name="Arrow: Chevron 4">
              <a:extLst>
                <a:ext uri="{FF2B5EF4-FFF2-40B4-BE49-F238E27FC236}">
                  <a16:creationId xmlns:a16="http://schemas.microsoft.com/office/drawing/2014/main" id="{B34A0FF0-7DC0-7575-26F3-01ECEED841D5}"/>
                </a:ext>
              </a:extLst>
            </p:cNvPr>
            <p:cNvSpPr/>
            <p:nvPr/>
          </p:nvSpPr>
          <p:spPr>
            <a:xfrm>
              <a:off x="3296627" y="5181600"/>
              <a:ext cx="4154369" cy="1676400"/>
            </a:xfrm>
            <a:prstGeom prst="chevron">
              <a:avLst/>
            </a:prstGeom>
            <a:solidFill>
              <a:schemeClr val="accent1">
                <a:lumMod val="40000"/>
                <a:lumOff val="60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6" name="Arrow: Chevron 5">
              <a:extLst>
                <a:ext uri="{FF2B5EF4-FFF2-40B4-BE49-F238E27FC236}">
                  <a16:creationId xmlns:a16="http://schemas.microsoft.com/office/drawing/2014/main" id="{2DABBF5A-EE57-E287-A7C8-9D9ED018A1FA}"/>
                </a:ext>
              </a:extLst>
            </p:cNvPr>
            <p:cNvSpPr/>
            <p:nvPr/>
          </p:nvSpPr>
          <p:spPr>
            <a:xfrm>
              <a:off x="4944941" y="5181600"/>
              <a:ext cx="4154369" cy="1676400"/>
            </a:xfrm>
            <a:prstGeom prst="chevron">
              <a:avLst/>
            </a:prstGeom>
            <a:solidFill>
              <a:schemeClr val="tx2">
                <a:lumMod val="40000"/>
                <a:lumOff val="60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7" name="Arrow: Chevron 6">
              <a:extLst>
                <a:ext uri="{FF2B5EF4-FFF2-40B4-BE49-F238E27FC236}">
                  <a16:creationId xmlns:a16="http://schemas.microsoft.com/office/drawing/2014/main" id="{11250641-0684-F8BA-37BB-C618A1748D11}"/>
                </a:ext>
              </a:extLst>
            </p:cNvPr>
            <p:cNvSpPr/>
            <p:nvPr/>
          </p:nvSpPr>
          <p:spPr>
            <a:xfrm>
              <a:off x="6593255" y="5181600"/>
              <a:ext cx="4154369" cy="1676400"/>
            </a:xfrm>
            <a:prstGeom prst="chevron">
              <a:avLst/>
            </a:prstGeom>
            <a:solidFill>
              <a:schemeClr val="bg1">
                <a:lumMod val="8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8" name="Arrow: Chevron 7">
              <a:extLst>
                <a:ext uri="{FF2B5EF4-FFF2-40B4-BE49-F238E27FC236}">
                  <a16:creationId xmlns:a16="http://schemas.microsoft.com/office/drawing/2014/main" id="{77A469CE-4747-55EA-DB65-906431287ED6}"/>
                </a:ext>
              </a:extLst>
            </p:cNvPr>
            <p:cNvSpPr/>
            <p:nvPr/>
          </p:nvSpPr>
          <p:spPr>
            <a:xfrm>
              <a:off x="8241570" y="5181600"/>
              <a:ext cx="3856645" cy="1676400"/>
            </a:xfrm>
            <a:prstGeom prst="chevron">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Arrow: Chevron 8">
              <a:extLst>
                <a:ext uri="{FF2B5EF4-FFF2-40B4-BE49-F238E27FC236}">
                  <a16:creationId xmlns:a16="http://schemas.microsoft.com/office/drawing/2014/main" id="{FA01AECF-8542-27C3-6CB8-1444B012996C}"/>
                </a:ext>
              </a:extLst>
            </p:cNvPr>
            <p:cNvSpPr/>
            <p:nvPr/>
          </p:nvSpPr>
          <p:spPr>
            <a:xfrm>
              <a:off x="10007112" y="5181600"/>
              <a:ext cx="2173164" cy="1676400"/>
            </a:xfrm>
            <a:prstGeom prst="chevron">
              <a:avLst/>
            </a:prstGeom>
            <a:solidFill>
              <a:schemeClr val="bg1"/>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grpSp>
      <p:pic>
        <p:nvPicPr>
          <p:cNvPr id="13" name="Picture 2">
            <a:extLst>
              <a:ext uri="{FF2B5EF4-FFF2-40B4-BE49-F238E27FC236}">
                <a16:creationId xmlns:a16="http://schemas.microsoft.com/office/drawing/2014/main" id="{BBA4A1FD-A291-FA8A-1C9D-E421358CF0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8591" y="141563"/>
            <a:ext cx="562843" cy="295242"/>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913BA838-8362-5F4E-72E3-E74690B79C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4132" y="87352"/>
            <a:ext cx="677800" cy="427309"/>
          </a:xfrm>
          <a:prstGeom prst="rect">
            <a:avLst/>
          </a:prstGeom>
        </p:spPr>
      </p:pic>
      <p:pic>
        <p:nvPicPr>
          <p:cNvPr id="16" name="Picture 15">
            <a:extLst>
              <a:ext uri="{FF2B5EF4-FFF2-40B4-BE49-F238E27FC236}">
                <a16:creationId xmlns:a16="http://schemas.microsoft.com/office/drawing/2014/main" id="{3926C9F5-D8DE-00F9-329C-07F6D614D3C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80495" y="123670"/>
            <a:ext cx="777382" cy="330387"/>
          </a:xfrm>
          <a:prstGeom prst="rect">
            <a:avLst/>
          </a:prstGeom>
        </p:spPr>
      </p:pic>
      <p:sp>
        <p:nvSpPr>
          <p:cNvPr id="17" name="TextBox 16">
            <a:extLst>
              <a:ext uri="{FF2B5EF4-FFF2-40B4-BE49-F238E27FC236}">
                <a16:creationId xmlns:a16="http://schemas.microsoft.com/office/drawing/2014/main" id="{DA168397-ACA4-6B13-CD4B-F73845905AA9}"/>
              </a:ext>
            </a:extLst>
          </p:cNvPr>
          <p:cNvSpPr txBox="1"/>
          <p:nvPr/>
        </p:nvSpPr>
        <p:spPr>
          <a:xfrm>
            <a:off x="1533032" y="1130645"/>
            <a:ext cx="8613097" cy="3416320"/>
          </a:xfrm>
          <a:prstGeom prst="rect">
            <a:avLst/>
          </a:prstGeom>
          <a:noFill/>
        </p:spPr>
        <p:txBody>
          <a:bodyPr wrap="square" rtlCol="0">
            <a:spAutoFit/>
          </a:bodyPr>
          <a:lstStyle/>
          <a:p>
            <a:pPr algn="ctr"/>
            <a:r>
              <a:rPr lang="en-GB" sz="7200" b="1" dirty="0"/>
              <a:t>Phase 2</a:t>
            </a:r>
          </a:p>
          <a:p>
            <a:pPr algn="ctr"/>
            <a:r>
              <a:rPr lang="en-GB" sz="7200" b="1" dirty="0"/>
              <a:t>Company search engine for candidates </a:t>
            </a:r>
            <a:endParaRPr lang="en-ZA" sz="7200" b="1" dirty="0"/>
          </a:p>
        </p:txBody>
      </p:sp>
      <p:pic>
        <p:nvPicPr>
          <p:cNvPr id="1028" name="Picture 4">
            <a:extLst>
              <a:ext uri="{FF2B5EF4-FFF2-40B4-BE49-F238E27FC236}">
                <a16:creationId xmlns:a16="http://schemas.microsoft.com/office/drawing/2014/main" id="{3729EC84-7151-BC54-40BC-11573DCEFFC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66433" y="123670"/>
            <a:ext cx="1381125" cy="40005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descr="Text&#10;&#10;Description automatically generated">
            <a:extLst>
              <a:ext uri="{FF2B5EF4-FFF2-40B4-BE49-F238E27FC236}">
                <a16:creationId xmlns:a16="http://schemas.microsoft.com/office/drawing/2014/main" id="{A15D683E-A34F-3B49-BC8E-9D86C1CA3AFD}"/>
              </a:ext>
            </a:extLst>
          </p:cNvPr>
          <p:cNvPicPr>
            <a:picLocks noChangeAspect="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9214439" y="4616628"/>
            <a:ext cx="2823603" cy="2117702"/>
          </a:xfrm>
          <a:prstGeom prst="rect">
            <a:avLst/>
          </a:prstGeom>
        </p:spPr>
      </p:pic>
    </p:spTree>
    <p:extLst>
      <p:ext uri="{BB962C8B-B14F-4D97-AF65-F5344CB8AC3E}">
        <p14:creationId xmlns:p14="http://schemas.microsoft.com/office/powerpoint/2010/main" val="3982074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ppt_w</p:attrName>
                                        </p:attrNameLst>
                                      </p:cBhvr>
                                      <p:tavLst>
                                        <p:tav tm="0">
                                          <p:val>
                                            <p:fltVal val="0"/>
                                          </p:val>
                                        </p:tav>
                                        <p:tav tm="100000">
                                          <p:val>
                                            <p:strVal val="#ppt_w"/>
                                          </p:val>
                                        </p:tav>
                                      </p:tavLst>
                                    </p:anim>
                                    <p:anim calcmode="lin" valueType="num">
                                      <p:cBhvr>
                                        <p:cTn id="8" dur="500" fill="hold"/>
                                        <p:tgtEl>
                                          <p:spTgt spid="17"/>
                                        </p:tgtEl>
                                        <p:attrNameLst>
                                          <p:attrName>ppt_h</p:attrName>
                                        </p:attrNameLst>
                                      </p:cBhvr>
                                      <p:tavLst>
                                        <p:tav tm="0">
                                          <p:val>
                                            <p:fltVal val="0"/>
                                          </p:val>
                                        </p:tav>
                                        <p:tav tm="100000">
                                          <p:val>
                                            <p:strVal val="#ppt_h"/>
                                          </p:val>
                                        </p:tav>
                                      </p:tavLst>
                                    </p:anim>
                                    <p:animEffect transition="in" filter="fade">
                                      <p:cBhvr>
                                        <p:cTn id="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Arrow: Pentagon 13">
            <a:extLst>
              <a:ext uri="{FF2B5EF4-FFF2-40B4-BE49-F238E27FC236}">
                <a16:creationId xmlns:a16="http://schemas.microsoft.com/office/drawing/2014/main" id="{D7C3F4FC-5953-EA50-CF23-A598AECDEA8C}"/>
              </a:ext>
            </a:extLst>
          </p:cNvPr>
          <p:cNvSpPr/>
          <p:nvPr/>
        </p:nvSpPr>
        <p:spPr>
          <a:xfrm flipV="1">
            <a:off x="0" y="6505618"/>
            <a:ext cx="12192000" cy="352382"/>
          </a:xfrm>
          <a:prstGeom prst="homePlate">
            <a:avLst/>
          </a:prstGeom>
          <a:gradFill flip="none" rotWithShape="1">
            <a:gsLst>
              <a:gs pos="0">
                <a:schemeClr val="accent1">
                  <a:lumMod val="0"/>
                  <a:lumOff val="100000"/>
                </a:schemeClr>
              </a:gs>
              <a:gs pos="46000">
                <a:schemeClr val="accent1">
                  <a:lumMod val="0"/>
                  <a:lumOff val="100000"/>
                </a:schemeClr>
              </a:gs>
              <a:gs pos="100000">
                <a:schemeClr val="accent1">
                  <a:lumMod val="100000"/>
                </a:schemeClr>
              </a:gs>
            </a:gsLst>
            <a:path path="rect">
              <a:fillToRect l="100000" t="100000"/>
            </a:path>
            <a:tileRect r="-100000" b="-100000"/>
          </a:gra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2" name="Group 1">
            <a:extLst>
              <a:ext uri="{FF2B5EF4-FFF2-40B4-BE49-F238E27FC236}">
                <a16:creationId xmlns:a16="http://schemas.microsoft.com/office/drawing/2014/main" id="{686389EA-6ED8-E02C-EBBA-93BD3C78D837}"/>
              </a:ext>
            </a:extLst>
          </p:cNvPr>
          <p:cNvGrpSpPr/>
          <p:nvPr/>
        </p:nvGrpSpPr>
        <p:grpSpPr>
          <a:xfrm>
            <a:off x="558591" y="87352"/>
            <a:ext cx="2299286" cy="427309"/>
            <a:chOff x="558591" y="87352"/>
            <a:chExt cx="2299286" cy="427309"/>
          </a:xfrm>
        </p:grpSpPr>
        <p:pic>
          <p:nvPicPr>
            <p:cNvPr id="13" name="Picture 2">
              <a:extLst>
                <a:ext uri="{FF2B5EF4-FFF2-40B4-BE49-F238E27FC236}">
                  <a16:creationId xmlns:a16="http://schemas.microsoft.com/office/drawing/2014/main" id="{818B8C9C-C958-856D-BAF7-C70A81F19B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8591" y="153385"/>
              <a:ext cx="562843" cy="295242"/>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1B4145E9-7F7E-A844-442F-0C0DD45B37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62065" y="87352"/>
              <a:ext cx="677800" cy="427309"/>
            </a:xfrm>
            <a:prstGeom prst="rect">
              <a:avLst/>
            </a:prstGeom>
          </p:spPr>
        </p:pic>
        <p:pic>
          <p:nvPicPr>
            <p:cNvPr id="16" name="Picture 15">
              <a:extLst>
                <a:ext uri="{FF2B5EF4-FFF2-40B4-BE49-F238E27FC236}">
                  <a16:creationId xmlns:a16="http://schemas.microsoft.com/office/drawing/2014/main" id="{7A507078-E7E5-D183-2BD7-3A314458F84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80495" y="135813"/>
              <a:ext cx="777382" cy="330387"/>
            </a:xfrm>
            <a:prstGeom prst="rect">
              <a:avLst/>
            </a:prstGeom>
          </p:spPr>
        </p:pic>
      </p:grpSp>
      <p:sp>
        <p:nvSpPr>
          <p:cNvPr id="18" name="TextBox 17">
            <a:extLst>
              <a:ext uri="{FF2B5EF4-FFF2-40B4-BE49-F238E27FC236}">
                <a16:creationId xmlns:a16="http://schemas.microsoft.com/office/drawing/2014/main" id="{18F3541A-32F9-99F1-41C3-73BEE622E00A}"/>
              </a:ext>
            </a:extLst>
          </p:cNvPr>
          <p:cNvSpPr txBox="1"/>
          <p:nvPr/>
        </p:nvSpPr>
        <p:spPr>
          <a:xfrm>
            <a:off x="558591" y="1383958"/>
            <a:ext cx="3978229" cy="4524315"/>
          </a:xfrm>
          <a:prstGeom prst="rect">
            <a:avLst/>
          </a:prstGeom>
          <a:noFill/>
        </p:spPr>
        <p:txBody>
          <a:bodyPr wrap="square" rtlCol="0">
            <a:spAutoFit/>
          </a:bodyPr>
          <a:lstStyle/>
          <a:p>
            <a:r>
              <a:rPr lang="en-GB" b="1" dirty="0">
                <a:solidFill>
                  <a:srgbClr val="FF0000"/>
                </a:solidFill>
              </a:rPr>
              <a:t>(Note: Company registrations are not yet open.)</a:t>
            </a:r>
          </a:p>
          <a:p>
            <a:endParaRPr lang="en-GB" b="1" dirty="0"/>
          </a:p>
          <a:p>
            <a:r>
              <a:rPr lang="en-GB" b="1" dirty="0"/>
              <a:t>After a company user has registered and been </a:t>
            </a:r>
            <a:r>
              <a:rPr lang="en-GB" b="1" i="1" dirty="0"/>
              <a:t>approved</a:t>
            </a:r>
            <a:r>
              <a:rPr lang="en-GB" b="1" dirty="0"/>
              <a:t> …</a:t>
            </a:r>
          </a:p>
          <a:p>
            <a:endParaRPr lang="en-GB" dirty="0"/>
          </a:p>
          <a:p>
            <a:r>
              <a:rPr lang="en-ZA" dirty="0"/>
              <a:t>They will always land on their ‘home page’ after login, where they can access 3 different types of searches.</a:t>
            </a:r>
          </a:p>
          <a:p>
            <a:endParaRPr lang="en-ZA" dirty="0"/>
          </a:p>
          <a:p>
            <a:pPr marL="342900" indent="-342900">
              <a:buFont typeface="+mj-lt"/>
              <a:buAutoNum type="arabicPeriod"/>
            </a:pPr>
            <a:r>
              <a:rPr lang="en-ZA" b="1" dirty="0"/>
              <a:t>City / town search with configurable radius</a:t>
            </a:r>
          </a:p>
          <a:p>
            <a:pPr marL="342900" indent="-342900">
              <a:buFont typeface="+mj-lt"/>
              <a:buAutoNum type="arabicPeriod"/>
            </a:pPr>
            <a:r>
              <a:rPr lang="en-ZA" b="1" dirty="0"/>
              <a:t>Full text, faceted search</a:t>
            </a:r>
            <a:endParaRPr lang="en-ZA" dirty="0"/>
          </a:p>
          <a:p>
            <a:pPr marL="342900" indent="-342900">
              <a:buFont typeface="+mj-lt"/>
              <a:buAutoNum type="arabicPeriod"/>
            </a:pPr>
            <a:r>
              <a:rPr lang="en-ZA" b="1" dirty="0"/>
              <a:t>Radius selection from HTML5 Geolocation detected location</a:t>
            </a:r>
            <a:endParaRPr lang="en-ZA" dirty="0"/>
          </a:p>
          <a:p>
            <a:endParaRPr lang="en-GB" dirty="0"/>
          </a:p>
        </p:txBody>
      </p:sp>
      <p:pic>
        <p:nvPicPr>
          <p:cNvPr id="25" name="Picture 24">
            <a:extLst>
              <a:ext uri="{FF2B5EF4-FFF2-40B4-BE49-F238E27FC236}">
                <a16:creationId xmlns:a16="http://schemas.microsoft.com/office/drawing/2014/main" id="{4531325F-615B-0233-8B0C-750AE158DC6B}"/>
              </a:ext>
            </a:extLst>
          </p:cNvPr>
          <p:cNvPicPr>
            <a:picLocks noChangeAspect="1"/>
          </p:cNvPicPr>
          <p:nvPr/>
        </p:nvPicPr>
        <p:blipFill>
          <a:blip r:embed="rId5"/>
          <a:stretch>
            <a:fillRect/>
          </a:stretch>
        </p:blipFill>
        <p:spPr>
          <a:xfrm>
            <a:off x="5141495" y="87352"/>
            <a:ext cx="6110104" cy="6387504"/>
          </a:xfrm>
          <a:prstGeom prst="rect">
            <a:avLst/>
          </a:prstGeom>
        </p:spPr>
      </p:pic>
    </p:spTree>
    <p:extLst>
      <p:ext uri="{BB962C8B-B14F-4D97-AF65-F5344CB8AC3E}">
        <p14:creationId xmlns:p14="http://schemas.microsoft.com/office/powerpoint/2010/main" val="749577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par>
                          <p:cTn id="7" fill="hold">
                            <p:stCondLst>
                              <p:cond delay="0"/>
                            </p:stCondLst>
                            <p:childTnLst>
                              <p:par>
                                <p:cTn id="8" presetID="37" presetClass="entr" presetSubtype="0" fill="hold" grpId="0" nodeType="after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1000"/>
                                        <p:tgtEl>
                                          <p:spTgt spid="18"/>
                                        </p:tgtEl>
                                      </p:cBhvr>
                                    </p:animEffect>
                                    <p:anim calcmode="lin" valueType="num">
                                      <p:cBhvr>
                                        <p:cTn id="11" dur="1000" fill="hold"/>
                                        <p:tgtEl>
                                          <p:spTgt spid="18"/>
                                        </p:tgtEl>
                                        <p:attrNameLst>
                                          <p:attrName>ppt_x</p:attrName>
                                        </p:attrNameLst>
                                      </p:cBhvr>
                                      <p:tavLst>
                                        <p:tav tm="0">
                                          <p:val>
                                            <p:strVal val="#ppt_x"/>
                                          </p:val>
                                        </p:tav>
                                        <p:tav tm="100000">
                                          <p:val>
                                            <p:strVal val="#ppt_x"/>
                                          </p:val>
                                        </p:tav>
                                      </p:tavLst>
                                    </p:anim>
                                    <p:anim calcmode="lin" valueType="num">
                                      <p:cBhvr>
                                        <p:cTn id="12" dur="900" decel="100000" fill="hold"/>
                                        <p:tgtEl>
                                          <p:spTgt spid="18"/>
                                        </p:tgtEl>
                                        <p:attrNameLst>
                                          <p:attrName>ppt_y</p:attrName>
                                        </p:attrNameLst>
                                      </p:cBhvr>
                                      <p:tavLst>
                                        <p:tav tm="0">
                                          <p:val>
                                            <p:strVal val="#ppt_y+1"/>
                                          </p:val>
                                        </p:tav>
                                        <p:tav tm="100000">
                                          <p:val>
                                            <p:strVal val="#ppt_y-.03"/>
                                          </p:val>
                                        </p:tav>
                                      </p:tavLst>
                                    </p:anim>
                                    <p:anim calcmode="lin" valueType="num">
                                      <p:cBhvr>
                                        <p:cTn id="13" dur="100" accel="100000" fill="hold">
                                          <p:stCondLst>
                                            <p:cond delay="900"/>
                                          </p:stCondLst>
                                        </p:cTn>
                                        <p:tgtEl>
                                          <p:spTgt spid="18"/>
                                        </p:tgtEl>
                                        <p:attrNameLst>
                                          <p:attrName>ppt_y</p:attrName>
                                        </p:attrNameLst>
                                      </p:cBhvr>
                                      <p:tavLst>
                                        <p:tav tm="0">
                                          <p:val>
                                            <p:strVal val="#ppt_y-.03"/>
                                          </p:val>
                                        </p:tav>
                                        <p:tav tm="100000">
                                          <p:val>
                                            <p:strVal val="#ppt_y"/>
                                          </p:val>
                                        </p:tav>
                                      </p:tavLst>
                                    </p:anim>
                                  </p:childTnLst>
                                </p:cTn>
                              </p:par>
                            </p:childTnLst>
                          </p:cTn>
                        </p:par>
                        <p:par>
                          <p:cTn id="14" fill="hold">
                            <p:stCondLst>
                              <p:cond delay="1000"/>
                            </p:stCondLst>
                            <p:childTnLst>
                              <p:par>
                                <p:cTn id="15" presetID="2" presetClass="entr" presetSubtype="1" fill="hold" nodeType="afterEffect">
                                  <p:stCondLst>
                                    <p:cond delay="0"/>
                                  </p:stCondLst>
                                  <p:childTnLst>
                                    <p:set>
                                      <p:cBhvr>
                                        <p:cTn id="16" dur="1" fill="hold">
                                          <p:stCondLst>
                                            <p:cond delay="0"/>
                                          </p:stCondLst>
                                        </p:cTn>
                                        <p:tgtEl>
                                          <p:spTgt spid="25"/>
                                        </p:tgtEl>
                                        <p:attrNameLst>
                                          <p:attrName>style.visibility</p:attrName>
                                        </p:attrNameLst>
                                      </p:cBhvr>
                                      <p:to>
                                        <p:strVal val="visible"/>
                                      </p:to>
                                    </p:set>
                                    <p:anim calcmode="lin" valueType="num">
                                      <p:cBhvr additive="base">
                                        <p:cTn id="17" dur="500" fill="hold"/>
                                        <p:tgtEl>
                                          <p:spTgt spid="25"/>
                                        </p:tgtEl>
                                        <p:attrNameLst>
                                          <p:attrName>ppt_x</p:attrName>
                                        </p:attrNameLst>
                                      </p:cBhvr>
                                      <p:tavLst>
                                        <p:tav tm="0">
                                          <p:val>
                                            <p:strVal val="#ppt_x"/>
                                          </p:val>
                                        </p:tav>
                                        <p:tav tm="100000">
                                          <p:val>
                                            <p:strVal val="#ppt_x"/>
                                          </p:val>
                                        </p:tav>
                                      </p:tavLst>
                                    </p:anim>
                                    <p:anim calcmode="lin" valueType="num">
                                      <p:cBhvr additive="base">
                                        <p:cTn id="18" dur="500" fill="hold"/>
                                        <p:tgtEl>
                                          <p:spTgt spid="2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C0EB53CC-DED4-6B4D-82C5-CBD8A9492FDC}"/>
              </a:ext>
            </a:extLst>
          </p:cNvPr>
          <p:cNvGrpSpPr/>
          <p:nvPr/>
        </p:nvGrpSpPr>
        <p:grpSpPr>
          <a:xfrm>
            <a:off x="0" y="141563"/>
            <a:ext cx="12192000" cy="6716437"/>
            <a:chOff x="-11723" y="153285"/>
            <a:chExt cx="12192000" cy="6716437"/>
          </a:xfrm>
        </p:grpSpPr>
        <p:pic>
          <p:nvPicPr>
            <p:cNvPr id="13" name="Picture 2">
              <a:extLst>
                <a:ext uri="{FF2B5EF4-FFF2-40B4-BE49-F238E27FC236}">
                  <a16:creationId xmlns:a16="http://schemas.microsoft.com/office/drawing/2014/main" id="{818B8C9C-C958-856D-BAF7-C70A81F19B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6868" y="153285"/>
              <a:ext cx="562843" cy="295242"/>
            </a:xfrm>
            <a:prstGeom prst="rect">
              <a:avLst/>
            </a:prstGeom>
            <a:noFill/>
            <a:extLst>
              <a:ext uri="{909E8E84-426E-40DD-AFC4-6F175D3DCCD1}">
                <a14:hiddenFill xmlns:a14="http://schemas.microsoft.com/office/drawing/2010/main">
                  <a:solidFill>
                    <a:srgbClr val="FFFFFF"/>
                  </a:solidFill>
                </a14:hiddenFill>
              </a:ext>
            </a:extLst>
          </p:spPr>
        </p:pic>
        <p:sp>
          <p:nvSpPr>
            <p:cNvPr id="14" name="Arrow: Pentagon 13">
              <a:extLst>
                <a:ext uri="{FF2B5EF4-FFF2-40B4-BE49-F238E27FC236}">
                  <a16:creationId xmlns:a16="http://schemas.microsoft.com/office/drawing/2014/main" id="{D7C3F4FC-5953-EA50-CF23-A598AECDEA8C}"/>
                </a:ext>
              </a:extLst>
            </p:cNvPr>
            <p:cNvSpPr/>
            <p:nvPr/>
          </p:nvSpPr>
          <p:spPr>
            <a:xfrm flipV="1">
              <a:off x="-11723" y="6517340"/>
              <a:ext cx="12192000" cy="352382"/>
            </a:xfrm>
            <a:prstGeom prst="homePlate">
              <a:avLst/>
            </a:prstGeom>
            <a:gradFill flip="none" rotWithShape="1">
              <a:gsLst>
                <a:gs pos="0">
                  <a:schemeClr val="accent1">
                    <a:lumMod val="0"/>
                    <a:lumOff val="100000"/>
                  </a:schemeClr>
                </a:gs>
                <a:gs pos="46000">
                  <a:schemeClr val="accent1">
                    <a:lumMod val="0"/>
                    <a:lumOff val="100000"/>
                  </a:schemeClr>
                </a:gs>
                <a:gs pos="100000">
                  <a:schemeClr val="accent1">
                    <a:lumMod val="100000"/>
                  </a:schemeClr>
                </a:gs>
              </a:gsLst>
              <a:path path="rect">
                <a:fillToRect l="100000" t="100000"/>
              </a:path>
              <a:tileRect r="-100000" b="-100000"/>
            </a:gra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pic>
        <p:nvPicPr>
          <p:cNvPr id="15" name="Picture 14">
            <a:extLst>
              <a:ext uri="{FF2B5EF4-FFF2-40B4-BE49-F238E27FC236}">
                <a16:creationId xmlns:a16="http://schemas.microsoft.com/office/drawing/2014/main" id="{1B4145E9-7F7E-A844-442F-0C0DD45B37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4132" y="87352"/>
            <a:ext cx="677800" cy="427309"/>
          </a:xfrm>
          <a:prstGeom prst="rect">
            <a:avLst/>
          </a:prstGeom>
        </p:spPr>
      </p:pic>
      <p:pic>
        <p:nvPicPr>
          <p:cNvPr id="16" name="Picture 15">
            <a:extLst>
              <a:ext uri="{FF2B5EF4-FFF2-40B4-BE49-F238E27FC236}">
                <a16:creationId xmlns:a16="http://schemas.microsoft.com/office/drawing/2014/main" id="{7A507078-E7E5-D183-2BD7-3A314458F84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80495" y="123670"/>
            <a:ext cx="777382" cy="330387"/>
          </a:xfrm>
          <a:prstGeom prst="rect">
            <a:avLst/>
          </a:prstGeom>
        </p:spPr>
      </p:pic>
      <p:sp>
        <p:nvSpPr>
          <p:cNvPr id="18" name="TextBox 17">
            <a:extLst>
              <a:ext uri="{FF2B5EF4-FFF2-40B4-BE49-F238E27FC236}">
                <a16:creationId xmlns:a16="http://schemas.microsoft.com/office/drawing/2014/main" id="{18F3541A-32F9-99F1-41C3-73BEE622E00A}"/>
              </a:ext>
            </a:extLst>
          </p:cNvPr>
          <p:cNvSpPr txBox="1"/>
          <p:nvPr/>
        </p:nvSpPr>
        <p:spPr>
          <a:xfrm>
            <a:off x="486401" y="1383958"/>
            <a:ext cx="3978229" cy="1477328"/>
          </a:xfrm>
          <a:prstGeom prst="rect">
            <a:avLst/>
          </a:prstGeom>
          <a:noFill/>
        </p:spPr>
        <p:txBody>
          <a:bodyPr wrap="square" rtlCol="0">
            <a:spAutoFit/>
          </a:bodyPr>
          <a:lstStyle/>
          <a:p>
            <a:r>
              <a:rPr lang="en-GB" b="1" dirty="0"/>
              <a:t>1. City / town proximity search</a:t>
            </a:r>
          </a:p>
          <a:p>
            <a:endParaRPr lang="en-GB" dirty="0"/>
          </a:p>
          <a:p>
            <a:r>
              <a:rPr lang="en-ZA" dirty="0"/>
              <a:t>Allows the company user to set the radius distance from the centre of any recognised city or town.</a:t>
            </a:r>
          </a:p>
        </p:txBody>
      </p:sp>
      <p:pic>
        <p:nvPicPr>
          <p:cNvPr id="5" name="Picture 4">
            <a:extLst>
              <a:ext uri="{FF2B5EF4-FFF2-40B4-BE49-F238E27FC236}">
                <a16:creationId xmlns:a16="http://schemas.microsoft.com/office/drawing/2014/main" id="{59EF26F7-BB8E-09FC-382A-AE22EB401C41}"/>
              </a:ext>
            </a:extLst>
          </p:cNvPr>
          <p:cNvPicPr>
            <a:picLocks noChangeAspect="1"/>
          </p:cNvPicPr>
          <p:nvPr/>
        </p:nvPicPr>
        <p:blipFill>
          <a:blip r:embed="rId5"/>
          <a:stretch>
            <a:fillRect/>
          </a:stretch>
        </p:blipFill>
        <p:spPr>
          <a:xfrm>
            <a:off x="5418764" y="87352"/>
            <a:ext cx="5958555" cy="6234545"/>
          </a:xfrm>
          <a:prstGeom prst="rect">
            <a:avLst/>
          </a:prstGeom>
        </p:spPr>
      </p:pic>
      <p:sp>
        <p:nvSpPr>
          <p:cNvPr id="6" name="TextBox 5">
            <a:extLst>
              <a:ext uri="{FF2B5EF4-FFF2-40B4-BE49-F238E27FC236}">
                <a16:creationId xmlns:a16="http://schemas.microsoft.com/office/drawing/2014/main" id="{0035430F-0699-E6B3-441B-ACBDDDEA9BFA}"/>
              </a:ext>
            </a:extLst>
          </p:cNvPr>
          <p:cNvSpPr txBox="1"/>
          <p:nvPr/>
        </p:nvSpPr>
        <p:spPr>
          <a:xfrm>
            <a:off x="582655" y="3092445"/>
            <a:ext cx="3978229" cy="923330"/>
          </a:xfrm>
          <a:prstGeom prst="rect">
            <a:avLst/>
          </a:prstGeom>
          <a:noFill/>
        </p:spPr>
        <p:txBody>
          <a:bodyPr wrap="square" rtlCol="0">
            <a:spAutoFit/>
          </a:bodyPr>
          <a:lstStyle/>
          <a:p>
            <a:r>
              <a:rPr lang="en-ZA" dirty="0"/>
              <a:t>“Cluster markers” are used to zoom into high density locations of potential candidates</a:t>
            </a:r>
          </a:p>
        </p:txBody>
      </p:sp>
      <p:pic>
        <p:nvPicPr>
          <p:cNvPr id="8" name="Picture 7">
            <a:extLst>
              <a:ext uri="{FF2B5EF4-FFF2-40B4-BE49-F238E27FC236}">
                <a16:creationId xmlns:a16="http://schemas.microsoft.com/office/drawing/2014/main" id="{3EE73520-4466-C4AD-8F32-9904E377BA1B}"/>
              </a:ext>
            </a:extLst>
          </p:cNvPr>
          <p:cNvPicPr>
            <a:picLocks noChangeAspect="1"/>
          </p:cNvPicPr>
          <p:nvPr/>
        </p:nvPicPr>
        <p:blipFill>
          <a:blip r:embed="rId6"/>
          <a:stretch>
            <a:fillRect/>
          </a:stretch>
        </p:blipFill>
        <p:spPr>
          <a:xfrm>
            <a:off x="629135" y="4220183"/>
            <a:ext cx="4175479" cy="1773514"/>
          </a:xfrm>
          <a:prstGeom prst="rect">
            <a:avLst/>
          </a:prstGeom>
        </p:spPr>
      </p:pic>
      <p:sp>
        <p:nvSpPr>
          <p:cNvPr id="9" name="Arrow: Left-Right 8">
            <a:extLst>
              <a:ext uri="{FF2B5EF4-FFF2-40B4-BE49-F238E27FC236}">
                <a16:creationId xmlns:a16="http://schemas.microsoft.com/office/drawing/2014/main" id="{6D7A9AB5-1E0F-9ADF-50F5-2E1A041944D6}"/>
              </a:ext>
            </a:extLst>
          </p:cNvPr>
          <p:cNvSpPr/>
          <p:nvPr/>
        </p:nvSpPr>
        <p:spPr>
          <a:xfrm>
            <a:off x="4804614" y="4619556"/>
            <a:ext cx="3104144" cy="281307"/>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1879050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par>
                          <p:cTn id="7" fill="hold">
                            <p:stCondLst>
                              <p:cond delay="0"/>
                            </p:stCondLst>
                            <p:childTnLst>
                              <p:par>
                                <p:cTn id="8" presetID="22" presetClass="entr" presetSubtype="4" fill="hold" grpId="0" nodeType="afterEffect">
                                  <p:stCondLst>
                                    <p:cond delay="250"/>
                                  </p:stCondLst>
                                  <p:childTnLst>
                                    <p:set>
                                      <p:cBhvr>
                                        <p:cTn id="9" dur="1" fill="hold">
                                          <p:stCondLst>
                                            <p:cond delay="0"/>
                                          </p:stCondLst>
                                        </p:cTn>
                                        <p:tgtEl>
                                          <p:spTgt spid="18"/>
                                        </p:tgtEl>
                                        <p:attrNameLst>
                                          <p:attrName>style.visibility</p:attrName>
                                        </p:attrNameLst>
                                      </p:cBhvr>
                                      <p:to>
                                        <p:strVal val="visible"/>
                                      </p:to>
                                    </p:set>
                                    <p:animEffect transition="in" filter="wipe(down)">
                                      <p:cBhvr>
                                        <p:cTn id="10" dur="500"/>
                                        <p:tgtEl>
                                          <p:spTgt spid="18"/>
                                        </p:tgtEl>
                                      </p:cBhvr>
                                    </p:animEffect>
                                  </p:childTnLst>
                                </p:cTn>
                              </p:par>
                            </p:childTnLst>
                          </p:cTn>
                        </p:par>
                        <p:par>
                          <p:cTn id="11" fill="hold">
                            <p:stCondLst>
                              <p:cond delay="750"/>
                            </p:stCondLst>
                            <p:childTnLst>
                              <p:par>
                                <p:cTn id="12" presetID="42" presetClass="entr" presetSubtype="0"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par>
                          <p:cTn id="17" fill="hold">
                            <p:stCondLst>
                              <p:cond delay="1750"/>
                            </p:stCondLst>
                            <p:childTnLst>
                              <p:par>
                                <p:cTn id="18" presetID="2" presetClass="entr" presetSubtype="8" fill="hold" grpId="0" nodeType="after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additive="base">
                                        <p:cTn id="20" dur="500" fill="hold"/>
                                        <p:tgtEl>
                                          <p:spTgt spid="6"/>
                                        </p:tgtEl>
                                        <p:attrNameLst>
                                          <p:attrName>ppt_x</p:attrName>
                                        </p:attrNameLst>
                                      </p:cBhvr>
                                      <p:tavLst>
                                        <p:tav tm="0">
                                          <p:val>
                                            <p:strVal val="0-#ppt_w/2"/>
                                          </p:val>
                                        </p:tav>
                                        <p:tav tm="100000">
                                          <p:val>
                                            <p:strVal val="#ppt_x"/>
                                          </p:val>
                                        </p:tav>
                                      </p:tavLst>
                                    </p:anim>
                                    <p:anim calcmode="lin" valueType="num">
                                      <p:cBhvr additive="base">
                                        <p:cTn id="21" dur="500" fill="hold"/>
                                        <p:tgtEl>
                                          <p:spTgt spid="6"/>
                                        </p:tgtEl>
                                        <p:attrNameLst>
                                          <p:attrName>ppt_y</p:attrName>
                                        </p:attrNameLst>
                                      </p:cBhvr>
                                      <p:tavLst>
                                        <p:tav tm="0">
                                          <p:val>
                                            <p:strVal val="#ppt_y"/>
                                          </p:val>
                                        </p:tav>
                                        <p:tav tm="100000">
                                          <p:val>
                                            <p:strVal val="#ppt_y"/>
                                          </p:val>
                                        </p:tav>
                                      </p:tavLst>
                                    </p:anim>
                                  </p:childTnLst>
                                </p:cTn>
                              </p:par>
                            </p:childTnLst>
                          </p:cTn>
                        </p:par>
                        <p:par>
                          <p:cTn id="22" fill="hold">
                            <p:stCondLst>
                              <p:cond delay="2250"/>
                            </p:stCondLst>
                            <p:childTnLst>
                              <p:par>
                                <p:cTn id="23" presetID="2" presetClass="entr" presetSubtype="8" fill="hold" nodeType="after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0-#ppt_w/2"/>
                                          </p:val>
                                        </p:tav>
                                        <p:tav tm="100000">
                                          <p:val>
                                            <p:strVal val="#ppt_x"/>
                                          </p:val>
                                        </p:tav>
                                      </p:tavLst>
                                    </p:anim>
                                    <p:anim calcmode="lin" valueType="num">
                                      <p:cBhvr additive="base">
                                        <p:cTn id="26" dur="500" fill="hold"/>
                                        <p:tgtEl>
                                          <p:spTgt spid="8"/>
                                        </p:tgtEl>
                                        <p:attrNameLst>
                                          <p:attrName>ppt_y</p:attrName>
                                        </p:attrNameLst>
                                      </p:cBhvr>
                                      <p:tavLst>
                                        <p:tav tm="0">
                                          <p:val>
                                            <p:strVal val="#ppt_y"/>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9" dur="500" fill="hold"/>
                                        <p:tgtEl>
                                          <p:spTgt spid="9"/>
                                        </p:tgtEl>
                                        <p:attrNameLst>
                                          <p:attrName>ppt_x</p:attrName>
                                        </p:attrNameLst>
                                      </p:cBhvr>
                                      <p:tavLst>
                                        <p:tav tm="0">
                                          <p:val>
                                            <p:strVal val="#ppt_x"/>
                                          </p:val>
                                        </p:tav>
                                        <p:tav tm="100000">
                                          <p:val>
                                            <p:strVal val="#ppt_x"/>
                                          </p:val>
                                        </p:tav>
                                      </p:tavLst>
                                    </p:anim>
                                    <p:anim calcmode="lin" valueType="num">
                                      <p:cBhvr additive="base">
                                        <p:cTn id="3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6" grpId="0"/>
      <p:bldP spid="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EB769689-0975-A162-B8A7-1EF2DFD0ADFA}"/>
              </a:ext>
            </a:extLst>
          </p:cNvPr>
          <p:cNvGrpSpPr/>
          <p:nvPr/>
        </p:nvGrpSpPr>
        <p:grpSpPr>
          <a:xfrm>
            <a:off x="0" y="87352"/>
            <a:ext cx="12192000" cy="6770648"/>
            <a:chOff x="0" y="87352"/>
            <a:chExt cx="12192000" cy="6770648"/>
          </a:xfrm>
        </p:grpSpPr>
        <p:pic>
          <p:nvPicPr>
            <p:cNvPr id="13" name="Picture 2">
              <a:extLst>
                <a:ext uri="{FF2B5EF4-FFF2-40B4-BE49-F238E27FC236}">
                  <a16:creationId xmlns:a16="http://schemas.microsoft.com/office/drawing/2014/main" id="{818B8C9C-C958-856D-BAF7-C70A81F19B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8591" y="141563"/>
              <a:ext cx="562843" cy="295242"/>
            </a:xfrm>
            <a:prstGeom prst="rect">
              <a:avLst/>
            </a:prstGeom>
            <a:noFill/>
            <a:extLst>
              <a:ext uri="{909E8E84-426E-40DD-AFC4-6F175D3DCCD1}">
                <a14:hiddenFill xmlns:a14="http://schemas.microsoft.com/office/drawing/2010/main">
                  <a:solidFill>
                    <a:srgbClr val="FFFFFF"/>
                  </a:solidFill>
                </a14:hiddenFill>
              </a:ext>
            </a:extLst>
          </p:spPr>
        </p:pic>
        <p:sp>
          <p:nvSpPr>
            <p:cNvPr id="14" name="Arrow: Pentagon 13">
              <a:extLst>
                <a:ext uri="{FF2B5EF4-FFF2-40B4-BE49-F238E27FC236}">
                  <a16:creationId xmlns:a16="http://schemas.microsoft.com/office/drawing/2014/main" id="{D7C3F4FC-5953-EA50-CF23-A598AECDEA8C}"/>
                </a:ext>
              </a:extLst>
            </p:cNvPr>
            <p:cNvSpPr/>
            <p:nvPr/>
          </p:nvSpPr>
          <p:spPr>
            <a:xfrm flipV="1">
              <a:off x="0" y="6505618"/>
              <a:ext cx="12192000" cy="352382"/>
            </a:xfrm>
            <a:prstGeom prst="homePlate">
              <a:avLst/>
            </a:prstGeom>
            <a:gradFill flip="none" rotWithShape="1">
              <a:gsLst>
                <a:gs pos="0">
                  <a:schemeClr val="accent1">
                    <a:lumMod val="0"/>
                    <a:lumOff val="100000"/>
                  </a:schemeClr>
                </a:gs>
                <a:gs pos="46000">
                  <a:schemeClr val="accent1">
                    <a:lumMod val="0"/>
                    <a:lumOff val="100000"/>
                  </a:schemeClr>
                </a:gs>
                <a:gs pos="100000">
                  <a:schemeClr val="accent1">
                    <a:lumMod val="100000"/>
                  </a:schemeClr>
                </a:gs>
              </a:gsLst>
              <a:path path="rect">
                <a:fillToRect l="100000" t="100000"/>
              </a:path>
              <a:tileRect r="-100000" b="-100000"/>
            </a:gra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5" name="Picture 14">
              <a:extLst>
                <a:ext uri="{FF2B5EF4-FFF2-40B4-BE49-F238E27FC236}">
                  <a16:creationId xmlns:a16="http://schemas.microsoft.com/office/drawing/2014/main" id="{1B4145E9-7F7E-A844-442F-0C0DD45B37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4132" y="87352"/>
              <a:ext cx="677800" cy="427309"/>
            </a:xfrm>
            <a:prstGeom prst="rect">
              <a:avLst/>
            </a:prstGeom>
          </p:spPr>
        </p:pic>
        <p:pic>
          <p:nvPicPr>
            <p:cNvPr id="16" name="Picture 15">
              <a:extLst>
                <a:ext uri="{FF2B5EF4-FFF2-40B4-BE49-F238E27FC236}">
                  <a16:creationId xmlns:a16="http://schemas.microsoft.com/office/drawing/2014/main" id="{7A507078-E7E5-D183-2BD7-3A314458F84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80495" y="123670"/>
              <a:ext cx="777382" cy="330387"/>
            </a:xfrm>
            <a:prstGeom prst="rect">
              <a:avLst/>
            </a:prstGeom>
          </p:spPr>
        </p:pic>
      </p:grpSp>
      <p:sp>
        <p:nvSpPr>
          <p:cNvPr id="18" name="TextBox 17">
            <a:extLst>
              <a:ext uri="{FF2B5EF4-FFF2-40B4-BE49-F238E27FC236}">
                <a16:creationId xmlns:a16="http://schemas.microsoft.com/office/drawing/2014/main" id="{18F3541A-32F9-99F1-41C3-73BEE622E00A}"/>
              </a:ext>
            </a:extLst>
          </p:cNvPr>
          <p:cNvSpPr txBox="1"/>
          <p:nvPr/>
        </p:nvSpPr>
        <p:spPr>
          <a:xfrm>
            <a:off x="475497" y="678106"/>
            <a:ext cx="3703482" cy="3139321"/>
          </a:xfrm>
          <a:prstGeom prst="rect">
            <a:avLst/>
          </a:prstGeom>
          <a:noFill/>
        </p:spPr>
        <p:txBody>
          <a:bodyPr wrap="square" rtlCol="0">
            <a:spAutoFit/>
          </a:bodyPr>
          <a:lstStyle/>
          <a:p>
            <a:r>
              <a:rPr lang="en-GB" b="1" dirty="0"/>
              <a:t>2. Full text &amp; faceted search</a:t>
            </a:r>
          </a:p>
          <a:p>
            <a:endParaRPr lang="en-GB" dirty="0"/>
          </a:p>
          <a:p>
            <a:pPr algn="ctr"/>
            <a:r>
              <a:rPr lang="en-GB" b="1" dirty="0"/>
              <a:t>AND / OR</a:t>
            </a:r>
          </a:p>
          <a:p>
            <a:endParaRPr lang="en-GB" dirty="0"/>
          </a:p>
          <a:p>
            <a:r>
              <a:rPr lang="en-GB" b="1" dirty="0"/>
              <a:t>AND</a:t>
            </a:r>
            <a:r>
              <a:rPr lang="en-GB" dirty="0"/>
              <a:t> searches are the default and must “Contain all of these words” in the search.</a:t>
            </a:r>
          </a:p>
          <a:p>
            <a:endParaRPr lang="en-GB" dirty="0"/>
          </a:p>
          <a:p>
            <a:r>
              <a:rPr lang="en-GB" dirty="0"/>
              <a:t>In this example, “sysadmin” AND “web design” returns 7 results.</a:t>
            </a:r>
          </a:p>
          <a:p>
            <a:r>
              <a:rPr lang="en-GB" dirty="0"/>
              <a:t> </a:t>
            </a:r>
          </a:p>
        </p:txBody>
      </p:sp>
      <p:sp>
        <p:nvSpPr>
          <p:cNvPr id="4" name="TextBox 3">
            <a:extLst>
              <a:ext uri="{FF2B5EF4-FFF2-40B4-BE49-F238E27FC236}">
                <a16:creationId xmlns:a16="http://schemas.microsoft.com/office/drawing/2014/main" id="{9EABFC68-429A-26D6-FD43-FDCE1E664C26}"/>
              </a:ext>
            </a:extLst>
          </p:cNvPr>
          <p:cNvSpPr txBox="1"/>
          <p:nvPr/>
        </p:nvSpPr>
        <p:spPr>
          <a:xfrm>
            <a:off x="483519" y="3760492"/>
            <a:ext cx="3703482" cy="2031325"/>
          </a:xfrm>
          <a:prstGeom prst="rect">
            <a:avLst/>
          </a:prstGeom>
          <a:noFill/>
        </p:spPr>
        <p:txBody>
          <a:bodyPr wrap="square" rtlCol="0">
            <a:spAutoFit/>
          </a:bodyPr>
          <a:lstStyle/>
          <a:p>
            <a:r>
              <a:rPr lang="en-GB" b="1" dirty="0"/>
              <a:t>OR</a:t>
            </a:r>
            <a:r>
              <a:rPr lang="en-GB" dirty="0"/>
              <a:t> searches can contain any of the search words, and would widen the result.  </a:t>
            </a:r>
          </a:p>
          <a:p>
            <a:r>
              <a:rPr lang="en-GB" dirty="0"/>
              <a:t>In this case, it would return 44 results of </a:t>
            </a:r>
            <a:r>
              <a:rPr lang="en-GB" dirty="0" err="1"/>
              <a:t>cadidates</a:t>
            </a:r>
            <a:r>
              <a:rPr lang="en-GB" dirty="0"/>
              <a:t> with EITHER or BOTH sysadmin and web design skills; which is distinctly less useful.</a:t>
            </a:r>
          </a:p>
        </p:txBody>
      </p:sp>
      <p:pic>
        <p:nvPicPr>
          <p:cNvPr id="5" name="Picture 4">
            <a:extLst>
              <a:ext uri="{FF2B5EF4-FFF2-40B4-BE49-F238E27FC236}">
                <a16:creationId xmlns:a16="http://schemas.microsoft.com/office/drawing/2014/main" id="{DDE1AB26-47CB-DF15-70C9-0D10F9DD2059}"/>
              </a:ext>
            </a:extLst>
          </p:cNvPr>
          <p:cNvPicPr>
            <a:picLocks noChangeAspect="1"/>
          </p:cNvPicPr>
          <p:nvPr/>
        </p:nvPicPr>
        <p:blipFill>
          <a:blip r:embed="rId5"/>
          <a:stretch>
            <a:fillRect/>
          </a:stretch>
        </p:blipFill>
        <p:spPr>
          <a:xfrm>
            <a:off x="6078521" y="199586"/>
            <a:ext cx="5831898" cy="6234545"/>
          </a:xfrm>
          <a:prstGeom prst="rect">
            <a:avLst/>
          </a:prstGeom>
        </p:spPr>
      </p:pic>
      <p:sp>
        <p:nvSpPr>
          <p:cNvPr id="9" name="Arrow: Left-Right 8">
            <a:extLst>
              <a:ext uri="{FF2B5EF4-FFF2-40B4-BE49-F238E27FC236}">
                <a16:creationId xmlns:a16="http://schemas.microsoft.com/office/drawing/2014/main" id="{6D7A9AB5-1E0F-9ADF-50F5-2E1A041944D6}"/>
              </a:ext>
            </a:extLst>
          </p:cNvPr>
          <p:cNvSpPr/>
          <p:nvPr/>
        </p:nvSpPr>
        <p:spPr>
          <a:xfrm rot="20186057" flipV="1">
            <a:off x="3677117" y="2157314"/>
            <a:ext cx="2325433" cy="160565"/>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pic>
        <p:nvPicPr>
          <p:cNvPr id="6" name="Picture 4">
            <a:extLst>
              <a:ext uri="{FF2B5EF4-FFF2-40B4-BE49-F238E27FC236}">
                <a16:creationId xmlns:a16="http://schemas.microsoft.com/office/drawing/2014/main" id="{5A72E062-2FCB-1504-FC8D-B37214698A1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84007" y="528912"/>
            <a:ext cx="1381125" cy="400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0561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par>
                          <p:cTn id="7" fill="hold">
                            <p:stCondLst>
                              <p:cond delay="0"/>
                            </p:stCondLst>
                            <p:childTnLst>
                              <p:par>
                                <p:cTn id="8" presetID="2" presetClass="entr" presetSubtype="9" fill="hold" grpId="0" nodeType="afterEffect">
                                  <p:stCondLst>
                                    <p:cond delay="250"/>
                                  </p:stCondLst>
                                  <p:childTnLst>
                                    <p:set>
                                      <p:cBhvr>
                                        <p:cTn id="9" dur="1" fill="hold">
                                          <p:stCondLst>
                                            <p:cond delay="0"/>
                                          </p:stCondLst>
                                        </p:cTn>
                                        <p:tgtEl>
                                          <p:spTgt spid="18"/>
                                        </p:tgtEl>
                                        <p:attrNameLst>
                                          <p:attrName>style.visibility</p:attrName>
                                        </p:attrNameLst>
                                      </p:cBhvr>
                                      <p:to>
                                        <p:strVal val="visible"/>
                                      </p:to>
                                    </p:set>
                                    <p:anim calcmode="lin" valueType="num">
                                      <p:cBhvr additive="base">
                                        <p:cTn id="10" dur="500" fill="hold"/>
                                        <p:tgtEl>
                                          <p:spTgt spid="18"/>
                                        </p:tgtEl>
                                        <p:attrNameLst>
                                          <p:attrName>ppt_x</p:attrName>
                                        </p:attrNameLst>
                                      </p:cBhvr>
                                      <p:tavLst>
                                        <p:tav tm="0">
                                          <p:val>
                                            <p:strVal val="0-#ppt_w/2"/>
                                          </p:val>
                                        </p:tav>
                                        <p:tav tm="100000">
                                          <p:val>
                                            <p:strVal val="#ppt_x"/>
                                          </p:val>
                                        </p:tav>
                                      </p:tavLst>
                                    </p:anim>
                                    <p:anim calcmode="lin" valueType="num">
                                      <p:cBhvr additive="base">
                                        <p:cTn id="11" dur="500" fill="hold"/>
                                        <p:tgtEl>
                                          <p:spTgt spid="18"/>
                                        </p:tgtEl>
                                        <p:attrNameLst>
                                          <p:attrName>ppt_y</p:attrName>
                                        </p:attrNameLst>
                                      </p:cBhvr>
                                      <p:tavLst>
                                        <p:tav tm="0">
                                          <p:val>
                                            <p:strVal val="0-#ppt_h/2"/>
                                          </p:val>
                                        </p:tav>
                                        <p:tav tm="100000">
                                          <p:val>
                                            <p:strVal val="#ppt_y"/>
                                          </p:val>
                                        </p:tav>
                                      </p:tavLst>
                                    </p:anim>
                                  </p:childTnLst>
                                </p:cTn>
                              </p:par>
                            </p:childTnLst>
                          </p:cTn>
                        </p:par>
                        <p:par>
                          <p:cTn id="12" fill="hold">
                            <p:stCondLst>
                              <p:cond delay="750"/>
                            </p:stCondLst>
                            <p:childTnLst>
                              <p:par>
                                <p:cTn id="13" presetID="2" presetClass="entr" presetSubtype="12"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0-#ppt_w/2"/>
                                          </p:val>
                                        </p:tav>
                                        <p:tav tm="100000">
                                          <p:val>
                                            <p:strVal val="#ppt_x"/>
                                          </p:val>
                                        </p:tav>
                                      </p:tavLst>
                                    </p:anim>
                                    <p:anim calcmode="lin" valueType="num">
                                      <p:cBhvr additive="base">
                                        <p:cTn id="16" dur="500" fill="hold"/>
                                        <p:tgtEl>
                                          <p:spTgt spid="9"/>
                                        </p:tgtEl>
                                        <p:attrNameLst>
                                          <p:attrName>ppt_y</p:attrName>
                                        </p:attrNameLst>
                                      </p:cBhvr>
                                      <p:tavLst>
                                        <p:tav tm="0">
                                          <p:val>
                                            <p:strVal val="1+#ppt_h/2"/>
                                          </p:val>
                                        </p:tav>
                                        <p:tav tm="100000">
                                          <p:val>
                                            <p:strVal val="#ppt_y"/>
                                          </p:val>
                                        </p:tav>
                                      </p:tavLst>
                                    </p:anim>
                                  </p:childTnLst>
                                </p:cTn>
                              </p:par>
                            </p:childTnLst>
                          </p:cTn>
                        </p:par>
                        <p:par>
                          <p:cTn id="17" fill="hold">
                            <p:stCondLst>
                              <p:cond delay="1250"/>
                            </p:stCondLst>
                            <p:childTnLst>
                              <p:par>
                                <p:cTn id="18" presetID="2" presetClass="entr" presetSubtype="4" fill="hold" nodeType="after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additive="base">
                                        <p:cTn id="20" dur="500" fill="hold"/>
                                        <p:tgtEl>
                                          <p:spTgt spid="5"/>
                                        </p:tgtEl>
                                        <p:attrNameLst>
                                          <p:attrName>ppt_x</p:attrName>
                                        </p:attrNameLst>
                                      </p:cBhvr>
                                      <p:tavLst>
                                        <p:tav tm="0">
                                          <p:val>
                                            <p:strVal val="#ppt_x"/>
                                          </p:val>
                                        </p:tav>
                                        <p:tav tm="100000">
                                          <p:val>
                                            <p:strVal val="#ppt_x"/>
                                          </p:val>
                                        </p:tav>
                                      </p:tavLst>
                                    </p:anim>
                                    <p:anim calcmode="lin" valueType="num">
                                      <p:cBhvr additive="base">
                                        <p:cTn id="21" dur="500" fill="hold"/>
                                        <p:tgtEl>
                                          <p:spTgt spid="5"/>
                                        </p:tgtEl>
                                        <p:attrNameLst>
                                          <p:attrName>ppt_y</p:attrName>
                                        </p:attrNameLst>
                                      </p:cBhvr>
                                      <p:tavLst>
                                        <p:tav tm="0">
                                          <p:val>
                                            <p:strVal val="1+#ppt_h/2"/>
                                          </p:val>
                                        </p:tav>
                                        <p:tav tm="100000">
                                          <p:val>
                                            <p:strVal val="#ppt_y"/>
                                          </p:val>
                                        </p:tav>
                                      </p:tavLst>
                                    </p:anim>
                                  </p:childTnLst>
                                </p:cTn>
                              </p:par>
                            </p:childTnLst>
                          </p:cTn>
                        </p:par>
                        <p:par>
                          <p:cTn id="22" fill="hold">
                            <p:stCondLst>
                              <p:cond delay="1750"/>
                            </p:stCondLst>
                            <p:childTnLst>
                              <p:par>
                                <p:cTn id="23" presetID="2" presetClass="entr" presetSubtype="4" fill="hold" grpId="0" nodeType="after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4" grpId="0"/>
      <p:bldP spid="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C0EB53CC-DED4-6B4D-82C5-CBD8A9492FDC}"/>
              </a:ext>
            </a:extLst>
          </p:cNvPr>
          <p:cNvGrpSpPr/>
          <p:nvPr/>
        </p:nvGrpSpPr>
        <p:grpSpPr>
          <a:xfrm>
            <a:off x="0" y="141563"/>
            <a:ext cx="12192000" cy="6716437"/>
            <a:chOff x="-11723" y="153285"/>
            <a:chExt cx="12192000" cy="6716437"/>
          </a:xfrm>
        </p:grpSpPr>
        <p:pic>
          <p:nvPicPr>
            <p:cNvPr id="13" name="Picture 2">
              <a:extLst>
                <a:ext uri="{FF2B5EF4-FFF2-40B4-BE49-F238E27FC236}">
                  <a16:creationId xmlns:a16="http://schemas.microsoft.com/office/drawing/2014/main" id="{818B8C9C-C958-856D-BAF7-C70A81F19B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6868" y="153285"/>
              <a:ext cx="562843" cy="295242"/>
            </a:xfrm>
            <a:prstGeom prst="rect">
              <a:avLst/>
            </a:prstGeom>
            <a:noFill/>
            <a:extLst>
              <a:ext uri="{909E8E84-426E-40DD-AFC4-6F175D3DCCD1}">
                <a14:hiddenFill xmlns:a14="http://schemas.microsoft.com/office/drawing/2010/main">
                  <a:solidFill>
                    <a:srgbClr val="FFFFFF"/>
                  </a:solidFill>
                </a14:hiddenFill>
              </a:ext>
            </a:extLst>
          </p:spPr>
        </p:pic>
        <p:sp>
          <p:nvSpPr>
            <p:cNvPr id="14" name="Arrow: Pentagon 13">
              <a:extLst>
                <a:ext uri="{FF2B5EF4-FFF2-40B4-BE49-F238E27FC236}">
                  <a16:creationId xmlns:a16="http://schemas.microsoft.com/office/drawing/2014/main" id="{D7C3F4FC-5953-EA50-CF23-A598AECDEA8C}"/>
                </a:ext>
              </a:extLst>
            </p:cNvPr>
            <p:cNvSpPr/>
            <p:nvPr/>
          </p:nvSpPr>
          <p:spPr>
            <a:xfrm flipV="1">
              <a:off x="-11723" y="6517340"/>
              <a:ext cx="12192000" cy="352382"/>
            </a:xfrm>
            <a:prstGeom prst="homePlate">
              <a:avLst/>
            </a:prstGeom>
            <a:gradFill flip="none" rotWithShape="1">
              <a:gsLst>
                <a:gs pos="0">
                  <a:schemeClr val="accent1">
                    <a:lumMod val="0"/>
                    <a:lumOff val="100000"/>
                  </a:schemeClr>
                </a:gs>
                <a:gs pos="46000">
                  <a:schemeClr val="accent1">
                    <a:lumMod val="0"/>
                    <a:lumOff val="100000"/>
                  </a:schemeClr>
                </a:gs>
                <a:gs pos="100000">
                  <a:schemeClr val="accent1">
                    <a:lumMod val="100000"/>
                  </a:schemeClr>
                </a:gs>
              </a:gsLst>
              <a:path path="rect">
                <a:fillToRect l="100000" t="100000"/>
              </a:path>
              <a:tileRect r="-100000" b="-100000"/>
            </a:gra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pic>
        <p:nvPicPr>
          <p:cNvPr id="15" name="Picture 14">
            <a:extLst>
              <a:ext uri="{FF2B5EF4-FFF2-40B4-BE49-F238E27FC236}">
                <a16:creationId xmlns:a16="http://schemas.microsoft.com/office/drawing/2014/main" id="{1B4145E9-7F7E-A844-442F-0C0DD45B37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4132" y="87352"/>
            <a:ext cx="677800" cy="427309"/>
          </a:xfrm>
          <a:prstGeom prst="rect">
            <a:avLst/>
          </a:prstGeom>
        </p:spPr>
      </p:pic>
      <p:pic>
        <p:nvPicPr>
          <p:cNvPr id="16" name="Picture 15">
            <a:extLst>
              <a:ext uri="{FF2B5EF4-FFF2-40B4-BE49-F238E27FC236}">
                <a16:creationId xmlns:a16="http://schemas.microsoft.com/office/drawing/2014/main" id="{7A507078-E7E5-D183-2BD7-3A314458F84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80495" y="123670"/>
            <a:ext cx="777382" cy="330387"/>
          </a:xfrm>
          <a:prstGeom prst="rect">
            <a:avLst/>
          </a:prstGeom>
        </p:spPr>
      </p:pic>
      <p:sp>
        <p:nvSpPr>
          <p:cNvPr id="18" name="TextBox 17">
            <a:extLst>
              <a:ext uri="{FF2B5EF4-FFF2-40B4-BE49-F238E27FC236}">
                <a16:creationId xmlns:a16="http://schemas.microsoft.com/office/drawing/2014/main" id="{18F3541A-32F9-99F1-41C3-73BEE622E00A}"/>
              </a:ext>
            </a:extLst>
          </p:cNvPr>
          <p:cNvSpPr txBox="1"/>
          <p:nvPr/>
        </p:nvSpPr>
        <p:spPr>
          <a:xfrm>
            <a:off x="475497" y="678106"/>
            <a:ext cx="3703482" cy="2031325"/>
          </a:xfrm>
          <a:prstGeom prst="rect">
            <a:avLst/>
          </a:prstGeom>
          <a:noFill/>
        </p:spPr>
        <p:txBody>
          <a:bodyPr wrap="square" rtlCol="0">
            <a:spAutoFit/>
          </a:bodyPr>
          <a:lstStyle/>
          <a:p>
            <a:r>
              <a:rPr lang="en-GB" b="1" dirty="0"/>
              <a:t>3.Search by </a:t>
            </a:r>
            <a:r>
              <a:rPr lang="en-ZA" b="1" dirty="0"/>
              <a:t>a radius of x </a:t>
            </a:r>
            <a:r>
              <a:rPr lang="en-ZA" b="1" dirty="0" err="1"/>
              <a:t>kilometers</a:t>
            </a:r>
            <a:r>
              <a:rPr lang="en-ZA" b="1" dirty="0"/>
              <a:t> from detected HTML5 Geolocation</a:t>
            </a:r>
            <a:endParaRPr lang="en-GB" b="1" dirty="0"/>
          </a:p>
          <a:p>
            <a:endParaRPr lang="en-GB" dirty="0"/>
          </a:p>
          <a:p>
            <a:r>
              <a:rPr lang="en-GB" dirty="0"/>
              <a:t>The company user’s location is automatically detected, provided the user allows the site to know their location.</a:t>
            </a:r>
          </a:p>
        </p:txBody>
      </p:sp>
      <p:sp>
        <p:nvSpPr>
          <p:cNvPr id="4" name="TextBox 3">
            <a:extLst>
              <a:ext uri="{FF2B5EF4-FFF2-40B4-BE49-F238E27FC236}">
                <a16:creationId xmlns:a16="http://schemas.microsoft.com/office/drawing/2014/main" id="{9EABFC68-429A-26D6-FD43-FDCE1E664C26}"/>
              </a:ext>
            </a:extLst>
          </p:cNvPr>
          <p:cNvSpPr txBox="1"/>
          <p:nvPr/>
        </p:nvSpPr>
        <p:spPr>
          <a:xfrm>
            <a:off x="483519" y="2751208"/>
            <a:ext cx="3703482" cy="1200329"/>
          </a:xfrm>
          <a:prstGeom prst="rect">
            <a:avLst/>
          </a:prstGeom>
          <a:noFill/>
        </p:spPr>
        <p:txBody>
          <a:bodyPr wrap="square" rtlCol="0">
            <a:spAutoFit/>
          </a:bodyPr>
          <a:lstStyle/>
          <a:p>
            <a:r>
              <a:rPr lang="en-GB" b="1" dirty="0"/>
              <a:t>Where this may be specifically useful is for locating potential candidates or employees in the nearby vicinity from your exact physical location.</a:t>
            </a:r>
          </a:p>
        </p:txBody>
      </p:sp>
      <p:pic>
        <p:nvPicPr>
          <p:cNvPr id="5" name="Picture 4">
            <a:extLst>
              <a:ext uri="{FF2B5EF4-FFF2-40B4-BE49-F238E27FC236}">
                <a16:creationId xmlns:a16="http://schemas.microsoft.com/office/drawing/2014/main" id="{048046F6-0B9F-5487-7A49-058A00C9DB63}"/>
              </a:ext>
            </a:extLst>
          </p:cNvPr>
          <p:cNvPicPr>
            <a:picLocks noChangeAspect="1"/>
          </p:cNvPicPr>
          <p:nvPr/>
        </p:nvPicPr>
        <p:blipFill>
          <a:blip r:embed="rId5"/>
          <a:stretch>
            <a:fillRect/>
          </a:stretch>
        </p:blipFill>
        <p:spPr>
          <a:xfrm>
            <a:off x="5491287" y="294476"/>
            <a:ext cx="6316248" cy="6234545"/>
          </a:xfrm>
          <a:prstGeom prst="rect">
            <a:avLst/>
          </a:prstGeom>
        </p:spPr>
      </p:pic>
      <p:pic>
        <p:nvPicPr>
          <p:cNvPr id="7" name="Picture 4">
            <a:extLst>
              <a:ext uri="{FF2B5EF4-FFF2-40B4-BE49-F238E27FC236}">
                <a16:creationId xmlns:a16="http://schemas.microsoft.com/office/drawing/2014/main" id="{F8A11630-2F49-7F25-A1C9-A808F61732E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07952" y="356388"/>
            <a:ext cx="1381125" cy="40005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6038A1CD-E45E-3FD2-D068-840D41E3EA23}"/>
              </a:ext>
            </a:extLst>
          </p:cNvPr>
          <p:cNvSpPr txBox="1"/>
          <p:nvPr/>
        </p:nvSpPr>
        <p:spPr>
          <a:xfrm>
            <a:off x="472019" y="4016405"/>
            <a:ext cx="3703482" cy="1754326"/>
          </a:xfrm>
          <a:prstGeom prst="rect">
            <a:avLst/>
          </a:prstGeom>
          <a:noFill/>
        </p:spPr>
        <p:txBody>
          <a:bodyPr wrap="square" rtlCol="0">
            <a:spAutoFit/>
          </a:bodyPr>
          <a:lstStyle/>
          <a:p>
            <a:r>
              <a:rPr lang="en-GB" dirty="0"/>
              <a:t>But the precision depends on the paranoia level of the user to some extent, as they must be logged into a service such as Google or Microsoft on a device with GPS tracking enabled.</a:t>
            </a:r>
          </a:p>
        </p:txBody>
      </p:sp>
      <p:sp>
        <p:nvSpPr>
          <p:cNvPr id="10" name="TextBox 9">
            <a:extLst>
              <a:ext uri="{FF2B5EF4-FFF2-40B4-BE49-F238E27FC236}">
                <a16:creationId xmlns:a16="http://schemas.microsoft.com/office/drawing/2014/main" id="{0C1EFC75-1122-2F6D-D13C-01B913E010EE}"/>
              </a:ext>
            </a:extLst>
          </p:cNvPr>
          <p:cNvSpPr txBox="1"/>
          <p:nvPr/>
        </p:nvSpPr>
        <p:spPr>
          <a:xfrm>
            <a:off x="460524" y="5835599"/>
            <a:ext cx="5635475" cy="646331"/>
          </a:xfrm>
          <a:prstGeom prst="rect">
            <a:avLst/>
          </a:prstGeom>
          <a:noFill/>
        </p:spPr>
        <p:txBody>
          <a:bodyPr wrap="square" rtlCol="0">
            <a:spAutoFit/>
          </a:bodyPr>
          <a:lstStyle/>
          <a:p>
            <a:r>
              <a:rPr lang="en-GB" i="1" dirty="0"/>
              <a:t>… Otherwise the location detected will be of the IP address of their provider’s gateway.</a:t>
            </a:r>
          </a:p>
        </p:txBody>
      </p:sp>
    </p:spTree>
    <p:extLst>
      <p:ext uri="{BB962C8B-B14F-4D97-AF65-F5344CB8AC3E}">
        <p14:creationId xmlns:p14="http://schemas.microsoft.com/office/powerpoint/2010/main" val="2554861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par>
                          <p:cTn id="7" fill="hold">
                            <p:stCondLst>
                              <p:cond delay="0"/>
                            </p:stCondLst>
                            <p:childTnLst>
                              <p:par>
                                <p:cTn id="8" presetID="2" presetClass="entr" presetSubtype="8" fill="hold" grpId="0" nodeType="afterEffect">
                                  <p:stCondLst>
                                    <p:cond delay="250"/>
                                  </p:stCondLst>
                                  <p:childTnLst>
                                    <p:set>
                                      <p:cBhvr>
                                        <p:cTn id="9" dur="1" fill="hold">
                                          <p:stCondLst>
                                            <p:cond delay="0"/>
                                          </p:stCondLst>
                                        </p:cTn>
                                        <p:tgtEl>
                                          <p:spTgt spid="18"/>
                                        </p:tgtEl>
                                        <p:attrNameLst>
                                          <p:attrName>style.visibility</p:attrName>
                                        </p:attrNameLst>
                                      </p:cBhvr>
                                      <p:to>
                                        <p:strVal val="visible"/>
                                      </p:to>
                                    </p:set>
                                    <p:anim calcmode="lin" valueType="num">
                                      <p:cBhvr additive="base">
                                        <p:cTn id="10" dur="500" fill="hold"/>
                                        <p:tgtEl>
                                          <p:spTgt spid="18"/>
                                        </p:tgtEl>
                                        <p:attrNameLst>
                                          <p:attrName>ppt_x</p:attrName>
                                        </p:attrNameLst>
                                      </p:cBhvr>
                                      <p:tavLst>
                                        <p:tav tm="0">
                                          <p:val>
                                            <p:strVal val="0-#ppt_w/2"/>
                                          </p:val>
                                        </p:tav>
                                        <p:tav tm="100000">
                                          <p:val>
                                            <p:strVal val="#ppt_x"/>
                                          </p:val>
                                        </p:tav>
                                      </p:tavLst>
                                    </p:anim>
                                    <p:anim calcmode="lin" valueType="num">
                                      <p:cBhvr additive="base">
                                        <p:cTn id="11" dur="500" fill="hold"/>
                                        <p:tgtEl>
                                          <p:spTgt spid="18"/>
                                        </p:tgtEl>
                                        <p:attrNameLst>
                                          <p:attrName>ppt_y</p:attrName>
                                        </p:attrNameLst>
                                      </p:cBhvr>
                                      <p:tavLst>
                                        <p:tav tm="0">
                                          <p:val>
                                            <p:strVal val="#ppt_y"/>
                                          </p:val>
                                        </p:tav>
                                        <p:tav tm="100000">
                                          <p:val>
                                            <p:strVal val="#ppt_y"/>
                                          </p:val>
                                        </p:tav>
                                      </p:tavLst>
                                    </p:anim>
                                  </p:childTnLst>
                                </p:cTn>
                              </p:par>
                            </p:childTnLst>
                          </p:cTn>
                        </p:par>
                        <p:par>
                          <p:cTn id="12" fill="hold">
                            <p:stCondLst>
                              <p:cond delay="750"/>
                            </p:stCondLst>
                            <p:childTnLst>
                              <p:par>
                                <p:cTn id="13" presetID="31" presetClass="entr" presetSubtype="0"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p:cTn id="15" dur="1000" fill="hold"/>
                                        <p:tgtEl>
                                          <p:spTgt spid="5"/>
                                        </p:tgtEl>
                                        <p:attrNameLst>
                                          <p:attrName>ppt_w</p:attrName>
                                        </p:attrNameLst>
                                      </p:cBhvr>
                                      <p:tavLst>
                                        <p:tav tm="0">
                                          <p:val>
                                            <p:fltVal val="0"/>
                                          </p:val>
                                        </p:tav>
                                        <p:tav tm="100000">
                                          <p:val>
                                            <p:strVal val="#ppt_w"/>
                                          </p:val>
                                        </p:tav>
                                      </p:tavLst>
                                    </p:anim>
                                    <p:anim calcmode="lin" valueType="num">
                                      <p:cBhvr>
                                        <p:cTn id="16" dur="1000" fill="hold"/>
                                        <p:tgtEl>
                                          <p:spTgt spid="5"/>
                                        </p:tgtEl>
                                        <p:attrNameLst>
                                          <p:attrName>ppt_h</p:attrName>
                                        </p:attrNameLst>
                                      </p:cBhvr>
                                      <p:tavLst>
                                        <p:tav tm="0">
                                          <p:val>
                                            <p:fltVal val="0"/>
                                          </p:val>
                                        </p:tav>
                                        <p:tav tm="100000">
                                          <p:val>
                                            <p:strVal val="#ppt_h"/>
                                          </p:val>
                                        </p:tav>
                                      </p:tavLst>
                                    </p:anim>
                                    <p:anim calcmode="lin" valueType="num">
                                      <p:cBhvr>
                                        <p:cTn id="17" dur="1000" fill="hold"/>
                                        <p:tgtEl>
                                          <p:spTgt spid="5"/>
                                        </p:tgtEl>
                                        <p:attrNameLst>
                                          <p:attrName>style.rotation</p:attrName>
                                        </p:attrNameLst>
                                      </p:cBhvr>
                                      <p:tavLst>
                                        <p:tav tm="0">
                                          <p:val>
                                            <p:fltVal val="90"/>
                                          </p:val>
                                        </p:tav>
                                        <p:tav tm="100000">
                                          <p:val>
                                            <p:fltVal val="0"/>
                                          </p:val>
                                        </p:tav>
                                      </p:tavLst>
                                    </p:anim>
                                    <p:animEffect transition="in" filter="fade">
                                      <p:cBhvr>
                                        <p:cTn id="18" dur="1000"/>
                                        <p:tgtEl>
                                          <p:spTgt spid="5"/>
                                        </p:tgtEl>
                                      </p:cBhvr>
                                    </p:animEffect>
                                  </p:childTnLst>
                                </p:cTn>
                              </p:par>
                            </p:childTnLst>
                          </p:cTn>
                        </p:par>
                        <p:par>
                          <p:cTn id="19" fill="hold">
                            <p:stCondLst>
                              <p:cond delay="1750"/>
                            </p:stCondLst>
                            <p:childTnLst>
                              <p:par>
                                <p:cTn id="20" presetID="31" presetClass="entr" presetSubtype="0" fill="hold" grpId="0" nodeType="afterEffect">
                                  <p:stCondLst>
                                    <p:cond delay="0"/>
                                  </p:stCondLst>
                                  <p:childTnLst>
                                    <p:set>
                                      <p:cBhvr>
                                        <p:cTn id="21" dur="1" fill="hold">
                                          <p:stCondLst>
                                            <p:cond delay="0"/>
                                          </p:stCondLst>
                                        </p:cTn>
                                        <p:tgtEl>
                                          <p:spTgt spid="4"/>
                                        </p:tgtEl>
                                        <p:attrNameLst>
                                          <p:attrName>style.visibility</p:attrName>
                                        </p:attrNameLst>
                                      </p:cBhvr>
                                      <p:to>
                                        <p:strVal val="visible"/>
                                      </p:to>
                                    </p:set>
                                    <p:anim calcmode="lin" valueType="num">
                                      <p:cBhvr>
                                        <p:cTn id="22" dur="1000" fill="hold"/>
                                        <p:tgtEl>
                                          <p:spTgt spid="4"/>
                                        </p:tgtEl>
                                        <p:attrNameLst>
                                          <p:attrName>ppt_w</p:attrName>
                                        </p:attrNameLst>
                                      </p:cBhvr>
                                      <p:tavLst>
                                        <p:tav tm="0">
                                          <p:val>
                                            <p:fltVal val="0"/>
                                          </p:val>
                                        </p:tav>
                                        <p:tav tm="100000">
                                          <p:val>
                                            <p:strVal val="#ppt_w"/>
                                          </p:val>
                                        </p:tav>
                                      </p:tavLst>
                                    </p:anim>
                                    <p:anim calcmode="lin" valueType="num">
                                      <p:cBhvr>
                                        <p:cTn id="23" dur="1000" fill="hold"/>
                                        <p:tgtEl>
                                          <p:spTgt spid="4"/>
                                        </p:tgtEl>
                                        <p:attrNameLst>
                                          <p:attrName>ppt_h</p:attrName>
                                        </p:attrNameLst>
                                      </p:cBhvr>
                                      <p:tavLst>
                                        <p:tav tm="0">
                                          <p:val>
                                            <p:fltVal val="0"/>
                                          </p:val>
                                        </p:tav>
                                        <p:tav tm="100000">
                                          <p:val>
                                            <p:strVal val="#ppt_h"/>
                                          </p:val>
                                        </p:tav>
                                      </p:tavLst>
                                    </p:anim>
                                    <p:anim calcmode="lin" valueType="num">
                                      <p:cBhvr>
                                        <p:cTn id="24" dur="1000" fill="hold"/>
                                        <p:tgtEl>
                                          <p:spTgt spid="4"/>
                                        </p:tgtEl>
                                        <p:attrNameLst>
                                          <p:attrName>style.rotation</p:attrName>
                                        </p:attrNameLst>
                                      </p:cBhvr>
                                      <p:tavLst>
                                        <p:tav tm="0">
                                          <p:val>
                                            <p:fltVal val="90"/>
                                          </p:val>
                                        </p:tav>
                                        <p:tav tm="100000">
                                          <p:val>
                                            <p:fltVal val="0"/>
                                          </p:val>
                                        </p:tav>
                                      </p:tavLst>
                                    </p:anim>
                                    <p:animEffect transition="in" filter="fade">
                                      <p:cBhvr>
                                        <p:cTn id="25" dur="1000"/>
                                        <p:tgtEl>
                                          <p:spTgt spid="4"/>
                                        </p:tgtEl>
                                      </p:cBhvr>
                                    </p:animEffect>
                                  </p:childTnLst>
                                </p:cTn>
                              </p:par>
                            </p:childTnLst>
                          </p:cTn>
                        </p:par>
                        <p:par>
                          <p:cTn id="26" fill="hold">
                            <p:stCondLst>
                              <p:cond delay="2750"/>
                            </p:stCondLst>
                            <p:childTnLst>
                              <p:par>
                                <p:cTn id="27" presetID="31" presetClass="entr" presetSubtype="0" fill="hold" grpId="0" nodeType="afterEffect">
                                  <p:stCondLst>
                                    <p:cond delay="250"/>
                                  </p:stCondLst>
                                  <p:childTnLst>
                                    <p:set>
                                      <p:cBhvr>
                                        <p:cTn id="28" dur="1" fill="hold">
                                          <p:stCondLst>
                                            <p:cond delay="0"/>
                                          </p:stCondLst>
                                        </p:cTn>
                                        <p:tgtEl>
                                          <p:spTgt spid="8"/>
                                        </p:tgtEl>
                                        <p:attrNameLst>
                                          <p:attrName>style.visibility</p:attrName>
                                        </p:attrNameLst>
                                      </p:cBhvr>
                                      <p:to>
                                        <p:strVal val="visible"/>
                                      </p:to>
                                    </p:set>
                                    <p:anim calcmode="lin" valueType="num">
                                      <p:cBhvr>
                                        <p:cTn id="29" dur="1000" fill="hold"/>
                                        <p:tgtEl>
                                          <p:spTgt spid="8"/>
                                        </p:tgtEl>
                                        <p:attrNameLst>
                                          <p:attrName>ppt_w</p:attrName>
                                        </p:attrNameLst>
                                      </p:cBhvr>
                                      <p:tavLst>
                                        <p:tav tm="0">
                                          <p:val>
                                            <p:fltVal val="0"/>
                                          </p:val>
                                        </p:tav>
                                        <p:tav tm="100000">
                                          <p:val>
                                            <p:strVal val="#ppt_w"/>
                                          </p:val>
                                        </p:tav>
                                      </p:tavLst>
                                    </p:anim>
                                    <p:anim calcmode="lin" valueType="num">
                                      <p:cBhvr>
                                        <p:cTn id="30" dur="1000" fill="hold"/>
                                        <p:tgtEl>
                                          <p:spTgt spid="8"/>
                                        </p:tgtEl>
                                        <p:attrNameLst>
                                          <p:attrName>ppt_h</p:attrName>
                                        </p:attrNameLst>
                                      </p:cBhvr>
                                      <p:tavLst>
                                        <p:tav tm="0">
                                          <p:val>
                                            <p:fltVal val="0"/>
                                          </p:val>
                                        </p:tav>
                                        <p:tav tm="100000">
                                          <p:val>
                                            <p:strVal val="#ppt_h"/>
                                          </p:val>
                                        </p:tav>
                                      </p:tavLst>
                                    </p:anim>
                                    <p:anim calcmode="lin" valueType="num">
                                      <p:cBhvr>
                                        <p:cTn id="31" dur="1000" fill="hold"/>
                                        <p:tgtEl>
                                          <p:spTgt spid="8"/>
                                        </p:tgtEl>
                                        <p:attrNameLst>
                                          <p:attrName>style.rotation</p:attrName>
                                        </p:attrNameLst>
                                      </p:cBhvr>
                                      <p:tavLst>
                                        <p:tav tm="0">
                                          <p:val>
                                            <p:fltVal val="90"/>
                                          </p:val>
                                        </p:tav>
                                        <p:tav tm="100000">
                                          <p:val>
                                            <p:fltVal val="0"/>
                                          </p:val>
                                        </p:tav>
                                      </p:tavLst>
                                    </p:anim>
                                    <p:animEffect transition="in" filter="fade">
                                      <p:cBhvr>
                                        <p:cTn id="32" dur="1000"/>
                                        <p:tgtEl>
                                          <p:spTgt spid="8"/>
                                        </p:tgtEl>
                                      </p:cBhvr>
                                    </p:animEffect>
                                  </p:childTnLst>
                                </p:cTn>
                              </p:par>
                            </p:childTnLst>
                          </p:cTn>
                        </p:par>
                        <p:par>
                          <p:cTn id="33" fill="hold">
                            <p:stCondLst>
                              <p:cond delay="4000"/>
                            </p:stCondLst>
                            <p:childTnLst>
                              <p:par>
                                <p:cTn id="34" presetID="31" presetClass="entr" presetSubtype="0" fill="hold" grpId="0" nodeType="afterEffect">
                                  <p:stCondLst>
                                    <p:cond delay="250"/>
                                  </p:stCondLst>
                                  <p:childTnLst>
                                    <p:set>
                                      <p:cBhvr>
                                        <p:cTn id="35" dur="1" fill="hold">
                                          <p:stCondLst>
                                            <p:cond delay="0"/>
                                          </p:stCondLst>
                                        </p:cTn>
                                        <p:tgtEl>
                                          <p:spTgt spid="10"/>
                                        </p:tgtEl>
                                        <p:attrNameLst>
                                          <p:attrName>style.visibility</p:attrName>
                                        </p:attrNameLst>
                                      </p:cBhvr>
                                      <p:to>
                                        <p:strVal val="visible"/>
                                      </p:to>
                                    </p:set>
                                    <p:anim calcmode="lin" valueType="num">
                                      <p:cBhvr>
                                        <p:cTn id="36" dur="1000" fill="hold"/>
                                        <p:tgtEl>
                                          <p:spTgt spid="10"/>
                                        </p:tgtEl>
                                        <p:attrNameLst>
                                          <p:attrName>ppt_w</p:attrName>
                                        </p:attrNameLst>
                                      </p:cBhvr>
                                      <p:tavLst>
                                        <p:tav tm="0">
                                          <p:val>
                                            <p:fltVal val="0"/>
                                          </p:val>
                                        </p:tav>
                                        <p:tav tm="100000">
                                          <p:val>
                                            <p:strVal val="#ppt_w"/>
                                          </p:val>
                                        </p:tav>
                                      </p:tavLst>
                                    </p:anim>
                                    <p:anim calcmode="lin" valueType="num">
                                      <p:cBhvr>
                                        <p:cTn id="37" dur="1000" fill="hold"/>
                                        <p:tgtEl>
                                          <p:spTgt spid="10"/>
                                        </p:tgtEl>
                                        <p:attrNameLst>
                                          <p:attrName>ppt_h</p:attrName>
                                        </p:attrNameLst>
                                      </p:cBhvr>
                                      <p:tavLst>
                                        <p:tav tm="0">
                                          <p:val>
                                            <p:fltVal val="0"/>
                                          </p:val>
                                        </p:tav>
                                        <p:tav tm="100000">
                                          <p:val>
                                            <p:strVal val="#ppt_h"/>
                                          </p:val>
                                        </p:tav>
                                      </p:tavLst>
                                    </p:anim>
                                    <p:anim calcmode="lin" valueType="num">
                                      <p:cBhvr>
                                        <p:cTn id="38" dur="1000" fill="hold"/>
                                        <p:tgtEl>
                                          <p:spTgt spid="10"/>
                                        </p:tgtEl>
                                        <p:attrNameLst>
                                          <p:attrName>style.rotation</p:attrName>
                                        </p:attrNameLst>
                                      </p:cBhvr>
                                      <p:tavLst>
                                        <p:tav tm="0">
                                          <p:val>
                                            <p:fltVal val="90"/>
                                          </p:val>
                                        </p:tav>
                                        <p:tav tm="100000">
                                          <p:val>
                                            <p:fltVal val="0"/>
                                          </p:val>
                                        </p:tav>
                                      </p:tavLst>
                                    </p:anim>
                                    <p:animEffect transition="in" filter="fade">
                                      <p:cBhvr>
                                        <p:cTn id="39"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4" grpId="0"/>
      <p:bldP spid="8" grpId="0"/>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C0EB53CC-DED4-6B4D-82C5-CBD8A9492FDC}"/>
              </a:ext>
            </a:extLst>
          </p:cNvPr>
          <p:cNvGrpSpPr/>
          <p:nvPr/>
        </p:nvGrpSpPr>
        <p:grpSpPr>
          <a:xfrm>
            <a:off x="0" y="141563"/>
            <a:ext cx="12192000" cy="6716437"/>
            <a:chOff x="-11723" y="153285"/>
            <a:chExt cx="12192000" cy="6716437"/>
          </a:xfrm>
        </p:grpSpPr>
        <p:pic>
          <p:nvPicPr>
            <p:cNvPr id="13" name="Picture 2">
              <a:extLst>
                <a:ext uri="{FF2B5EF4-FFF2-40B4-BE49-F238E27FC236}">
                  <a16:creationId xmlns:a16="http://schemas.microsoft.com/office/drawing/2014/main" id="{818B8C9C-C958-856D-BAF7-C70A81F19B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6868" y="153285"/>
              <a:ext cx="562843" cy="295242"/>
            </a:xfrm>
            <a:prstGeom prst="rect">
              <a:avLst/>
            </a:prstGeom>
            <a:noFill/>
            <a:extLst>
              <a:ext uri="{909E8E84-426E-40DD-AFC4-6F175D3DCCD1}">
                <a14:hiddenFill xmlns:a14="http://schemas.microsoft.com/office/drawing/2010/main">
                  <a:solidFill>
                    <a:srgbClr val="FFFFFF"/>
                  </a:solidFill>
                </a14:hiddenFill>
              </a:ext>
            </a:extLst>
          </p:spPr>
        </p:pic>
        <p:sp>
          <p:nvSpPr>
            <p:cNvPr id="14" name="Arrow: Pentagon 13">
              <a:extLst>
                <a:ext uri="{FF2B5EF4-FFF2-40B4-BE49-F238E27FC236}">
                  <a16:creationId xmlns:a16="http://schemas.microsoft.com/office/drawing/2014/main" id="{D7C3F4FC-5953-EA50-CF23-A598AECDEA8C}"/>
                </a:ext>
              </a:extLst>
            </p:cNvPr>
            <p:cNvSpPr/>
            <p:nvPr/>
          </p:nvSpPr>
          <p:spPr>
            <a:xfrm flipV="1">
              <a:off x="-11723" y="6517340"/>
              <a:ext cx="12192000" cy="352382"/>
            </a:xfrm>
            <a:prstGeom prst="homePlate">
              <a:avLst/>
            </a:prstGeom>
            <a:gradFill flip="none" rotWithShape="1">
              <a:gsLst>
                <a:gs pos="0">
                  <a:schemeClr val="accent1">
                    <a:lumMod val="0"/>
                    <a:lumOff val="100000"/>
                  </a:schemeClr>
                </a:gs>
                <a:gs pos="46000">
                  <a:schemeClr val="accent1">
                    <a:lumMod val="0"/>
                    <a:lumOff val="100000"/>
                  </a:schemeClr>
                </a:gs>
                <a:gs pos="100000">
                  <a:schemeClr val="accent1">
                    <a:lumMod val="100000"/>
                  </a:schemeClr>
                </a:gs>
              </a:gsLst>
              <a:path path="rect">
                <a:fillToRect l="100000" t="100000"/>
              </a:path>
              <a:tileRect r="-100000" b="-100000"/>
            </a:gra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pic>
        <p:nvPicPr>
          <p:cNvPr id="15" name="Picture 14">
            <a:extLst>
              <a:ext uri="{FF2B5EF4-FFF2-40B4-BE49-F238E27FC236}">
                <a16:creationId xmlns:a16="http://schemas.microsoft.com/office/drawing/2014/main" id="{1B4145E9-7F7E-A844-442F-0C0DD45B37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4132" y="87352"/>
            <a:ext cx="677800" cy="427309"/>
          </a:xfrm>
          <a:prstGeom prst="rect">
            <a:avLst/>
          </a:prstGeom>
        </p:spPr>
      </p:pic>
      <p:pic>
        <p:nvPicPr>
          <p:cNvPr id="16" name="Picture 15">
            <a:extLst>
              <a:ext uri="{FF2B5EF4-FFF2-40B4-BE49-F238E27FC236}">
                <a16:creationId xmlns:a16="http://schemas.microsoft.com/office/drawing/2014/main" id="{7A507078-E7E5-D183-2BD7-3A314458F84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80495" y="123670"/>
            <a:ext cx="777382" cy="330387"/>
          </a:xfrm>
          <a:prstGeom prst="rect">
            <a:avLst/>
          </a:prstGeom>
        </p:spPr>
      </p:pic>
      <p:sp>
        <p:nvSpPr>
          <p:cNvPr id="2" name="TextBox 1">
            <a:extLst>
              <a:ext uri="{FF2B5EF4-FFF2-40B4-BE49-F238E27FC236}">
                <a16:creationId xmlns:a16="http://schemas.microsoft.com/office/drawing/2014/main" id="{52B824EB-8601-021A-884F-BA41A6A6952B}"/>
              </a:ext>
            </a:extLst>
          </p:cNvPr>
          <p:cNvSpPr txBox="1"/>
          <p:nvPr/>
        </p:nvSpPr>
        <p:spPr>
          <a:xfrm>
            <a:off x="475496" y="669480"/>
            <a:ext cx="4053371" cy="584775"/>
          </a:xfrm>
          <a:prstGeom prst="rect">
            <a:avLst/>
          </a:prstGeom>
          <a:noFill/>
        </p:spPr>
        <p:txBody>
          <a:bodyPr wrap="square" rtlCol="0">
            <a:spAutoFit/>
          </a:bodyPr>
          <a:lstStyle/>
          <a:p>
            <a:r>
              <a:rPr lang="en-ZA" sz="3200" b="1" dirty="0"/>
              <a:t>Candidate interaction</a:t>
            </a:r>
            <a:endParaRPr lang="en-GB" sz="3200" b="1" dirty="0"/>
          </a:p>
        </p:txBody>
      </p:sp>
      <p:sp>
        <p:nvSpPr>
          <p:cNvPr id="3" name="TextBox 2">
            <a:extLst>
              <a:ext uri="{FF2B5EF4-FFF2-40B4-BE49-F238E27FC236}">
                <a16:creationId xmlns:a16="http://schemas.microsoft.com/office/drawing/2014/main" id="{BBDFA455-4592-B284-5276-463E8446269B}"/>
              </a:ext>
            </a:extLst>
          </p:cNvPr>
          <p:cNvSpPr txBox="1"/>
          <p:nvPr/>
        </p:nvSpPr>
        <p:spPr>
          <a:xfrm>
            <a:off x="475497" y="2017953"/>
            <a:ext cx="3703482" cy="2031325"/>
          </a:xfrm>
          <a:prstGeom prst="rect">
            <a:avLst/>
          </a:prstGeom>
          <a:noFill/>
        </p:spPr>
        <p:txBody>
          <a:bodyPr wrap="square" rtlCol="0">
            <a:spAutoFit/>
          </a:bodyPr>
          <a:lstStyle/>
          <a:p>
            <a:r>
              <a:rPr lang="en-GB" b="1" dirty="0"/>
              <a:t>Full text &amp; faceted search using</a:t>
            </a:r>
          </a:p>
          <a:p>
            <a:endParaRPr lang="en-GB" dirty="0"/>
          </a:p>
          <a:p>
            <a:r>
              <a:rPr lang="en-GB" b="1" cap="all" dirty="0"/>
              <a:t>SKILL SEARCH</a:t>
            </a:r>
            <a:r>
              <a:rPr lang="en-GB" dirty="0"/>
              <a:t> by specific skill sets “sysadmin” AND “web design”... Then narrowing the results with the demographic facets. </a:t>
            </a:r>
            <a:r>
              <a:rPr lang="en-GB" i="1" dirty="0"/>
              <a:t>(Basic example for the sake of demonstration.)</a:t>
            </a:r>
          </a:p>
        </p:txBody>
      </p:sp>
      <p:pic>
        <p:nvPicPr>
          <p:cNvPr id="6" name="Picture 5">
            <a:extLst>
              <a:ext uri="{FF2B5EF4-FFF2-40B4-BE49-F238E27FC236}">
                <a16:creationId xmlns:a16="http://schemas.microsoft.com/office/drawing/2014/main" id="{B7F82444-E8D1-FECB-0F3A-35977E4927F3}"/>
              </a:ext>
            </a:extLst>
          </p:cNvPr>
          <p:cNvPicPr>
            <a:picLocks noChangeAspect="1"/>
          </p:cNvPicPr>
          <p:nvPr/>
        </p:nvPicPr>
        <p:blipFill>
          <a:blip r:embed="rId5"/>
          <a:stretch>
            <a:fillRect/>
          </a:stretch>
        </p:blipFill>
        <p:spPr>
          <a:xfrm>
            <a:off x="4737430" y="97791"/>
            <a:ext cx="7181362" cy="6234545"/>
          </a:xfrm>
          <a:prstGeom prst="rect">
            <a:avLst/>
          </a:prstGeom>
        </p:spPr>
      </p:pic>
    </p:spTree>
    <p:extLst>
      <p:ext uri="{BB962C8B-B14F-4D97-AF65-F5344CB8AC3E}">
        <p14:creationId xmlns:p14="http://schemas.microsoft.com/office/powerpoint/2010/main" val="1268138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par>
                          <p:cTn id="7" fill="hold">
                            <p:stCondLst>
                              <p:cond delay="0"/>
                            </p:stCondLst>
                            <p:childTnLst>
                              <p:par>
                                <p:cTn id="8" presetID="31" presetClass="entr" presetSubtype="0" fill="hold" grpId="0" nodeType="afterEffect">
                                  <p:stCondLst>
                                    <p:cond delay="500"/>
                                  </p:stCondLst>
                                  <p:childTnLst>
                                    <p:set>
                                      <p:cBhvr>
                                        <p:cTn id="9" dur="1" fill="hold">
                                          <p:stCondLst>
                                            <p:cond delay="0"/>
                                          </p:stCondLst>
                                        </p:cTn>
                                        <p:tgtEl>
                                          <p:spTgt spid="2"/>
                                        </p:tgtEl>
                                        <p:attrNameLst>
                                          <p:attrName>style.visibility</p:attrName>
                                        </p:attrNameLst>
                                      </p:cBhvr>
                                      <p:to>
                                        <p:strVal val="visible"/>
                                      </p:to>
                                    </p:set>
                                    <p:anim calcmode="lin" valueType="num">
                                      <p:cBhvr>
                                        <p:cTn id="10" dur="1000" fill="hold"/>
                                        <p:tgtEl>
                                          <p:spTgt spid="2"/>
                                        </p:tgtEl>
                                        <p:attrNameLst>
                                          <p:attrName>ppt_w</p:attrName>
                                        </p:attrNameLst>
                                      </p:cBhvr>
                                      <p:tavLst>
                                        <p:tav tm="0">
                                          <p:val>
                                            <p:fltVal val="0"/>
                                          </p:val>
                                        </p:tav>
                                        <p:tav tm="100000">
                                          <p:val>
                                            <p:strVal val="#ppt_w"/>
                                          </p:val>
                                        </p:tav>
                                      </p:tavLst>
                                    </p:anim>
                                    <p:anim calcmode="lin" valueType="num">
                                      <p:cBhvr>
                                        <p:cTn id="11" dur="1000" fill="hold"/>
                                        <p:tgtEl>
                                          <p:spTgt spid="2"/>
                                        </p:tgtEl>
                                        <p:attrNameLst>
                                          <p:attrName>ppt_h</p:attrName>
                                        </p:attrNameLst>
                                      </p:cBhvr>
                                      <p:tavLst>
                                        <p:tav tm="0">
                                          <p:val>
                                            <p:fltVal val="0"/>
                                          </p:val>
                                        </p:tav>
                                        <p:tav tm="100000">
                                          <p:val>
                                            <p:strVal val="#ppt_h"/>
                                          </p:val>
                                        </p:tav>
                                      </p:tavLst>
                                    </p:anim>
                                    <p:anim calcmode="lin" valueType="num">
                                      <p:cBhvr>
                                        <p:cTn id="12" dur="1000" fill="hold"/>
                                        <p:tgtEl>
                                          <p:spTgt spid="2"/>
                                        </p:tgtEl>
                                        <p:attrNameLst>
                                          <p:attrName>style.rotation</p:attrName>
                                        </p:attrNameLst>
                                      </p:cBhvr>
                                      <p:tavLst>
                                        <p:tav tm="0">
                                          <p:val>
                                            <p:fltVal val="90"/>
                                          </p:val>
                                        </p:tav>
                                        <p:tav tm="100000">
                                          <p:val>
                                            <p:fltVal val="0"/>
                                          </p:val>
                                        </p:tav>
                                      </p:tavLst>
                                    </p:anim>
                                    <p:animEffect transition="in" filter="fade">
                                      <p:cBhvr>
                                        <p:cTn id="13" dur="1000"/>
                                        <p:tgtEl>
                                          <p:spTgt spid="2"/>
                                        </p:tgtEl>
                                      </p:cBhvr>
                                    </p:animEffect>
                                  </p:childTnLst>
                                </p:cTn>
                              </p:par>
                            </p:childTnLst>
                          </p:cTn>
                        </p:par>
                        <p:par>
                          <p:cTn id="14" fill="hold">
                            <p:stCondLst>
                              <p:cond delay="1500"/>
                            </p:stCondLst>
                            <p:childTnLst>
                              <p:par>
                                <p:cTn id="15" presetID="53" presetClass="entr" presetSubtype="16" fill="hold" nodeType="afterEffect">
                                  <p:stCondLst>
                                    <p:cond delay="250"/>
                                  </p:stCondLst>
                                  <p:childTnLst>
                                    <p:set>
                                      <p:cBhvr>
                                        <p:cTn id="16" dur="1" fill="hold">
                                          <p:stCondLst>
                                            <p:cond delay="0"/>
                                          </p:stCondLst>
                                        </p:cTn>
                                        <p:tgtEl>
                                          <p:spTgt spid="6"/>
                                        </p:tgtEl>
                                        <p:attrNameLst>
                                          <p:attrName>style.visibility</p:attrName>
                                        </p:attrNameLst>
                                      </p:cBhvr>
                                      <p:to>
                                        <p:strVal val="visible"/>
                                      </p:to>
                                    </p:set>
                                    <p:anim calcmode="lin" valueType="num">
                                      <p:cBhvr>
                                        <p:cTn id="17" dur="500" fill="hold"/>
                                        <p:tgtEl>
                                          <p:spTgt spid="6"/>
                                        </p:tgtEl>
                                        <p:attrNameLst>
                                          <p:attrName>ppt_w</p:attrName>
                                        </p:attrNameLst>
                                      </p:cBhvr>
                                      <p:tavLst>
                                        <p:tav tm="0">
                                          <p:val>
                                            <p:fltVal val="0"/>
                                          </p:val>
                                        </p:tav>
                                        <p:tav tm="100000">
                                          <p:val>
                                            <p:strVal val="#ppt_w"/>
                                          </p:val>
                                        </p:tav>
                                      </p:tavLst>
                                    </p:anim>
                                    <p:anim calcmode="lin" valueType="num">
                                      <p:cBhvr>
                                        <p:cTn id="18" dur="500" fill="hold"/>
                                        <p:tgtEl>
                                          <p:spTgt spid="6"/>
                                        </p:tgtEl>
                                        <p:attrNameLst>
                                          <p:attrName>ppt_h</p:attrName>
                                        </p:attrNameLst>
                                      </p:cBhvr>
                                      <p:tavLst>
                                        <p:tav tm="0">
                                          <p:val>
                                            <p:fltVal val="0"/>
                                          </p:val>
                                        </p:tav>
                                        <p:tav tm="100000">
                                          <p:val>
                                            <p:strVal val="#ppt_h"/>
                                          </p:val>
                                        </p:tav>
                                      </p:tavLst>
                                    </p:anim>
                                    <p:animEffect transition="in" filter="fade">
                                      <p:cBhvr>
                                        <p:cTn id="19" dur="500"/>
                                        <p:tgtEl>
                                          <p:spTgt spid="6"/>
                                        </p:tgtEl>
                                      </p:cBhvr>
                                    </p:animEffect>
                                  </p:childTnLst>
                                </p:cTn>
                              </p:par>
                            </p:childTnLst>
                          </p:cTn>
                        </p:par>
                        <p:par>
                          <p:cTn id="20" fill="hold">
                            <p:stCondLst>
                              <p:cond delay="2250"/>
                            </p:stCondLst>
                            <p:childTnLst>
                              <p:par>
                                <p:cTn id="21" presetID="2" presetClass="entr" presetSubtype="4" fill="hold" grpId="0" nodeType="afterEffect">
                                  <p:stCondLst>
                                    <p:cond delay="25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500" fill="hold"/>
                                        <p:tgtEl>
                                          <p:spTgt spid="3"/>
                                        </p:tgtEl>
                                        <p:attrNameLst>
                                          <p:attrName>ppt_x</p:attrName>
                                        </p:attrNameLst>
                                      </p:cBhvr>
                                      <p:tavLst>
                                        <p:tav tm="0">
                                          <p:val>
                                            <p:strVal val="#ppt_x"/>
                                          </p:val>
                                        </p:tav>
                                        <p:tav tm="100000">
                                          <p:val>
                                            <p:strVal val="#ppt_x"/>
                                          </p:val>
                                        </p:tav>
                                      </p:tavLst>
                                    </p:anim>
                                    <p:anim calcmode="lin" valueType="num">
                                      <p:cBhvr additive="base">
                                        <p:cTn id="2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C0EB53CC-DED4-6B4D-82C5-CBD8A9492FDC}"/>
              </a:ext>
            </a:extLst>
          </p:cNvPr>
          <p:cNvGrpSpPr/>
          <p:nvPr/>
        </p:nvGrpSpPr>
        <p:grpSpPr>
          <a:xfrm>
            <a:off x="0" y="141563"/>
            <a:ext cx="12192000" cy="6716437"/>
            <a:chOff x="-11723" y="153285"/>
            <a:chExt cx="12192000" cy="6716437"/>
          </a:xfrm>
        </p:grpSpPr>
        <p:pic>
          <p:nvPicPr>
            <p:cNvPr id="13" name="Picture 2">
              <a:extLst>
                <a:ext uri="{FF2B5EF4-FFF2-40B4-BE49-F238E27FC236}">
                  <a16:creationId xmlns:a16="http://schemas.microsoft.com/office/drawing/2014/main" id="{818B8C9C-C958-856D-BAF7-C70A81F19B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6868" y="153285"/>
              <a:ext cx="562843" cy="295242"/>
            </a:xfrm>
            <a:prstGeom prst="rect">
              <a:avLst/>
            </a:prstGeom>
            <a:noFill/>
            <a:extLst>
              <a:ext uri="{909E8E84-426E-40DD-AFC4-6F175D3DCCD1}">
                <a14:hiddenFill xmlns:a14="http://schemas.microsoft.com/office/drawing/2010/main">
                  <a:solidFill>
                    <a:srgbClr val="FFFFFF"/>
                  </a:solidFill>
                </a14:hiddenFill>
              </a:ext>
            </a:extLst>
          </p:spPr>
        </p:pic>
        <p:sp>
          <p:nvSpPr>
            <p:cNvPr id="14" name="Arrow: Pentagon 13">
              <a:extLst>
                <a:ext uri="{FF2B5EF4-FFF2-40B4-BE49-F238E27FC236}">
                  <a16:creationId xmlns:a16="http://schemas.microsoft.com/office/drawing/2014/main" id="{D7C3F4FC-5953-EA50-CF23-A598AECDEA8C}"/>
                </a:ext>
              </a:extLst>
            </p:cNvPr>
            <p:cNvSpPr/>
            <p:nvPr/>
          </p:nvSpPr>
          <p:spPr>
            <a:xfrm flipV="1">
              <a:off x="-11723" y="6517340"/>
              <a:ext cx="12192000" cy="352382"/>
            </a:xfrm>
            <a:prstGeom prst="homePlate">
              <a:avLst/>
            </a:prstGeom>
            <a:gradFill flip="none" rotWithShape="1">
              <a:gsLst>
                <a:gs pos="0">
                  <a:schemeClr val="accent1">
                    <a:lumMod val="0"/>
                    <a:lumOff val="100000"/>
                  </a:schemeClr>
                </a:gs>
                <a:gs pos="46000">
                  <a:schemeClr val="accent1">
                    <a:lumMod val="0"/>
                    <a:lumOff val="100000"/>
                  </a:schemeClr>
                </a:gs>
                <a:gs pos="100000">
                  <a:schemeClr val="accent1">
                    <a:lumMod val="100000"/>
                  </a:schemeClr>
                </a:gs>
              </a:gsLst>
              <a:path path="rect">
                <a:fillToRect l="100000" t="100000"/>
              </a:path>
              <a:tileRect r="-100000" b="-100000"/>
            </a:gra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pic>
        <p:nvPicPr>
          <p:cNvPr id="15" name="Picture 14">
            <a:extLst>
              <a:ext uri="{FF2B5EF4-FFF2-40B4-BE49-F238E27FC236}">
                <a16:creationId xmlns:a16="http://schemas.microsoft.com/office/drawing/2014/main" id="{1B4145E9-7F7E-A844-442F-0C0DD45B37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4132" y="87352"/>
            <a:ext cx="677800" cy="427309"/>
          </a:xfrm>
          <a:prstGeom prst="rect">
            <a:avLst/>
          </a:prstGeom>
        </p:spPr>
      </p:pic>
      <p:pic>
        <p:nvPicPr>
          <p:cNvPr id="16" name="Picture 15">
            <a:extLst>
              <a:ext uri="{FF2B5EF4-FFF2-40B4-BE49-F238E27FC236}">
                <a16:creationId xmlns:a16="http://schemas.microsoft.com/office/drawing/2014/main" id="{7A507078-E7E5-D183-2BD7-3A314458F84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80495" y="123670"/>
            <a:ext cx="777382" cy="330387"/>
          </a:xfrm>
          <a:prstGeom prst="rect">
            <a:avLst/>
          </a:prstGeom>
        </p:spPr>
      </p:pic>
      <p:sp>
        <p:nvSpPr>
          <p:cNvPr id="2" name="TextBox 1">
            <a:extLst>
              <a:ext uri="{FF2B5EF4-FFF2-40B4-BE49-F238E27FC236}">
                <a16:creationId xmlns:a16="http://schemas.microsoft.com/office/drawing/2014/main" id="{52B824EB-8601-021A-884F-BA41A6A6952B}"/>
              </a:ext>
            </a:extLst>
          </p:cNvPr>
          <p:cNvSpPr txBox="1"/>
          <p:nvPr/>
        </p:nvSpPr>
        <p:spPr>
          <a:xfrm>
            <a:off x="475496" y="669480"/>
            <a:ext cx="4053371" cy="584775"/>
          </a:xfrm>
          <a:prstGeom prst="rect">
            <a:avLst/>
          </a:prstGeom>
          <a:noFill/>
        </p:spPr>
        <p:txBody>
          <a:bodyPr wrap="square" rtlCol="0">
            <a:spAutoFit/>
          </a:bodyPr>
          <a:lstStyle/>
          <a:p>
            <a:r>
              <a:rPr lang="en-ZA" sz="3200" b="1" dirty="0"/>
              <a:t>Candidate interaction</a:t>
            </a:r>
            <a:endParaRPr lang="en-GB" sz="3200" b="1" dirty="0"/>
          </a:p>
        </p:txBody>
      </p:sp>
      <p:sp>
        <p:nvSpPr>
          <p:cNvPr id="3" name="TextBox 2">
            <a:extLst>
              <a:ext uri="{FF2B5EF4-FFF2-40B4-BE49-F238E27FC236}">
                <a16:creationId xmlns:a16="http://schemas.microsoft.com/office/drawing/2014/main" id="{BBDFA455-4592-B284-5276-463E8446269B}"/>
              </a:ext>
            </a:extLst>
          </p:cNvPr>
          <p:cNvSpPr txBox="1"/>
          <p:nvPr/>
        </p:nvSpPr>
        <p:spPr>
          <a:xfrm>
            <a:off x="475497" y="2017953"/>
            <a:ext cx="3703482" cy="2031325"/>
          </a:xfrm>
          <a:prstGeom prst="rect">
            <a:avLst/>
          </a:prstGeom>
          <a:noFill/>
        </p:spPr>
        <p:txBody>
          <a:bodyPr wrap="square" rtlCol="0">
            <a:spAutoFit/>
          </a:bodyPr>
          <a:lstStyle/>
          <a:p>
            <a:r>
              <a:rPr lang="en-GB" b="1" dirty="0"/>
              <a:t>This candidate page is rendered for a company user, but also for a Skills Registry admin, which has the additional facility of a 10 star content rating widget – which orders the candidate positions in the search result.</a:t>
            </a:r>
          </a:p>
        </p:txBody>
      </p:sp>
      <p:pic>
        <p:nvPicPr>
          <p:cNvPr id="7" name="Picture 6">
            <a:extLst>
              <a:ext uri="{FF2B5EF4-FFF2-40B4-BE49-F238E27FC236}">
                <a16:creationId xmlns:a16="http://schemas.microsoft.com/office/drawing/2014/main" id="{B5F5A121-60A5-E3CC-431C-649594DCA85F}"/>
              </a:ext>
            </a:extLst>
          </p:cNvPr>
          <p:cNvPicPr>
            <a:picLocks noChangeAspect="1"/>
          </p:cNvPicPr>
          <p:nvPr/>
        </p:nvPicPr>
        <p:blipFill>
          <a:blip r:embed="rId5"/>
          <a:stretch>
            <a:fillRect/>
          </a:stretch>
        </p:blipFill>
        <p:spPr>
          <a:xfrm>
            <a:off x="5604738" y="87352"/>
            <a:ext cx="6111765" cy="6234545"/>
          </a:xfrm>
          <a:prstGeom prst="rect">
            <a:avLst/>
          </a:prstGeom>
        </p:spPr>
      </p:pic>
    </p:spTree>
    <p:extLst>
      <p:ext uri="{BB962C8B-B14F-4D97-AF65-F5344CB8AC3E}">
        <p14:creationId xmlns:p14="http://schemas.microsoft.com/office/powerpoint/2010/main" val="155954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par>
                          <p:cTn id="7" fill="hold">
                            <p:stCondLst>
                              <p:cond delay="0"/>
                            </p:stCondLst>
                            <p:childTnLst>
                              <p:par>
                                <p:cTn id="8" presetID="31" presetClass="entr" presetSubtype="0" fill="hold" grpId="0" nodeType="afterEffect">
                                  <p:stCondLst>
                                    <p:cond delay="500"/>
                                  </p:stCondLst>
                                  <p:childTnLst>
                                    <p:set>
                                      <p:cBhvr>
                                        <p:cTn id="9" dur="1" fill="hold">
                                          <p:stCondLst>
                                            <p:cond delay="0"/>
                                          </p:stCondLst>
                                        </p:cTn>
                                        <p:tgtEl>
                                          <p:spTgt spid="2"/>
                                        </p:tgtEl>
                                        <p:attrNameLst>
                                          <p:attrName>style.visibility</p:attrName>
                                        </p:attrNameLst>
                                      </p:cBhvr>
                                      <p:to>
                                        <p:strVal val="visible"/>
                                      </p:to>
                                    </p:set>
                                    <p:anim calcmode="lin" valueType="num">
                                      <p:cBhvr>
                                        <p:cTn id="10" dur="1000" fill="hold"/>
                                        <p:tgtEl>
                                          <p:spTgt spid="2"/>
                                        </p:tgtEl>
                                        <p:attrNameLst>
                                          <p:attrName>ppt_w</p:attrName>
                                        </p:attrNameLst>
                                      </p:cBhvr>
                                      <p:tavLst>
                                        <p:tav tm="0">
                                          <p:val>
                                            <p:fltVal val="0"/>
                                          </p:val>
                                        </p:tav>
                                        <p:tav tm="100000">
                                          <p:val>
                                            <p:strVal val="#ppt_w"/>
                                          </p:val>
                                        </p:tav>
                                      </p:tavLst>
                                    </p:anim>
                                    <p:anim calcmode="lin" valueType="num">
                                      <p:cBhvr>
                                        <p:cTn id="11" dur="1000" fill="hold"/>
                                        <p:tgtEl>
                                          <p:spTgt spid="2"/>
                                        </p:tgtEl>
                                        <p:attrNameLst>
                                          <p:attrName>ppt_h</p:attrName>
                                        </p:attrNameLst>
                                      </p:cBhvr>
                                      <p:tavLst>
                                        <p:tav tm="0">
                                          <p:val>
                                            <p:fltVal val="0"/>
                                          </p:val>
                                        </p:tav>
                                        <p:tav tm="100000">
                                          <p:val>
                                            <p:strVal val="#ppt_h"/>
                                          </p:val>
                                        </p:tav>
                                      </p:tavLst>
                                    </p:anim>
                                    <p:anim calcmode="lin" valueType="num">
                                      <p:cBhvr>
                                        <p:cTn id="12" dur="1000" fill="hold"/>
                                        <p:tgtEl>
                                          <p:spTgt spid="2"/>
                                        </p:tgtEl>
                                        <p:attrNameLst>
                                          <p:attrName>style.rotation</p:attrName>
                                        </p:attrNameLst>
                                      </p:cBhvr>
                                      <p:tavLst>
                                        <p:tav tm="0">
                                          <p:val>
                                            <p:fltVal val="90"/>
                                          </p:val>
                                        </p:tav>
                                        <p:tav tm="100000">
                                          <p:val>
                                            <p:fltVal val="0"/>
                                          </p:val>
                                        </p:tav>
                                      </p:tavLst>
                                    </p:anim>
                                    <p:animEffect transition="in" filter="fade">
                                      <p:cBhvr>
                                        <p:cTn id="13" dur="1000"/>
                                        <p:tgtEl>
                                          <p:spTgt spid="2"/>
                                        </p:tgtEl>
                                      </p:cBhvr>
                                    </p:animEffect>
                                  </p:childTnLst>
                                </p:cTn>
                              </p:par>
                            </p:childTnLst>
                          </p:cTn>
                        </p:par>
                        <p:par>
                          <p:cTn id="14" fill="hold">
                            <p:stCondLst>
                              <p:cond delay="1500"/>
                            </p:stCondLst>
                            <p:childTnLst>
                              <p:par>
                                <p:cTn id="15" presetID="2" presetClass="entr" presetSubtype="4" fill="hold" nodeType="afterEffect">
                                  <p:stCondLst>
                                    <p:cond delay="25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childTnLst>
                          </p:cTn>
                        </p:par>
                        <p:par>
                          <p:cTn id="19" fill="hold">
                            <p:stCondLst>
                              <p:cond delay="2250"/>
                            </p:stCondLst>
                            <p:childTnLst>
                              <p:par>
                                <p:cTn id="20" presetID="2" presetClass="entr" presetSubtype="4" fill="hold" grpId="0" nodeType="afterEffect">
                                  <p:stCondLst>
                                    <p:cond delay="0"/>
                                  </p:stCondLst>
                                  <p:childTnLst>
                                    <p:set>
                                      <p:cBhvr>
                                        <p:cTn id="21" dur="1" fill="hold">
                                          <p:stCondLst>
                                            <p:cond delay="0"/>
                                          </p:stCondLst>
                                        </p:cTn>
                                        <p:tgtEl>
                                          <p:spTgt spid="3"/>
                                        </p:tgtEl>
                                        <p:attrNameLst>
                                          <p:attrName>style.visibility</p:attrName>
                                        </p:attrNameLst>
                                      </p:cBhvr>
                                      <p:to>
                                        <p:strVal val="visible"/>
                                      </p:to>
                                    </p:set>
                                    <p:anim calcmode="lin" valueType="num">
                                      <p:cBhvr additive="base">
                                        <p:cTn id="22" dur="500" fill="hold"/>
                                        <p:tgtEl>
                                          <p:spTgt spid="3"/>
                                        </p:tgtEl>
                                        <p:attrNameLst>
                                          <p:attrName>ppt_x</p:attrName>
                                        </p:attrNameLst>
                                      </p:cBhvr>
                                      <p:tavLst>
                                        <p:tav tm="0">
                                          <p:val>
                                            <p:strVal val="#ppt_x"/>
                                          </p:val>
                                        </p:tav>
                                        <p:tav tm="100000">
                                          <p:val>
                                            <p:strVal val="#ppt_x"/>
                                          </p:val>
                                        </p:tav>
                                      </p:tavLst>
                                    </p:anim>
                                    <p:anim calcmode="lin" valueType="num">
                                      <p:cBhvr additive="base">
                                        <p:cTn id="2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C0EB53CC-DED4-6B4D-82C5-CBD8A9492FDC}"/>
              </a:ext>
            </a:extLst>
          </p:cNvPr>
          <p:cNvGrpSpPr/>
          <p:nvPr/>
        </p:nvGrpSpPr>
        <p:grpSpPr>
          <a:xfrm>
            <a:off x="0" y="141563"/>
            <a:ext cx="12192000" cy="6716437"/>
            <a:chOff x="-11723" y="153285"/>
            <a:chExt cx="12192000" cy="6716437"/>
          </a:xfrm>
        </p:grpSpPr>
        <p:pic>
          <p:nvPicPr>
            <p:cNvPr id="13" name="Picture 2">
              <a:extLst>
                <a:ext uri="{FF2B5EF4-FFF2-40B4-BE49-F238E27FC236}">
                  <a16:creationId xmlns:a16="http://schemas.microsoft.com/office/drawing/2014/main" id="{818B8C9C-C958-856D-BAF7-C70A81F19B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6868" y="153285"/>
              <a:ext cx="562843" cy="295242"/>
            </a:xfrm>
            <a:prstGeom prst="rect">
              <a:avLst/>
            </a:prstGeom>
            <a:noFill/>
            <a:extLst>
              <a:ext uri="{909E8E84-426E-40DD-AFC4-6F175D3DCCD1}">
                <a14:hiddenFill xmlns:a14="http://schemas.microsoft.com/office/drawing/2010/main">
                  <a:solidFill>
                    <a:srgbClr val="FFFFFF"/>
                  </a:solidFill>
                </a14:hiddenFill>
              </a:ext>
            </a:extLst>
          </p:spPr>
        </p:pic>
        <p:sp>
          <p:nvSpPr>
            <p:cNvPr id="14" name="Arrow: Pentagon 13">
              <a:extLst>
                <a:ext uri="{FF2B5EF4-FFF2-40B4-BE49-F238E27FC236}">
                  <a16:creationId xmlns:a16="http://schemas.microsoft.com/office/drawing/2014/main" id="{D7C3F4FC-5953-EA50-CF23-A598AECDEA8C}"/>
                </a:ext>
              </a:extLst>
            </p:cNvPr>
            <p:cNvSpPr/>
            <p:nvPr/>
          </p:nvSpPr>
          <p:spPr>
            <a:xfrm flipV="1">
              <a:off x="-11723" y="6517340"/>
              <a:ext cx="12192000" cy="352382"/>
            </a:xfrm>
            <a:prstGeom prst="homePlate">
              <a:avLst/>
            </a:prstGeom>
            <a:gradFill flip="none" rotWithShape="1">
              <a:gsLst>
                <a:gs pos="0">
                  <a:schemeClr val="accent1">
                    <a:lumMod val="0"/>
                    <a:lumOff val="100000"/>
                  </a:schemeClr>
                </a:gs>
                <a:gs pos="46000">
                  <a:schemeClr val="accent1">
                    <a:lumMod val="0"/>
                    <a:lumOff val="100000"/>
                  </a:schemeClr>
                </a:gs>
                <a:gs pos="100000">
                  <a:schemeClr val="accent1">
                    <a:lumMod val="100000"/>
                  </a:schemeClr>
                </a:gs>
              </a:gsLst>
              <a:path path="rect">
                <a:fillToRect l="100000" t="100000"/>
              </a:path>
              <a:tileRect r="-100000" b="-100000"/>
            </a:gra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pic>
        <p:nvPicPr>
          <p:cNvPr id="15" name="Picture 14">
            <a:extLst>
              <a:ext uri="{FF2B5EF4-FFF2-40B4-BE49-F238E27FC236}">
                <a16:creationId xmlns:a16="http://schemas.microsoft.com/office/drawing/2014/main" id="{1B4145E9-7F7E-A844-442F-0C0DD45B37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4132" y="87352"/>
            <a:ext cx="677800" cy="427309"/>
          </a:xfrm>
          <a:prstGeom prst="rect">
            <a:avLst/>
          </a:prstGeom>
        </p:spPr>
      </p:pic>
      <p:pic>
        <p:nvPicPr>
          <p:cNvPr id="16" name="Picture 15">
            <a:extLst>
              <a:ext uri="{FF2B5EF4-FFF2-40B4-BE49-F238E27FC236}">
                <a16:creationId xmlns:a16="http://schemas.microsoft.com/office/drawing/2014/main" id="{7A507078-E7E5-D183-2BD7-3A314458F84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80495" y="123670"/>
            <a:ext cx="777382" cy="330387"/>
          </a:xfrm>
          <a:prstGeom prst="rect">
            <a:avLst/>
          </a:prstGeom>
        </p:spPr>
      </p:pic>
      <p:sp>
        <p:nvSpPr>
          <p:cNvPr id="2" name="TextBox 1">
            <a:extLst>
              <a:ext uri="{FF2B5EF4-FFF2-40B4-BE49-F238E27FC236}">
                <a16:creationId xmlns:a16="http://schemas.microsoft.com/office/drawing/2014/main" id="{52B824EB-8601-021A-884F-BA41A6A6952B}"/>
              </a:ext>
            </a:extLst>
          </p:cNvPr>
          <p:cNvSpPr txBox="1"/>
          <p:nvPr/>
        </p:nvSpPr>
        <p:spPr>
          <a:xfrm>
            <a:off x="475496" y="669480"/>
            <a:ext cx="4053371" cy="584775"/>
          </a:xfrm>
          <a:prstGeom prst="rect">
            <a:avLst/>
          </a:prstGeom>
          <a:noFill/>
        </p:spPr>
        <p:txBody>
          <a:bodyPr wrap="square" rtlCol="0">
            <a:spAutoFit/>
          </a:bodyPr>
          <a:lstStyle/>
          <a:p>
            <a:r>
              <a:rPr lang="en-ZA" sz="3200" b="1" dirty="0"/>
              <a:t>Candidate profile</a:t>
            </a:r>
            <a:endParaRPr lang="en-GB" sz="3200" b="1" dirty="0"/>
          </a:p>
        </p:txBody>
      </p:sp>
      <p:sp>
        <p:nvSpPr>
          <p:cNvPr id="3" name="TextBox 2">
            <a:extLst>
              <a:ext uri="{FF2B5EF4-FFF2-40B4-BE49-F238E27FC236}">
                <a16:creationId xmlns:a16="http://schemas.microsoft.com/office/drawing/2014/main" id="{BBDFA455-4592-B284-5276-463E8446269B}"/>
              </a:ext>
            </a:extLst>
          </p:cNvPr>
          <p:cNvSpPr txBox="1"/>
          <p:nvPr/>
        </p:nvSpPr>
        <p:spPr>
          <a:xfrm>
            <a:off x="475497" y="1474495"/>
            <a:ext cx="4329416" cy="369332"/>
          </a:xfrm>
          <a:prstGeom prst="rect">
            <a:avLst/>
          </a:prstGeom>
          <a:noFill/>
        </p:spPr>
        <p:txBody>
          <a:bodyPr wrap="square" rtlCol="0">
            <a:spAutoFit/>
          </a:bodyPr>
          <a:lstStyle/>
          <a:p>
            <a:r>
              <a:rPr lang="en-GB" b="1" dirty="0"/>
              <a:t>… Continued from the previous page…</a:t>
            </a:r>
          </a:p>
        </p:txBody>
      </p:sp>
      <p:pic>
        <p:nvPicPr>
          <p:cNvPr id="5" name="Picture 4">
            <a:extLst>
              <a:ext uri="{FF2B5EF4-FFF2-40B4-BE49-F238E27FC236}">
                <a16:creationId xmlns:a16="http://schemas.microsoft.com/office/drawing/2014/main" id="{6E651601-CA48-FB45-6586-2537D09CEC5D}"/>
              </a:ext>
            </a:extLst>
          </p:cNvPr>
          <p:cNvPicPr>
            <a:picLocks noChangeAspect="1"/>
          </p:cNvPicPr>
          <p:nvPr/>
        </p:nvPicPr>
        <p:blipFill>
          <a:blip r:embed="rId5"/>
          <a:stretch>
            <a:fillRect/>
          </a:stretch>
        </p:blipFill>
        <p:spPr>
          <a:xfrm>
            <a:off x="5902820" y="123670"/>
            <a:ext cx="6131552" cy="6234545"/>
          </a:xfrm>
          <a:prstGeom prst="rect">
            <a:avLst/>
          </a:prstGeom>
        </p:spPr>
      </p:pic>
      <p:pic>
        <p:nvPicPr>
          <p:cNvPr id="7" name="Picture 4">
            <a:extLst>
              <a:ext uri="{FF2B5EF4-FFF2-40B4-BE49-F238E27FC236}">
                <a16:creationId xmlns:a16="http://schemas.microsoft.com/office/drawing/2014/main" id="{57197AA3-0244-9D78-1BF1-DA8684A6EF1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26312" y="88838"/>
            <a:ext cx="1381125" cy="40005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1EDA8E09-3E24-18C3-8004-1DA77A5CD0C9}"/>
              </a:ext>
            </a:extLst>
          </p:cNvPr>
          <p:cNvSpPr txBox="1"/>
          <p:nvPr/>
        </p:nvSpPr>
        <p:spPr>
          <a:xfrm>
            <a:off x="475495" y="2084540"/>
            <a:ext cx="4398429" cy="646331"/>
          </a:xfrm>
          <a:prstGeom prst="rect">
            <a:avLst/>
          </a:prstGeom>
          <a:noFill/>
        </p:spPr>
        <p:txBody>
          <a:bodyPr wrap="square" rtlCol="0">
            <a:spAutoFit/>
          </a:bodyPr>
          <a:lstStyle/>
          <a:p>
            <a:r>
              <a:rPr lang="en-GB" dirty="0"/>
              <a:t>Motivation, CV and other attachments, industry occupation and work experience</a:t>
            </a:r>
          </a:p>
        </p:txBody>
      </p:sp>
      <p:sp>
        <p:nvSpPr>
          <p:cNvPr id="10" name="TextBox 9">
            <a:extLst>
              <a:ext uri="{FF2B5EF4-FFF2-40B4-BE49-F238E27FC236}">
                <a16:creationId xmlns:a16="http://schemas.microsoft.com/office/drawing/2014/main" id="{96137765-F7E6-60A6-D2C6-609FBC154EA3}"/>
              </a:ext>
            </a:extLst>
          </p:cNvPr>
          <p:cNvSpPr txBox="1"/>
          <p:nvPr/>
        </p:nvSpPr>
        <p:spPr>
          <a:xfrm>
            <a:off x="475496" y="3155273"/>
            <a:ext cx="4131010" cy="369332"/>
          </a:xfrm>
          <a:prstGeom prst="rect">
            <a:avLst/>
          </a:prstGeom>
          <a:noFill/>
        </p:spPr>
        <p:txBody>
          <a:bodyPr wrap="square" rtlCol="0">
            <a:spAutoFit/>
          </a:bodyPr>
          <a:lstStyle/>
          <a:p>
            <a:r>
              <a:rPr lang="en-GB" b="1" dirty="0"/>
              <a:t>Skill categories selected… and self-rated</a:t>
            </a:r>
          </a:p>
        </p:txBody>
      </p:sp>
      <p:sp>
        <p:nvSpPr>
          <p:cNvPr id="11" name="Arrow: Right 10">
            <a:extLst>
              <a:ext uri="{FF2B5EF4-FFF2-40B4-BE49-F238E27FC236}">
                <a16:creationId xmlns:a16="http://schemas.microsoft.com/office/drawing/2014/main" id="{C82EC5F7-F68D-B5E1-45DF-5AB254F90679}"/>
              </a:ext>
            </a:extLst>
          </p:cNvPr>
          <p:cNvSpPr/>
          <p:nvPr/>
        </p:nvSpPr>
        <p:spPr>
          <a:xfrm>
            <a:off x="4408098" y="3240942"/>
            <a:ext cx="1494721" cy="21029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7" name="TextBox 16">
            <a:extLst>
              <a:ext uri="{FF2B5EF4-FFF2-40B4-BE49-F238E27FC236}">
                <a16:creationId xmlns:a16="http://schemas.microsoft.com/office/drawing/2014/main" id="{D2F67D43-6BDA-F3A6-0A2B-229DD04B0193}"/>
              </a:ext>
            </a:extLst>
          </p:cNvPr>
          <p:cNvSpPr txBox="1"/>
          <p:nvPr/>
        </p:nvSpPr>
        <p:spPr>
          <a:xfrm>
            <a:off x="462555" y="4050602"/>
            <a:ext cx="4131010" cy="369332"/>
          </a:xfrm>
          <a:prstGeom prst="rect">
            <a:avLst/>
          </a:prstGeom>
          <a:noFill/>
        </p:spPr>
        <p:txBody>
          <a:bodyPr wrap="square" rtlCol="0">
            <a:spAutoFit/>
          </a:bodyPr>
          <a:lstStyle/>
          <a:p>
            <a:r>
              <a:rPr lang="en-GB" b="1" dirty="0"/>
              <a:t>Specific skills / experience…</a:t>
            </a:r>
          </a:p>
        </p:txBody>
      </p:sp>
      <p:sp>
        <p:nvSpPr>
          <p:cNvPr id="18" name="Arrow: Right 17">
            <a:extLst>
              <a:ext uri="{FF2B5EF4-FFF2-40B4-BE49-F238E27FC236}">
                <a16:creationId xmlns:a16="http://schemas.microsoft.com/office/drawing/2014/main" id="{290D4A1E-A44A-8FF9-131C-F803B6DC7F99}"/>
              </a:ext>
            </a:extLst>
          </p:cNvPr>
          <p:cNvSpPr/>
          <p:nvPr/>
        </p:nvSpPr>
        <p:spPr>
          <a:xfrm>
            <a:off x="3217653" y="4136271"/>
            <a:ext cx="2672225" cy="21029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9" name="TextBox 18">
            <a:extLst>
              <a:ext uri="{FF2B5EF4-FFF2-40B4-BE49-F238E27FC236}">
                <a16:creationId xmlns:a16="http://schemas.microsoft.com/office/drawing/2014/main" id="{A8CABE38-9D98-633D-CA80-CB5DC36FC6C3}"/>
              </a:ext>
            </a:extLst>
          </p:cNvPr>
          <p:cNvSpPr txBox="1"/>
          <p:nvPr/>
        </p:nvSpPr>
        <p:spPr>
          <a:xfrm>
            <a:off x="436676" y="4595881"/>
            <a:ext cx="4131010" cy="369332"/>
          </a:xfrm>
          <a:prstGeom prst="rect">
            <a:avLst/>
          </a:prstGeom>
          <a:noFill/>
        </p:spPr>
        <p:txBody>
          <a:bodyPr wrap="square" rtlCol="0">
            <a:spAutoFit/>
          </a:bodyPr>
          <a:lstStyle/>
          <a:p>
            <a:r>
              <a:rPr lang="en-GB" b="1" dirty="0"/>
              <a:t>Company user can add to shortlist</a:t>
            </a:r>
          </a:p>
        </p:txBody>
      </p:sp>
      <p:sp>
        <p:nvSpPr>
          <p:cNvPr id="20" name="Arrow: Right 19">
            <a:extLst>
              <a:ext uri="{FF2B5EF4-FFF2-40B4-BE49-F238E27FC236}">
                <a16:creationId xmlns:a16="http://schemas.microsoft.com/office/drawing/2014/main" id="{54122E2C-D2A1-D5B5-98F9-869FDD196AC8}"/>
              </a:ext>
            </a:extLst>
          </p:cNvPr>
          <p:cNvSpPr/>
          <p:nvPr/>
        </p:nvSpPr>
        <p:spPr>
          <a:xfrm>
            <a:off x="4013241" y="4685483"/>
            <a:ext cx="2082759" cy="21029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1" name="Arrow: Right 20">
            <a:extLst>
              <a:ext uri="{FF2B5EF4-FFF2-40B4-BE49-F238E27FC236}">
                <a16:creationId xmlns:a16="http://schemas.microsoft.com/office/drawing/2014/main" id="{C1B5D8E4-F27C-0F57-49EB-A72A8DA33966}"/>
              </a:ext>
            </a:extLst>
          </p:cNvPr>
          <p:cNvSpPr/>
          <p:nvPr/>
        </p:nvSpPr>
        <p:spPr>
          <a:xfrm rot="899555">
            <a:off x="7288924" y="5202944"/>
            <a:ext cx="4029537" cy="21029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2" name="TextBox 21">
            <a:extLst>
              <a:ext uri="{FF2B5EF4-FFF2-40B4-BE49-F238E27FC236}">
                <a16:creationId xmlns:a16="http://schemas.microsoft.com/office/drawing/2014/main" id="{6EDE9776-3B90-C2C3-9B48-CE8FC36C23CE}"/>
              </a:ext>
            </a:extLst>
          </p:cNvPr>
          <p:cNvSpPr txBox="1"/>
          <p:nvPr/>
        </p:nvSpPr>
        <p:spPr>
          <a:xfrm>
            <a:off x="462555" y="5211480"/>
            <a:ext cx="4131010" cy="369332"/>
          </a:xfrm>
          <a:prstGeom prst="rect">
            <a:avLst/>
          </a:prstGeom>
          <a:noFill/>
        </p:spPr>
        <p:txBody>
          <a:bodyPr wrap="square" rtlCol="0">
            <a:spAutoFit/>
          </a:bodyPr>
          <a:lstStyle/>
          <a:p>
            <a:r>
              <a:rPr lang="en-GB" b="1" dirty="0"/>
              <a:t>Company to candidate contact form</a:t>
            </a:r>
          </a:p>
        </p:txBody>
      </p:sp>
      <p:sp>
        <p:nvSpPr>
          <p:cNvPr id="23" name="Arrow: Right 22">
            <a:extLst>
              <a:ext uri="{FF2B5EF4-FFF2-40B4-BE49-F238E27FC236}">
                <a16:creationId xmlns:a16="http://schemas.microsoft.com/office/drawing/2014/main" id="{236C5FAD-2C50-AFEC-704D-D174ED5CF29D}"/>
              </a:ext>
            </a:extLst>
          </p:cNvPr>
          <p:cNvSpPr/>
          <p:nvPr/>
        </p:nvSpPr>
        <p:spPr>
          <a:xfrm>
            <a:off x="4013241" y="5297149"/>
            <a:ext cx="1876637" cy="21029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4" name="Speech Bubble: Rectangle with Corners Rounded 23">
            <a:extLst>
              <a:ext uri="{FF2B5EF4-FFF2-40B4-BE49-F238E27FC236}">
                <a16:creationId xmlns:a16="http://schemas.microsoft.com/office/drawing/2014/main" id="{F992479B-A0B5-5593-98D2-FC0368079584}"/>
              </a:ext>
            </a:extLst>
          </p:cNvPr>
          <p:cNvSpPr/>
          <p:nvPr/>
        </p:nvSpPr>
        <p:spPr>
          <a:xfrm>
            <a:off x="9644333" y="3254722"/>
            <a:ext cx="1777041" cy="737058"/>
          </a:xfrm>
          <a:prstGeom prst="wedgeRoundRectCallout">
            <a:avLst>
              <a:gd name="adj1" fmla="val 36449"/>
              <a:gd name="adj2" fmla="val 139745"/>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dirty="0">
                <a:solidFill>
                  <a:schemeClr val="accent1"/>
                </a:solidFill>
              </a:rPr>
              <a:t>Admin rating</a:t>
            </a:r>
          </a:p>
        </p:txBody>
      </p:sp>
    </p:spTree>
    <p:extLst>
      <p:ext uri="{BB962C8B-B14F-4D97-AF65-F5344CB8AC3E}">
        <p14:creationId xmlns:p14="http://schemas.microsoft.com/office/powerpoint/2010/main" val="2936769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par>
                          <p:cTn id="7" fill="hold">
                            <p:stCondLst>
                              <p:cond delay="0"/>
                            </p:stCondLst>
                            <p:childTnLst>
                              <p:par>
                                <p:cTn id="8" presetID="31" presetClass="entr" presetSubtype="0" fill="hold" grpId="0" nodeType="afterEffect">
                                  <p:stCondLst>
                                    <p:cond delay="250"/>
                                  </p:stCondLst>
                                  <p:childTnLst>
                                    <p:set>
                                      <p:cBhvr>
                                        <p:cTn id="9" dur="1" fill="hold">
                                          <p:stCondLst>
                                            <p:cond delay="0"/>
                                          </p:stCondLst>
                                        </p:cTn>
                                        <p:tgtEl>
                                          <p:spTgt spid="2"/>
                                        </p:tgtEl>
                                        <p:attrNameLst>
                                          <p:attrName>style.visibility</p:attrName>
                                        </p:attrNameLst>
                                      </p:cBhvr>
                                      <p:to>
                                        <p:strVal val="visible"/>
                                      </p:to>
                                    </p:set>
                                    <p:anim calcmode="lin" valueType="num">
                                      <p:cBhvr>
                                        <p:cTn id="10" dur="1000" fill="hold"/>
                                        <p:tgtEl>
                                          <p:spTgt spid="2"/>
                                        </p:tgtEl>
                                        <p:attrNameLst>
                                          <p:attrName>ppt_w</p:attrName>
                                        </p:attrNameLst>
                                      </p:cBhvr>
                                      <p:tavLst>
                                        <p:tav tm="0">
                                          <p:val>
                                            <p:fltVal val="0"/>
                                          </p:val>
                                        </p:tav>
                                        <p:tav tm="100000">
                                          <p:val>
                                            <p:strVal val="#ppt_w"/>
                                          </p:val>
                                        </p:tav>
                                      </p:tavLst>
                                    </p:anim>
                                    <p:anim calcmode="lin" valueType="num">
                                      <p:cBhvr>
                                        <p:cTn id="11" dur="1000" fill="hold"/>
                                        <p:tgtEl>
                                          <p:spTgt spid="2"/>
                                        </p:tgtEl>
                                        <p:attrNameLst>
                                          <p:attrName>ppt_h</p:attrName>
                                        </p:attrNameLst>
                                      </p:cBhvr>
                                      <p:tavLst>
                                        <p:tav tm="0">
                                          <p:val>
                                            <p:fltVal val="0"/>
                                          </p:val>
                                        </p:tav>
                                        <p:tav tm="100000">
                                          <p:val>
                                            <p:strVal val="#ppt_h"/>
                                          </p:val>
                                        </p:tav>
                                      </p:tavLst>
                                    </p:anim>
                                    <p:anim calcmode="lin" valueType="num">
                                      <p:cBhvr>
                                        <p:cTn id="12" dur="1000" fill="hold"/>
                                        <p:tgtEl>
                                          <p:spTgt spid="2"/>
                                        </p:tgtEl>
                                        <p:attrNameLst>
                                          <p:attrName>style.rotation</p:attrName>
                                        </p:attrNameLst>
                                      </p:cBhvr>
                                      <p:tavLst>
                                        <p:tav tm="0">
                                          <p:val>
                                            <p:fltVal val="90"/>
                                          </p:val>
                                        </p:tav>
                                        <p:tav tm="100000">
                                          <p:val>
                                            <p:fltVal val="0"/>
                                          </p:val>
                                        </p:tav>
                                      </p:tavLst>
                                    </p:anim>
                                    <p:animEffect transition="in" filter="fade">
                                      <p:cBhvr>
                                        <p:cTn id="13" dur="1000"/>
                                        <p:tgtEl>
                                          <p:spTgt spid="2"/>
                                        </p:tgtEl>
                                      </p:cBhvr>
                                    </p:animEffect>
                                  </p:childTnLst>
                                </p:cTn>
                              </p:par>
                            </p:childTnLst>
                          </p:cTn>
                        </p:par>
                        <p:par>
                          <p:cTn id="14" fill="hold">
                            <p:stCondLst>
                              <p:cond delay="1250"/>
                            </p:stCondLst>
                            <p:childTnLst>
                              <p:par>
                                <p:cTn id="15" presetID="42" presetClass="entr" presetSubtype="0" fill="hold" grpId="0" nodeType="after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1000"/>
                                        <p:tgtEl>
                                          <p:spTgt spid="3"/>
                                        </p:tgtEl>
                                      </p:cBhvr>
                                    </p:animEffect>
                                    <p:anim calcmode="lin" valueType="num">
                                      <p:cBhvr>
                                        <p:cTn id="18" dur="1000" fill="hold"/>
                                        <p:tgtEl>
                                          <p:spTgt spid="3"/>
                                        </p:tgtEl>
                                        <p:attrNameLst>
                                          <p:attrName>ppt_x</p:attrName>
                                        </p:attrNameLst>
                                      </p:cBhvr>
                                      <p:tavLst>
                                        <p:tav tm="0">
                                          <p:val>
                                            <p:strVal val="#ppt_x"/>
                                          </p:val>
                                        </p:tav>
                                        <p:tav tm="100000">
                                          <p:val>
                                            <p:strVal val="#ppt_x"/>
                                          </p:val>
                                        </p:tav>
                                      </p:tavLst>
                                    </p:anim>
                                    <p:anim calcmode="lin" valueType="num">
                                      <p:cBhvr>
                                        <p:cTn id="19" dur="1000" fill="hold"/>
                                        <p:tgtEl>
                                          <p:spTgt spid="3"/>
                                        </p:tgtEl>
                                        <p:attrNameLst>
                                          <p:attrName>ppt_y</p:attrName>
                                        </p:attrNameLst>
                                      </p:cBhvr>
                                      <p:tavLst>
                                        <p:tav tm="0">
                                          <p:val>
                                            <p:strVal val="#ppt_y+.1"/>
                                          </p:val>
                                        </p:tav>
                                        <p:tav tm="100000">
                                          <p:val>
                                            <p:strVal val="#ppt_y"/>
                                          </p:val>
                                        </p:tav>
                                      </p:tavLst>
                                    </p:anim>
                                  </p:childTnLst>
                                </p:cTn>
                              </p:par>
                            </p:childTnLst>
                          </p:cTn>
                        </p:par>
                        <p:par>
                          <p:cTn id="20" fill="hold">
                            <p:stCondLst>
                              <p:cond delay="2250"/>
                            </p:stCondLst>
                            <p:childTnLst>
                              <p:par>
                                <p:cTn id="21" presetID="2" presetClass="entr" presetSubtype="8" fill="hold" grpId="0" nodeType="afterEffect">
                                  <p:stCondLst>
                                    <p:cond delay="25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ppt_x</p:attrName>
                                        </p:attrNameLst>
                                      </p:cBhvr>
                                      <p:tavLst>
                                        <p:tav tm="0">
                                          <p:val>
                                            <p:strVal val="0-#ppt_w/2"/>
                                          </p:val>
                                        </p:tav>
                                        <p:tav tm="100000">
                                          <p:val>
                                            <p:strVal val="#ppt_x"/>
                                          </p:val>
                                        </p:tav>
                                      </p:tavLst>
                                    </p:anim>
                                    <p:anim calcmode="lin" valueType="num">
                                      <p:cBhvr additive="base">
                                        <p:cTn id="24" dur="500" fill="hold"/>
                                        <p:tgtEl>
                                          <p:spTgt spid="9"/>
                                        </p:tgtEl>
                                        <p:attrNameLst>
                                          <p:attrName>ppt_y</p:attrName>
                                        </p:attrNameLst>
                                      </p:cBhvr>
                                      <p:tavLst>
                                        <p:tav tm="0">
                                          <p:val>
                                            <p:strVal val="#ppt_y"/>
                                          </p:val>
                                        </p:tav>
                                        <p:tav tm="100000">
                                          <p:val>
                                            <p:strVal val="#ppt_y"/>
                                          </p:val>
                                        </p:tav>
                                      </p:tavLst>
                                    </p:anim>
                                  </p:childTnLst>
                                </p:cTn>
                              </p:par>
                            </p:childTnLst>
                          </p:cTn>
                        </p:par>
                        <p:par>
                          <p:cTn id="25" fill="hold">
                            <p:stCondLst>
                              <p:cond delay="3000"/>
                            </p:stCondLst>
                            <p:childTnLst>
                              <p:par>
                                <p:cTn id="26" presetID="2" presetClass="entr" presetSubtype="8" fill="hold" grpId="0" nodeType="afterEffect">
                                  <p:stCondLst>
                                    <p:cond delay="0"/>
                                  </p:stCondLst>
                                  <p:childTnLst>
                                    <p:set>
                                      <p:cBhvr>
                                        <p:cTn id="27" dur="1" fill="hold">
                                          <p:stCondLst>
                                            <p:cond delay="0"/>
                                          </p:stCondLst>
                                        </p:cTn>
                                        <p:tgtEl>
                                          <p:spTgt spid="10"/>
                                        </p:tgtEl>
                                        <p:attrNameLst>
                                          <p:attrName>style.visibility</p:attrName>
                                        </p:attrNameLst>
                                      </p:cBhvr>
                                      <p:to>
                                        <p:strVal val="visible"/>
                                      </p:to>
                                    </p:set>
                                    <p:anim calcmode="lin" valueType="num">
                                      <p:cBhvr additive="base">
                                        <p:cTn id="28" dur="500" fill="hold"/>
                                        <p:tgtEl>
                                          <p:spTgt spid="10"/>
                                        </p:tgtEl>
                                        <p:attrNameLst>
                                          <p:attrName>ppt_x</p:attrName>
                                        </p:attrNameLst>
                                      </p:cBhvr>
                                      <p:tavLst>
                                        <p:tav tm="0">
                                          <p:val>
                                            <p:strVal val="0-#ppt_w/2"/>
                                          </p:val>
                                        </p:tav>
                                        <p:tav tm="100000">
                                          <p:val>
                                            <p:strVal val="#ppt_x"/>
                                          </p:val>
                                        </p:tav>
                                      </p:tavLst>
                                    </p:anim>
                                    <p:anim calcmode="lin" valueType="num">
                                      <p:cBhvr additive="base">
                                        <p:cTn id="29" dur="500" fill="hold"/>
                                        <p:tgtEl>
                                          <p:spTgt spid="10"/>
                                        </p:tgtEl>
                                        <p:attrNameLst>
                                          <p:attrName>ppt_y</p:attrName>
                                        </p:attrNameLst>
                                      </p:cBhvr>
                                      <p:tavLst>
                                        <p:tav tm="0">
                                          <p:val>
                                            <p:strVal val="#ppt_y"/>
                                          </p:val>
                                        </p:tav>
                                        <p:tav tm="100000">
                                          <p:val>
                                            <p:strVal val="#ppt_y"/>
                                          </p:val>
                                        </p:tav>
                                      </p:tavLst>
                                    </p:anim>
                                  </p:childTnLst>
                                </p:cTn>
                              </p:par>
                              <p:par>
                                <p:cTn id="30" presetID="22" presetClass="entr" presetSubtype="4"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down)">
                                      <p:cBhvr>
                                        <p:cTn id="32" dur="500"/>
                                        <p:tgtEl>
                                          <p:spTgt spid="11"/>
                                        </p:tgtEl>
                                      </p:cBhvr>
                                    </p:animEffect>
                                  </p:childTnLst>
                                </p:cTn>
                              </p:par>
                            </p:childTnLst>
                          </p:cTn>
                        </p:par>
                        <p:par>
                          <p:cTn id="33" fill="hold">
                            <p:stCondLst>
                              <p:cond delay="3500"/>
                            </p:stCondLst>
                            <p:childTnLst>
                              <p:par>
                                <p:cTn id="34" presetID="2" presetClass="entr" presetSubtype="8" fill="hold" grpId="0" nodeType="afterEffect">
                                  <p:stCondLst>
                                    <p:cond delay="0"/>
                                  </p:stCondLst>
                                  <p:childTnLst>
                                    <p:set>
                                      <p:cBhvr>
                                        <p:cTn id="35" dur="1" fill="hold">
                                          <p:stCondLst>
                                            <p:cond delay="0"/>
                                          </p:stCondLst>
                                        </p:cTn>
                                        <p:tgtEl>
                                          <p:spTgt spid="17"/>
                                        </p:tgtEl>
                                        <p:attrNameLst>
                                          <p:attrName>style.visibility</p:attrName>
                                        </p:attrNameLst>
                                      </p:cBhvr>
                                      <p:to>
                                        <p:strVal val="visible"/>
                                      </p:to>
                                    </p:set>
                                    <p:anim calcmode="lin" valueType="num">
                                      <p:cBhvr additive="base">
                                        <p:cTn id="36" dur="500" fill="hold"/>
                                        <p:tgtEl>
                                          <p:spTgt spid="17"/>
                                        </p:tgtEl>
                                        <p:attrNameLst>
                                          <p:attrName>ppt_x</p:attrName>
                                        </p:attrNameLst>
                                      </p:cBhvr>
                                      <p:tavLst>
                                        <p:tav tm="0">
                                          <p:val>
                                            <p:strVal val="0-#ppt_w/2"/>
                                          </p:val>
                                        </p:tav>
                                        <p:tav tm="100000">
                                          <p:val>
                                            <p:strVal val="#ppt_x"/>
                                          </p:val>
                                        </p:tav>
                                      </p:tavLst>
                                    </p:anim>
                                    <p:anim calcmode="lin" valueType="num">
                                      <p:cBhvr additive="base">
                                        <p:cTn id="37" dur="500" fill="hold"/>
                                        <p:tgtEl>
                                          <p:spTgt spid="17"/>
                                        </p:tgtEl>
                                        <p:attrNameLst>
                                          <p:attrName>ppt_y</p:attrName>
                                        </p:attrNameLst>
                                      </p:cBhvr>
                                      <p:tavLst>
                                        <p:tav tm="0">
                                          <p:val>
                                            <p:strVal val="#ppt_y"/>
                                          </p:val>
                                        </p:tav>
                                        <p:tav tm="100000">
                                          <p:val>
                                            <p:strVal val="#ppt_y"/>
                                          </p:val>
                                        </p:tav>
                                      </p:tavLst>
                                    </p:anim>
                                  </p:childTnLst>
                                </p:cTn>
                              </p:par>
                              <p:par>
                                <p:cTn id="38" presetID="22" presetClass="entr" presetSubtype="4" fill="hold" grpId="0" nodeType="with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wipe(down)">
                                      <p:cBhvr>
                                        <p:cTn id="40" dur="500"/>
                                        <p:tgtEl>
                                          <p:spTgt spid="18"/>
                                        </p:tgtEl>
                                      </p:cBhvr>
                                    </p:animEffect>
                                  </p:childTnLst>
                                </p:cTn>
                              </p:par>
                            </p:childTnLst>
                          </p:cTn>
                        </p:par>
                        <p:par>
                          <p:cTn id="41" fill="hold">
                            <p:stCondLst>
                              <p:cond delay="4000"/>
                            </p:stCondLst>
                            <p:childTnLst>
                              <p:par>
                                <p:cTn id="42" presetID="2" presetClass="entr" presetSubtype="8" fill="hold" grpId="0" nodeType="afterEffect">
                                  <p:stCondLst>
                                    <p:cond delay="0"/>
                                  </p:stCondLst>
                                  <p:childTnLst>
                                    <p:set>
                                      <p:cBhvr>
                                        <p:cTn id="43" dur="1" fill="hold">
                                          <p:stCondLst>
                                            <p:cond delay="0"/>
                                          </p:stCondLst>
                                        </p:cTn>
                                        <p:tgtEl>
                                          <p:spTgt spid="19"/>
                                        </p:tgtEl>
                                        <p:attrNameLst>
                                          <p:attrName>style.visibility</p:attrName>
                                        </p:attrNameLst>
                                      </p:cBhvr>
                                      <p:to>
                                        <p:strVal val="visible"/>
                                      </p:to>
                                    </p:set>
                                    <p:anim calcmode="lin" valueType="num">
                                      <p:cBhvr additive="base">
                                        <p:cTn id="44" dur="500" fill="hold"/>
                                        <p:tgtEl>
                                          <p:spTgt spid="19"/>
                                        </p:tgtEl>
                                        <p:attrNameLst>
                                          <p:attrName>ppt_x</p:attrName>
                                        </p:attrNameLst>
                                      </p:cBhvr>
                                      <p:tavLst>
                                        <p:tav tm="0">
                                          <p:val>
                                            <p:strVal val="0-#ppt_w/2"/>
                                          </p:val>
                                        </p:tav>
                                        <p:tav tm="100000">
                                          <p:val>
                                            <p:strVal val="#ppt_x"/>
                                          </p:val>
                                        </p:tav>
                                      </p:tavLst>
                                    </p:anim>
                                    <p:anim calcmode="lin" valueType="num">
                                      <p:cBhvr additive="base">
                                        <p:cTn id="45" dur="500" fill="hold"/>
                                        <p:tgtEl>
                                          <p:spTgt spid="19"/>
                                        </p:tgtEl>
                                        <p:attrNameLst>
                                          <p:attrName>ppt_y</p:attrName>
                                        </p:attrNameLst>
                                      </p:cBhvr>
                                      <p:tavLst>
                                        <p:tav tm="0">
                                          <p:val>
                                            <p:strVal val="#ppt_y"/>
                                          </p:val>
                                        </p:tav>
                                        <p:tav tm="100000">
                                          <p:val>
                                            <p:strVal val="#ppt_y"/>
                                          </p:val>
                                        </p:tav>
                                      </p:tavLst>
                                    </p:anim>
                                  </p:childTnLst>
                                </p:cTn>
                              </p:par>
                              <p:par>
                                <p:cTn id="46" presetID="22" presetClass="entr" presetSubtype="4" fill="hold" grpId="0" nodeType="with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wipe(down)">
                                      <p:cBhvr>
                                        <p:cTn id="48" dur="500"/>
                                        <p:tgtEl>
                                          <p:spTgt spid="20"/>
                                        </p:tgtEl>
                                      </p:cBhvr>
                                    </p:animEffect>
                                  </p:childTnLst>
                                </p:cTn>
                              </p:par>
                            </p:childTnLst>
                          </p:cTn>
                        </p:par>
                        <p:par>
                          <p:cTn id="49" fill="hold">
                            <p:stCondLst>
                              <p:cond delay="4500"/>
                            </p:stCondLst>
                            <p:childTnLst>
                              <p:par>
                                <p:cTn id="50" presetID="21" presetClass="entr" presetSubtype="1" fill="hold" grpId="0" nodeType="afterEffect">
                                  <p:stCondLst>
                                    <p:cond delay="0"/>
                                  </p:stCondLst>
                                  <p:childTnLst>
                                    <p:set>
                                      <p:cBhvr>
                                        <p:cTn id="51" dur="1" fill="hold">
                                          <p:stCondLst>
                                            <p:cond delay="0"/>
                                          </p:stCondLst>
                                        </p:cTn>
                                        <p:tgtEl>
                                          <p:spTgt spid="24"/>
                                        </p:tgtEl>
                                        <p:attrNameLst>
                                          <p:attrName>style.visibility</p:attrName>
                                        </p:attrNameLst>
                                      </p:cBhvr>
                                      <p:to>
                                        <p:strVal val="visible"/>
                                      </p:to>
                                    </p:set>
                                    <p:animEffect transition="in" filter="wheel(1)">
                                      <p:cBhvr>
                                        <p:cTn id="52" dur="2000"/>
                                        <p:tgtEl>
                                          <p:spTgt spid="24"/>
                                        </p:tgtEl>
                                      </p:cBhvr>
                                    </p:animEffect>
                                  </p:childTnLst>
                                </p:cTn>
                              </p:par>
                            </p:childTnLst>
                          </p:cTn>
                        </p:par>
                        <p:par>
                          <p:cTn id="53" fill="hold">
                            <p:stCondLst>
                              <p:cond delay="6500"/>
                            </p:stCondLst>
                            <p:childTnLst>
                              <p:par>
                                <p:cTn id="54" presetID="22" presetClass="entr" presetSubtype="8" fill="hold" grpId="0" nodeType="afterEffect">
                                  <p:stCondLst>
                                    <p:cond delay="250"/>
                                  </p:stCondLst>
                                  <p:childTnLst>
                                    <p:set>
                                      <p:cBhvr>
                                        <p:cTn id="55" dur="1" fill="hold">
                                          <p:stCondLst>
                                            <p:cond delay="0"/>
                                          </p:stCondLst>
                                        </p:cTn>
                                        <p:tgtEl>
                                          <p:spTgt spid="21"/>
                                        </p:tgtEl>
                                        <p:attrNameLst>
                                          <p:attrName>style.visibility</p:attrName>
                                        </p:attrNameLst>
                                      </p:cBhvr>
                                      <p:to>
                                        <p:strVal val="visible"/>
                                      </p:to>
                                    </p:set>
                                    <p:animEffect transition="in" filter="wipe(left)">
                                      <p:cBhvr>
                                        <p:cTn id="56" dur="500"/>
                                        <p:tgtEl>
                                          <p:spTgt spid="21"/>
                                        </p:tgtEl>
                                      </p:cBhvr>
                                    </p:animEffect>
                                  </p:childTnLst>
                                </p:cTn>
                              </p:par>
                            </p:childTnLst>
                          </p:cTn>
                        </p:par>
                        <p:par>
                          <p:cTn id="57" fill="hold">
                            <p:stCondLst>
                              <p:cond delay="7250"/>
                            </p:stCondLst>
                            <p:childTnLst>
                              <p:par>
                                <p:cTn id="58" presetID="2" presetClass="entr" presetSubtype="8" fill="hold" grpId="0" nodeType="afterEffect">
                                  <p:stCondLst>
                                    <p:cond delay="250"/>
                                  </p:stCondLst>
                                  <p:childTnLst>
                                    <p:set>
                                      <p:cBhvr>
                                        <p:cTn id="59" dur="1" fill="hold">
                                          <p:stCondLst>
                                            <p:cond delay="0"/>
                                          </p:stCondLst>
                                        </p:cTn>
                                        <p:tgtEl>
                                          <p:spTgt spid="22"/>
                                        </p:tgtEl>
                                        <p:attrNameLst>
                                          <p:attrName>style.visibility</p:attrName>
                                        </p:attrNameLst>
                                      </p:cBhvr>
                                      <p:to>
                                        <p:strVal val="visible"/>
                                      </p:to>
                                    </p:set>
                                    <p:anim calcmode="lin" valueType="num">
                                      <p:cBhvr additive="base">
                                        <p:cTn id="60" dur="500" fill="hold"/>
                                        <p:tgtEl>
                                          <p:spTgt spid="22"/>
                                        </p:tgtEl>
                                        <p:attrNameLst>
                                          <p:attrName>ppt_x</p:attrName>
                                        </p:attrNameLst>
                                      </p:cBhvr>
                                      <p:tavLst>
                                        <p:tav tm="0">
                                          <p:val>
                                            <p:strVal val="0-#ppt_w/2"/>
                                          </p:val>
                                        </p:tav>
                                        <p:tav tm="100000">
                                          <p:val>
                                            <p:strVal val="#ppt_x"/>
                                          </p:val>
                                        </p:tav>
                                      </p:tavLst>
                                    </p:anim>
                                    <p:anim calcmode="lin" valueType="num">
                                      <p:cBhvr additive="base">
                                        <p:cTn id="61" dur="500" fill="hold"/>
                                        <p:tgtEl>
                                          <p:spTgt spid="22"/>
                                        </p:tgtEl>
                                        <p:attrNameLst>
                                          <p:attrName>ppt_y</p:attrName>
                                        </p:attrNameLst>
                                      </p:cBhvr>
                                      <p:tavLst>
                                        <p:tav tm="0">
                                          <p:val>
                                            <p:strVal val="#ppt_y"/>
                                          </p:val>
                                        </p:tav>
                                        <p:tav tm="100000">
                                          <p:val>
                                            <p:strVal val="#ppt_y"/>
                                          </p:val>
                                        </p:tav>
                                      </p:tavLst>
                                    </p:anim>
                                  </p:childTnLst>
                                </p:cTn>
                              </p:par>
                              <p:par>
                                <p:cTn id="62" presetID="22" presetClass="entr" presetSubtype="4" fill="hold" grpId="0" nodeType="withEffect">
                                  <p:stCondLst>
                                    <p:cond delay="250"/>
                                  </p:stCondLst>
                                  <p:childTnLst>
                                    <p:set>
                                      <p:cBhvr>
                                        <p:cTn id="63" dur="1" fill="hold">
                                          <p:stCondLst>
                                            <p:cond delay="0"/>
                                          </p:stCondLst>
                                        </p:cTn>
                                        <p:tgtEl>
                                          <p:spTgt spid="23"/>
                                        </p:tgtEl>
                                        <p:attrNameLst>
                                          <p:attrName>style.visibility</p:attrName>
                                        </p:attrNameLst>
                                      </p:cBhvr>
                                      <p:to>
                                        <p:strVal val="visible"/>
                                      </p:to>
                                    </p:set>
                                    <p:animEffect transition="in" filter="wipe(down)">
                                      <p:cBhvr>
                                        <p:cTn id="64"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9" grpId="0"/>
      <p:bldP spid="10" grpId="0"/>
      <p:bldP spid="11" grpId="0" animBg="1"/>
      <p:bldP spid="17" grpId="0"/>
      <p:bldP spid="18" grpId="0" animBg="1"/>
      <p:bldP spid="19" grpId="0"/>
      <p:bldP spid="20" grpId="0" animBg="1"/>
      <p:bldP spid="21" grpId="0" animBg="1"/>
      <p:bldP spid="22" grpId="0"/>
      <p:bldP spid="23" grpId="0" animBg="1"/>
      <p:bldP spid="2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C0EB53CC-DED4-6B4D-82C5-CBD8A9492FDC}"/>
              </a:ext>
            </a:extLst>
          </p:cNvPr>
          <p:cNvGrpSpPr/>
          <p:nvPr/>
        </p:nvGrpSpPr>
        <p:grpSpPr>
          <a:xfrm>
            <a:off x="0" y="141563"/>
            <a:ext cx="12192000" cy="6716437"/>
            <a:chOff x="-11723" y="153285"/>
            <a:chExt cx="12192000" cy="6716437"/>
          </a:xfrm>
        </p:grpSpPr>
        <p:pic>
          <p:nvPicPr>
            <p:cNvPr id="13" name="Picture 2">
              <a:extLst>
                <a:ext uri="{FF2B5EF4-FFF2-40B4-BE49-F238E27FC236}">
                  <a16:creationId xmlns:a16="http://schemas.microsoft.com/office/drawing/2014/main" id="{818B8C9C-C958-856D-BAF7-C70A81F19B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6868" y="153285"/>
              <a:ext cx="562843" cy="295242"/>
            </a:xfrm>
            <a:prstGeom prst="rect">
              <a:avLst/>
            </a:prstGeom>
            <a:noFill/>
            <a:extLst>
              <a:ext uri="{909E8E84-426E-40DD-AFC4-6F175D3DCCD1}">
                <a14:hiddenFill xmlns:a14="http://schemas.microsoft.com/office/drawing/2010/main">
                  <a:solidFill>
                    <a:srgbClr val="FFFFFF"/>
                  </a:solidFill>
                </a14:hiddenFill>
              </a:ext>
            </a:extLst>
          </p:spPr>
        </p:pic>
        <p:sp>
          <p:nvSpPr>
            <p:cNvPr id="14" name="Arrow: Pentagon 13">
              <a:extLst>
                <a:ext uri="{FF2B5EF4-FFF2-40B4-BE49-F238E27FC236}">
                  <a16:creationId xmlns:a16="http://schemas.microsoft.com/office/drawing/2014/main" id="{D7C3F4FC-5953-EA50-CF23-A598AECDEA8C}"/>
                </a:ext>
              </a:extLst>
            </p:cNvPr>
            <p:cNvSpPr/>
            <p:nvPr/>
          </p:nvSpPr>
          <p:spPr>
            <a:xfrm flipV="1">
              <a:off x="-11723" y="6517340"/>
              <a:ext cx="12192000" cy="352382"/>
            </a:xfrm>
            <a:prstGeom prst="homePlate">
              <a:avLst/>
            </a:prstGeom>
            <a:gradFill flip="none" rotWithShape="1">
              <a:gsLst>
                <a:gs pos="0">
                  <a:schemeClr val="accent1">
                    <a:lumMod val="0"/>
                    <a:lumOff val="100000"/>
                  </a:schemeClr>
                </a:gs>
                <a:gs pos="46000">
                  <a:schemeClr val="accent1">
                    <a:lumMod val="0"/>
                    <a:lumOff val="100000"/>
                  </a:schemeClr>
                </a:gs>
                <a:gs pos="100000">
                  <a:schemeClr val="accent1">
                    <a:lumMod val="100000"/>
                  </a:schemeClr>
                </a:gs>
              </a:gsLst>
              <a:path path="rect">
                <a:fillToRect l="100000" t="100000"/>
              </a:path>
              <a:tileRect r="-100000" b="-100000"/>
            </a:gra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pic>
        <p:nvPicPr>
          <p:cNvPr id="15" name="Picture 14">
            <a:extLst>
              <a:ext uri="{FF2B5EF4-FFF2-40B4-BE49-F238E27FC236}">
                <a16:creationId xmlns:a16="http://schemas.microsoft.com/office/drawing/2014/main" id="{1B4145E9-7F7E-A844-442F-0C0DD45B37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4132" y="87352"/>
            <a:ext cx="677800" cy="427309"/>
          </a:xfrm>
          <a:prstGeom prst="rect">
            <a:avLst/>
          </a:prstGeom>
        </p:spPr>
      </p:pic>
      <p:pic>
        <p:nvPicPr>
          <p:cNvPr id="16" name="Picture 15">
            <a:extLst>
              <a:ext uri="{FF2B5EF4-FFF2-40B4-BE49-F238E27FC236}">
                <a16:creationId xmlns:a16="http://schemas.microsoft.com/office/drawing/2014/main" id="{7A507078-E7E5-D183-2BD7-3A314458F84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80495" y="123670"/>
            <a:ext cx="777382" cy="330387"/>
          </a:xfrm>
          <a:prstGeom prst="rect">
            <a:avLst/>
          </a:prstGeom>
        </p:spPr>
      </p:pic>
      <p:sp>
        <p:nvSpPr>
          <p:cNvPr id="2" name="TextBox 1">
            <a:extLst>
              <a:ext uri="{FF2B5EF4-FFF2-40B4-BE49-F238E27FC236}">
                <a16:creationId xmlns:a16="http://schemas.microsoft.com/office/drawing/2014/main" id="{52B824EB-8601-021A-884F-BA41A6A6952B}"/>
              </a:ext>
            </a:extLst>
          </p:cNvPr>
          <p:cNvSpPr txBox="1"/>
          <p:nvPr/>
        </p:nvSpPr>
        <p:spPr>
          <a:xfrm>
            <a:off x="475496" y="669480"/>
            <a:ext cx="4208647" cy="584775"/>
          </a:xfrm>
          <a:prstGeom prst="rect">
            <a:avLst/>
          </a:prstGeom>
          <a:noFill/>
        </p:spPr>
        <p:txBody>
          <a:bodyPr wrap="square" rtlCol="0">
            <a:spAutoFit/>
          </a:bodyPr>
          <a:lstStyle/>
          <a:p>
            <a:r>
              <a:rPr lang="en-ZA" sz="3200" b="1" dirty="0"/>
              <a:t>Candidate contact form</a:t>
            </a:r>
            <a:endParaRPr lang="en-GB" sz="3200" b="1" dirty="0"/>
          </a:p>
        </p:txBody>
      </p:sp>
      <p:sp>
        <p:nvSpPr>
          <p:cNvPr id="3" name="TextBox 2">
            <a:extLst>
              <a:ext uri="{FF2B5EF4-FFF2-40B4-BE49-F238E27FC236}">
                <a16:creationId xmlns:a16="http://schemas.microsoft.com/office/drawing/2014/main" id="{BBDFA455-4592-B284-5276-463E8446269B}"/>
              </a:ext>
            </a:extLst>
          </p:cNvPr>
          <p:cNvSpPr txBox="1"/>
          <p:nvPr/>
        </p:nvSpPr>
        <p:spPr>
          <a:xfrm>
            <a:off x="475497" y="2017953"/>
            <a:ext cx="3703482" cy="1200329"/>
          </a:xfrm>
          <a:prstGeom prst="rect">
            <a:avLst/>
          </a:prstGeom>
          <a:noFill/>
        </p:spPr>
        <p:txBody>
          <a:bodyPr wrap="square" rtlCol="0">
            <a:spAutoFit/>
          </a:bodyPr>
          <a:lstStyle/>
          <a:p>
            <a:r>
              <a:rPr lang="en-GB" b="1" dirty="0"/>
              <a:t>The company user sends an email to the candidate through a webform.</a:t>
            </a:r>
          </a:p>
          <a:p>
            <a:endParaRPr lang="en-GB" b="1" dirty="0"/>
          </a:p>
          <a:p>
            <a:endParaRPr lang="en-GB" b="1" dirty="0"/>
          </a:p>
        </p:txBody>
      </p:sp>
      <p:pic>
        <p:nvPicPr>
          <p:cNvPr id="5" name="Picture 4">
            <a:extLst>
              <a:ext uri="{FF2B5EF4-FFF2-40B4-BE49-F238E27FC236}">
                <a16:creationId xmlns:a16="http://schemas.microsoft.com/office/drawing/2014/main" id="{9B679036-4819-5C1E-5A65-8455190EE443}"/>
              </a:ext>
            </a:extLst>
          </p:cNvPr>
          <p:cNvPicPr>
            <a:picLocks noChangeAspect="1"/>
          </p:cNvPicPr>
          <p:nvPr/>
        </p:nvPicPr>
        <p:blipFill>
          <a:blip r:embed="rId5"/>
          <a:stretch>
            <a:fillRect/>
          </a:stretch>
        </p:blipFill>
        <p:spPr>
          <a:xfrm>
            <a:off x="4805856" y="132936"/>
            <a:ext cx="7238550" cy="6234545"/>
          </a:xfrm>
          <a:prstGeom prst="rect">
            <a:avLst/>
          </a:prstGeom>
        </p:spPr>
      </p:pic>
      <p:pic>
        <p:nvPicPr>
          <p:cNvPr id="9" name="Picture 4">
            <a:extLst>
              <a:ext uri="{FF2B5EF4-FFF2-40B4-BE49-F238E27FC236}">
                <a16:creationId xmlns:a16="http://schemas.microsoft.com/office/drawing/2014/main" id="{8FB943D2-8139-58F0-D6E6-5ECE13BDF3A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03018" y="93759"/>
            <a:ext cx="1381125" cy="40005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0591DC3-315A-A491-440C-A472EE02DF10}"/>
              </a:ext>
            </a:extLst>
          </p:cNvPr>
          <p:cNvSpPr txBox="1"/>
          <p:nvPr/>
        </p:nvSpPr>
        <p:spPr>
          <a:xfrm>
            <a:off x="475497" y="3189606"/>
            <a:ext cx="3703482" cy="1477328"/>
          </a:xfrm>
          <a:prstGeom prst="rect">
            <a:avLst/>
          </a:prstGeom>
          <a:noFill/>
        </p:spPr>
        <p:txBody>
          <a:bodyPr wrap="square" rtlCol="0">
            <a:spAutoFit/>
          </a:bodyPr>
          <a:lstStyle/>
          <a:p>
            <a:r>
              <a:rPr lang="en-GB" b="1" dirty="0"/>
              <a:t>The interaction is recorded on both the company user’s </a:t>
            </a:r>
            <a:r>
              <a:rPr lang="en-GB" b="1" i="1" dirty="0"/>
              <a:t>and </a:t>
            </a:r>
            <a:r>
              <a:rPr lang="en-GB" b="1" dirty="0"/>
              <a:t>the candidates home pages… as seen on the following page.</a:t>
            </a:r>
          </a:p>
          <a:p>
            <a:endParaRPr lang="en-GB" b="1" dirty="0"/>
          </a:p>
        </p:txBody>
      </p:sp>
      <p:sp>
        <p:nvSpPr>
          <p:cNvPr id="7" name="TextBox 6">
            <a:extLst>
              <a:ext uri="{FF2B5EF4-FFF2-40B4-BE49-F238E27FC236}">
                <a16:creationId xmlns:a16="http://schemas.microsoft.com/office/drawing/2014/main" id="{7BE747D4-51B2-ECFD-3FF5-AA3E4B3519C7}"/>
              </a:ext>
            </a:extLst>
          </p:cNvPr>
          <p:cNvSpPr txBox="1"/>
          <p:nvPr/>
        </p:nvSpPr>
        <p:spPr>
          <a:xfrm>
            <a:off x="475496" y="5859287"/>
            <a:ext cx="6103188" cy="646331"/>
          </a:xfrm>
          <a:prstGeom prst="rect">
            <a:avLst/>
          </a:prstGeom>
          <a:noFill/>
        </p:spPr>
        <p:txBody>
          <a:bodyPr wrap="square">
            <a:spAutoFit/>
          </a:bodyPr>
          <a:lstStyle/>
          <a:p>
            <a:r>
              <a:rPr lang="en-GB" b="1" dirty="0"/>
              <a:t>… And a follow-up email is sent to both after 30 days to provide feedback on the interview.</a:t>
            </a:r>
          </a:p>
        </p:txBody>
      </p:sp>
    </p:spTree>
    <p:extLst>
      <p:ext uri="{BB962C8B-B14F-4D97-AF65-F5344CB8AC3E}">
        <p14:creationId xmlns:p14="http://schemas.microsoft.com/office/powerpoint/2010/main" val="1897650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par>
                          <p:cTn id="9" fill="hold">
                            <p:stCondLst>
                              <p:cond delay="0"/>
                            </p:stCondLst>
                            <p:childTnLst>
                              <p:par>
                                <p:cTn id="10" presetID="31" presetClass="entr" presetSubtype="0"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1000" fill="hold"/>
                                        <p:tgtEl>
                                          <p:spTgt spid="3"/>
                                        </p:tgtEl>
                                        <p:attrNameLst>
                                          <p:attrName>ppt_w</p:attrName>
                                        </p:attrNameLst>
                                      </p:cBhvr>
                                      <p:tavLst>
                                        <p:tav tm="0">
                                          <p:val>
                                            <p:fltVal val="0"/>
                                          </p:val>
                                        </p:tav>
                                        <p:tav tm="100000">
                                          <p:val>
                                            <p:strVal val="#ppt_w"/>
                                          </p:val>
                                        </p:tav>
                                      </p:tavLst>
                                    </p:anim>
                                    <p:anim calcmode="lin" valueType="num">
                                      <p:cBhvr>
                                        <p:cTn id="13" dur="1000" fill="hold"/>
                                        <p:tgtEl>
                                          <p:spTgt spid="3"/>
                                        </p:tgtEl>
                                        <p:attrNameLst>
                                          <p:attrName>ppt_h</p:attrName>
                                        </p:attrNameLst>
                                      </p:cBhvr>
                                      <p:tavLst>
                                        <p:tav tm="0">
                                          <p:val>
                                            <p:fltVal val="0"/>
                                          </p:val>
                                        </p:tav>
                                        <p:tav tm="100000">
                                          <p:val>
                                            <p:strVal val="#ppt_h"/>
                                          </p:val>
                                        </p:tav>
                                      </p:tavLst>
                                    </p:anim>
                                    <p:anim calcmode="lin" valueType="num">
                                      <p:cBhvr>
                                        <p:cTn id="14" dur="1000" fill="hold"/>
                                        <p:tgtEl>
                                          <p:spTgt spid="3"/>
                                        </p:tgtEl>
                                        <p:attrNameLst>
                                          <p:attrName>style.rotation</p:attrName>
                                        </p:attrNameLst>
                                      </p:cBhvr>
                                      <p:tavLst>
                                        <p:tav tm="0">
                                          <p:val>
                                            <p:fltVal val="90"/>
                                          </p:val>
                                        </p:tav>
                                        <p:tav tm="100000">
                                          <p:val>
                                            <p:fltVal val="0"/>
                                          </p:val>
                                        </p:tav>
                                      </p:tavLst>
                                    </p:anim>
                                    <p:animEffect transition="in" filter="fade">
                                      <p:cBhvr>
                                        <p:cTn id="15" dur="1000"/>
                                        <p:tgtEl>
                                          <p:spTgt spid="3"/>
                                        </p:tgtEl>
                                      </p:cBhvr>
                                    </p:animEffect>
                                  </p:childTnLst>
                                </p:cTn>
                              </p:par>
                            </p:childTnLst>
                          </p:cTn>
                        </p:par>
                        <p:par>
                          <p:cTn id="16" fill="hold">
                            <p:stCondLst>
                              <p:cond delay="1000"/>
                            </p:stCondLst>
                            <p:childTnLst>
                              <p:par>
                                <p:cTn id="17" presetID="31" presetClass="entr" presetSubtype="0" fill="hold" grpId="0" nodeType="afterEffect">
                                  <p:stCondLst>
                                    <p:cond delay="250"/>
                                  </p:stCondLst>
                                  <p:childTnLst>
                                    <p:set>
                                      <p:cBhvr>
                                        <p:cTn id="18" dur="1" fill="hold">
                                          <p:stCondLst>
                                            <p:cond delay="0"/>
                                          </p:stCondLst>
                                        </p:cTn>
                                        <p:tgtEl>
                                          <p:spTgt spid="4"/>
                                        </p:tgtEl>
                                        <p:attrNameLst>
                                          <p:attrName>style.visibility</p:attrName>
                                        </p:attrNameLst>
                                      </p:cBhvr>
                                      <p:to>
                                        <p:strVal val="visible"/>
                                      </p:to>
                                    </p:set>
                                    <p:anim calcmode="lin" valueType="num">
                                      <p:cBhvr>
                                        <p:cTn id="19" dur="1000" fill="hold"/>
                                        <p:tgtEl>
                                          <p:spTgt spid="4"/>
                                        </p:tgtEl>
                                        <p:attrNameLst>
                                          <p:attrName>ppt_w</p:attrName>
                                        </p:attrNameLst>
                                      </p:cBhvr>
                                      <p:tavLst>
                                        <p:tav tm="0">
                                          <p:val>
                                            <p:fltVal val="0"/>
                                          </p:val>
                                        </p:tav>
                                        <p:tav tm="100000">
                                          <p:val>
                                            <p:strVal val="#ppt_w"/>
                                          </p:val>
                                        </p:tav>
                                      </p:tavLst>
                                    </p:anim>
                                    <p:anim calcmode="lin" valueType="num">
                                      <p:cBhvr>
                                        <p:cTn id="20" dur="1000" fill="hold"/>
                                        <p:tgtEl>
                                          <p:spTgt spid="4"/>
                                        </p:tgtEl>
                                        <p:attrNameLst>
                                          <p:attrName>ppt_h</p:attrName>
                                        </p:attrNameLst>
                                      </p:cBhvr>
                                      <p:tavLst>
                                        <p:tav tm="0">
                                          <p:val>
                                            <p:fltVal val="0"/>
                                          </p:val>
                                        </p:tav>
                                        <p:tav tm="100000">
                                          <p:val>
                                            <p:strVal val="#ppt_h"/>
                                          </p:val>
                                        </p:tav>
                                      </p:tavLst>
                                    </p:anim>
                                    <p:anim calcmode="lin" valueType="num">
                                      <p:cBhvr>
                                        <p:cTn id="21" dur="1000" fill="hold"/>
                                        <p:tgtEl>
                                          <p:spTgt spid="4"/>
                                        </p:tgtEl>
                                        <p:attrNameLst>
                                          <p:attrName>style.rotation</p:attrName>
                                        </p:attrNameLst>
                                      </p:cBhvr>
                                      <p:tavLst>
                                        <p:tav tm="0">
                                          <p:val>
                                            <p:fltVal val="90"/>
                                          </p:val>
                                        </p:tav>
                                        <p:tav tm="100000">
                                          <p:val>
                                            <p:fltVal val="0"/>
                                          </p:val>
                                        </p:tav>
                                      </p:tavLst>
                                    </p:anim>
                                    <p:animEffect transition="in" filter="fade">
                                      <p:cBhvr>
                                        <p:cTn id="22" dur="1000"/>
                                        <p:tgtEl>
                                          <p:spTgt spid="4"/>
                                        </p:tgtEl>
                                      </p:cBhvr>
                                    </p:animEffect>
                                  </p:childTnLst>
                                </p:cTn>
                              </p:par>
                            </p:childTnLst>
                          </p:cTn>
                        </p:par>
                        <p:par>
                          <p:cTn id="23" fill="hold">
                            <p:stCondLst>
                              <p:cond delay="2250"/>
                            </p:stCondLst>
                            <p:childTnLst>
                              <p:par>
                                <p:cTn id="24" presetID="31" presetClass="entr" presetSubtype="0" fill="hold" grpId="0" nodeType="afterEffect">
                                  <p:stCondLst>
                                    <p:cond delay="250"/>
                                  </p:stCondLst>
                                  <p:childTnLst>
                                    <p:set>
                                      <p:cBhvr>
                                        <p:cTn id="25" dur="1" fill="hold">
                                          <p:stCondLst>
                                            <p:cond delay="0"/>
                                          </p:stCondLst>
                                        </p:cTn>
                                        <p:tgtEl>
                                          <p:spTgt spid="7"/>
                                        </p:tgtEl>
                                        <p:attrNameLst>
                                          <p:attrName>style.visibility</p:attrName>
                                        </p:attrNameLst>
                                      </p:cBhvr>
                                      <p:to>
                                        <p:strVal val="visible"/>
                                      </p:to>
                                    </p:set>
                                    <p:anim calcmode="lin" valueType="num">
                                      <p:cBhvr>
                                        <p:cTn id="26" dur="1000" fill="hold"/>
                                        <p:tgtEl>
                                          <p:spTgt spid="7"/>
                                        </p:tgtEl>
                                        <p:attrNameLst>
                                          <p:attrName>ppt_w</p:attrName>
                                        </p:attrNameLst>
                                      </p:cBhvr>
                                      <p:tavLst>
                                        <p:tav tm="0">
                                          <p:val>
                                            <p:fltVal val="0"/>
                                          </p:val>
                                        </p:tav>
                                        <p:tav tm="100000">
                                          <p:val>
                                            <p:strVal val="#ppt_w"/>
                                          </p:val>
                                        </p:tav>
                                      </p:tavLst>
                                    </p:anim>
                                    <p:anim calcmode="lin" valueType="num">
                                      <p:cBhvr>
                                        <p:cTn id="27" dur="1000" fill="hold"/>
                                        <p:tgtEl>
                                          <p:spTgt spid="7"/>
                                        </p:tgtEl>
                                        <p:attrNameLst>
                                          <p:attrName>ppt_h</p:attrName>
                                        </p:attrNameLst>
                                      </p:cBhvr>
                                      <p:tavLst>
                                        <p:tav tm="0">
                                          <p:val>
                                            <p:fltVal val="0"/>
                                          </p:val>
                                        </p:tav>
                                        <p:tav tm="100000">
                                          <p:val>
                                            <p:strVal val="#ppt_h"/>
                                          </p:val>
                                        </p:tav>
                                      </p:tavLst>
                                    </p:anim>
                                    <p:anim calcmode="lin" valueType="num">
                                      <p:cBhvr>
                                        <p:cTn id="28" dur="1000" fill="hold"/>
                                        <p:tgtEl>
                                          <p:spTgt spid="7"/>
                                        </p:tgtEl>
                                        <p:attrNameLst>
                                          <p:attrName>style.rotation</p:attrName>
                                        </p:attrNameLst>
                                      </p:cBhvr>
                                      <p:tavLst>
                                        <p:tav tm="0">
                                          <p:val>
                                            <p:fltVal val="90"/>
                                          </p:val>
                                        </p:tav>
                                        <p:tav tm="100000">
                                          <p:val>
                                            <p:fltVal val="0"/>
                                          </p:val>
                                        </p:tav>
                                      </p:tavLst>
                                    </p:anim>
                                    <p:animEffect transition="in" filter="fade">
                                      <p:cBhvr>
                                        <p:cTn id="29"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C0EB53CC-DED4-6B4D-82C5-CBD8A9492FDC}"/>
              </a:ext>
            </a:extLst>
          </p:cNvPr>
          <p:cNvGrpSpPr/>
          <p:nvPr/>
        </p:nvGrpSpPr>
        <p:grpSpPr>
          <a:xfrm>
            <a:off x="0" y="141563"/>
            <a:ext cx="12192000" cy="6716437"/>
            <a:chOff x="-11723" y="153285"/>
            <a:chExt cx="12192000" cy="6716437"/>
          </a:xfrm>
        </p:grpSpPr>
        <p:pic>
          <p:nvPicPr>
            <p:cNvPr id="13" name="Picture 2">
              <a:extLst>
                <a:ext uri="{FF2B5EF4-FFF2-40B4-BE49-F238E27FC236}">
                  <a16:creationId xmlns:a16="http://schemas.microsoft.com/office/drawing/2014/main" id="{818B8C9C-C958-856D-BAF7-C70A81F19B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6868" y="153285"/>
              <a:ext cx="562843" cy="295242"/>
            </a:xfrm>
            <a:prstGeom prst="rect">
              <a:avLst/>
            </a:prstGeom>
            <a:noFill/>
            <a:extLst>
              <a:ext uri="{909E8E84-426E-40DD-AFC4-6F175D3DCCD1}">
                <a14:hiddenFill xmlns:a14="http://schemas.microsoft.com/office/drawing/2010/main">
                  <a:solidFill>
                    <a:srgbClr val="FFFFFF"/>
                  </a:solidFill>
                </a14:hiddenFill>
              </a:ext>
            </a:extLst>
          </p:spPr>
        </p:pic>
        <p:sp>
          <p:nvSpPr>
            <p:cNvPr id="14" name="Arrow: Pentagon 13">
              <a:extLst>
                <a:ext uri="{FF2B5EF4-FFF2-40B4-BE49-F238E27FC236}">
                  <a16:creationId xmlns:a16="http://schemas.microsoft.com/office/drawing/2014/main" id="{D7C3F4FC-5953-EA50-CF23-A598AECDEA8C}"/>
                </a:ext>
              </a:extLst>
            </p:cNvPr>
            <p:cNvSpPr/>
            <p:nvPr/>
          </p:nvSpPr>
          <p:spPr>
            <a:xfrm flipV="1">
              <a:off x="-11723" y="6517340"/>
              <a:ext cx="12192000" cy="352382"/>
            </a:xfrm>
            <a:prstGeom prst="homePlate">
              <a:avLst/>
            </a:prstGeom>
            <a:gradFill flip="none" rotWithShape="1">
              <a:gsLst>
                <a:gs pos="0">
                  <a:schemeClr val="accent1">
                    <a:lumMod val="0"/>
                    <a:lumOff val="100000"/>
                  </a:schemeClr>
                </a:gs>
                <a:gs pos="46000">
                  <a:schemeClr val="accent1">
                    <a:lumMod val="0"/>
                    <a:lumOff val="100000"/>
                  </a:schemeClr>
                </a:gs>
                <a:gs pos="100000">
                  <a:schemeClr val="accent1">
                    <a:lumMod val="100000"/>
                  </a:schemeClr>
                </a:gs>
              </a:gsLst>
              <a:path path="rect">
                <a:fillToRect l="100000" t="100000"/>
              </a:path>
              <a:tileRect r="-100000" b="-100000"/>
            </a:gra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pic>
        <p:nvPicPr>
          <p:cNvPr id="15" name="Picture 14">
            <a:extLst>
              <a:ext uri="{FF2B5EF4-FFF2-40B4-BE49-F238E27FC236}">
                <a16:creationId xmlns:a16="http://schemas.microsoft.com/office/drawing/2014/main" id="{1B4145E9-7F7E-A844-442F-0C0DD45B37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4132" y="87352"/>
            <a:ext cx="677800" cy="427309"/>
          </a:xfrm>
          <a:prstGeom prst="rect">
            <a:avLst/>
          </a:prstGeom>
        </p:spPr>
      </p:pic>
      <p:pic>
        <p:nvPicPr>
          <p:cNvPr id="16" name="Picture 15">
            <a:extLst>
              <a:ext uri="{FF2B5EF4-FFF2-40B4-BE49-F238E27FC236}">
                <a16:creationId xmlns:a16="http://schemas.microsoft.com/office/drawing/2014/main" id="{7A507078-E7E5-D183-2BD7-3A314458F84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80495" y="123670"/>
            <a:ext cx="777382" cy="330387"/>
          </a:xfrm>
          <a:prstGeom prst="rect">
            <a:avLst/>
          </a:prstGeom>
        </p:spPr>
      </p:pic>
      <p:pic>
        <p:nvPicPr>
          <p:cNvPr id="8" name="Picture 7">
            <a:extLst>
              <a:ext uri="{FF2B5EF4-FFF2-40B4-BE49-F238E27FC236}">
                <a16:creationId xmlns:a16="http://schemas.microsoft.com/office/drawing/2014/main" id="{EEB8A6B2-D3CA-B978-C4CD-0830558A2CDE}"/>
              </a:ext>
            </a:extLst>
          </p:cNvPr>
          <p:cNvPicPr>
            <a:picLocks noChangeAspect="1"/>
          </p:cNvPicPr>
          <p:nvPr/>
        </p:nvPicPr>
        <p:blipFill>
          <a:blip r:embed="rId5"/>
          <a:stretch>
            <a:fillRect/>
          </a:stretch>
        </p:blipFill>
        <p:spPr>
          <a:xfrm>
            <a:off x="495802" y="812783"/>
            <a:ext cx="5299930" cy="3903966"/>
          </a:xfrm>
          <a:prstGeom prst="rect">
            <a:avLst/>
          </a:prstGeom>
        </p:spPr>
      </p:pic>
      <p:pic>
        <p:nvPicPr>
          <p:cNvPr id="11" name="Picture 10">
            <a:extLst>
              <a:ext uri="{FF2B5EF4-FFF2-40B4-BE49-F238E27FC236}">
                <a16:creationId xmlns:a16="http://schemas.microsoft.com/office/drawing/2014/main" id="{D8FAE108-B4C4-8C55-344E-418D99CF04A6}"/>
              </a:ext>
            </a:extLst>
          </p:cNvPr>
          <p:cNvPicPr>
            <a:picLocks noChangeAspect="1"/>
          </p:cNvPicPr>
          <p:nvPr/>
        </p:nvPicPr>
        <p:blipFill>
          <a:blip r:embed="rId6"/>
          <a:stretch>
            <a:fillRect/>
          </a:stretch>
        </p:blipFill>
        <p:spPr>
          <a:xfrm>
            <a:off x="5970461" y="271610"/>
            <a:ext cx="6027212" cy="5508088"/>
          </a:xfrm>
          <a:prstGeom prst="rect">
            <a:avLst/>
          </a:prstGeom>
        </p:spPr>
      </p:pic>
      <p:pic>
        <p:nvPicPr>
          <p:cNvPr id="20" name="Picture 19">
            <a:extLst>
              <a:ext uri="{FF2B5EF4-FFF2-40B4-BE49-F238E27FC236}">
                <a16:creationId xmlns:a16="http://schemas.microsoft.com/office/drawing/2014/main" id="{3F3882B0-516C-78D3-545C-2BD7BDD5FEED}"/>
              </a:ext>
            </a:extLst>
          </p:cNvPr>
          <p:cNvPicPr>
            <a:picLocks noChangeAspect="1"/>
          </p:cNvPicPr>
          <p:nvPr/>
        </p:nvPicPr>
        <p:blipFill>
          <a:blip r:embed="rId7"/>
          <a:stretch>
            <a:fillRect/>
          </a:stretch>
        </p:blipFill>
        <p:spPr>
          <a:xfrm>
            <a:off x="2203196" y="683449"/>
            <a:ext cx="7785609" cy="5611874"/>
          </a:xfrm>
          <a:prstGeom prst="rect">
            <a:avLst/>
          </a:prstGeom>
        </p:spPr>
      </p:pic>
      <p:pic>
        <p:nvPicPr>
          <p:cNvPr id="21" name="Picture 4">
            <a:extLst>
              <a:ext uri="{FF2B5EF4-FFF2-40B4-BE49-F238E27FC236}">
                <a16:creationId xmlns:a16="http://schemas.microsoft.com/office/drawing/2014/main" id="{A797769F-DC4B-244A-393C-C9F25534DAD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03018" y="85133"/>
            <a:ext cx="1381125" cy="400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4285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par>
                          <p:cTn id="7" fill="hold">
                            <p:stCondLst>
                              <p:cond delay="0"/>
                            </p:stCondLst>
                            <p:childTnLst>
                              <p:par>
                                <p:cTn id="8" presetID="42" presetClass="entr" presetSubtype="0" fill="hold" nodeType="after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1000"/>
                                        <p:tgtEl>
                                          <p:spTgt spid="21"/>
                                        </p:tgtEl>
                                      </p:cBhvr>
                                    </p:animEffect>
                                    <p:anim calcmode="lin" valueType="num">
                                      <p:cBhvr>
                                        <p:cTn id="11" dur="1000" fill="hold"/>
                                        <p:tgtEl>
                                          <p:spTgt spid="21"/>
                                        </p:tgtEl>
                                        <p:attrNameLst>
                                          <p:attrName>ppt_x</p:attrName>
                                        </p:attrNameLst>
                                      </p:cBhvr>
                                      <p:tavLst>
                                        <p:tav tm="0">
                                          <p:val>
                                            <p:strVal val="#ppt_x"/>
                                          </p:val>
                                        </p:tav>
                                        <p:tav tm="100000">
                                          <p:val>
                                            <p:strVal val="#ppt_x"/>
                                          </p:val>
                                        </p:tav>
                                      </p:tavLst>
                                    </p:anim>
                                    <p:anim calcmode="lin" valueType="num">
                                      <p:cBhvr>
                                        <p:cTn id="12" dur="1000" fill="hold"/>
                                        <p:tgtEl>
                                          <p:spTgt spid="21"/>
                                        </p:tgtEl>
                                        <p:attrNameLst>
                                          <p:attrName>ppt_y</p:attrName>
                                        </p:attrNameLst>
                                      </p:cBhvr>
                                      <p:tavLst>
                                        <p:tav tm="0">
                                          <p:val>
                                            <p:strVal val="#ppt_y+.1"/>
                                          </p:val>
                                        </p:tav>
                                        <p:tav tm="100000">
                                          <p:val>
                                            <p:strVal val="#ppt_y"/>
                                          </p:val>
                                        </p:tav>
                                      </p:tavLst>
                                    </p:anim>
                                  </p:childTnLst>
                                </p:cTn>
                              </p:par>
                            </p:childTnLst>
                          </p:cTn>
                        </p:par>
                        <p:par>
                          <p:cTn id="13" fill="hold">
                            <p:stCondLst>
                              <p:cond delay="1000"/>
                            </p:stCondLst>
                            <p:childTnLst>
                              <p:par>
                                <p:cTn id="14" presetID="16" presetClass="entr" presetSubtype="21" fill="hold"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barn(inVertical)">
                                      <p:cBhvr>
                                        <p:cTn id="16" dur="500"/>
                                        <p:tgtEl>
                                          <p:spTgt spid="11"/>
                                        </p:tgtEl>
                                      </p:cBhvr>
                                    </p:animEffect>
                                  </p:childTnLst>
                                </p:cTn>
                              </p:par>
                            </p:childTnLst>
                          </p:cTn>
                        </p:par>
                        <p:par>
                          <p:cTn id="17" fill="hold">
                            <p:stCondLst>
                              <p:cond delay="1500"/>
                            </p:stCondLst>
                            <p:childTnLst>
                              <p:par>
                                <p:cTn id="18" presetID="42" presetClass="entr" presetSubtype="0" fill="hold" nodeType="afterEffect">
                                  <p:stCondLst>
                                    <p:cond delay="50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1000"/>
                                        <p:tgtEl>
                                          <p:spTgt spid="8"/>
                                        </p:tgtEl>
                                      </p:cBhvr>
                                    </p:animEffect>
                                    <p:anim calcmode="lin" valueType="num">
                                      <p:cBhvr>
                                        <p:cTn id="21" dur="1000" fill="hold"/>
                                        <p:tgtEl>
                                          <p:spTgt spid="8"/>
                                        </p:tgtEl>
                                        <p:attrNameLst>
                                          <p:attrName>ppt_x</p:attrName>
                                        </p:attrNameLst>
                                      </p:cBhvr>
                                      <p:tavLst>
                                        <p:tav tm="0">
                                          <p:val>
                                            <p:strVal val="#ppt_x"/>
                                          </p:val>
                                        </p:tav>
                                        <p:tav tm="100000">
                                          <p:val>
                                            <p:strVal val="#ppt_x"/>
                                          </p:val>
                                        </p:tav>
                                      </p:tavLst>
                                    </p:anim>
                                    <p:anim calcmode="lin" valueType="num">
                                      <p:cBhvr>
                                        <p:cTn id="22" dur="1000" fill="hold"/>
                                        <p:tgtEl>
                                          <p:spTgt spid="8"/>
                                        </p:tgtEl>
                                        <p:attrNameLst>
                                          <p:attrName>ppt_y</p:attrName>
                                        </p:attrNameLst>
                                      </p:cBhvr>
                                      <p:tavLst>
                                        <p:tav tm="0">
                                          <p:val>
                                            <p:strVal val="#ppt_y+.1"/>
                                          </p:val>
                                        </p:tav>
                                        <p:tav tm="100000">
                                          <p:val>
                                            <p:strVal val="#ppt_y"/>
                                          </p:val>
                                        </p:tav>
                                      </p:tavLst>
                                    </p:anim>
                                  </p:childTnLst>
                                </p:cTn>
                              </p:par>
                            </p:childTnLst>
                          </p:cTn>
                        </p:par>
                        <p:par>
                          <p:cTn id="23" fill="hold">
                            <p:stCondLst>
                              <p:cond delay="3000"/>
                            </p:stCondLst>
                            <p:childTnLst>
                              <p:par>
                                <p:cTn id="24" presetID="2" presetClass="entr" presetSubtype="6" fill="hold" nodeType="afterEffect">
                                  <p:stCondLst>
                                    <p:cond delay="500"/>
                                  </p:st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fill="hold"/>
                                        <p:tgtEl>
                                          <p:spTgt spid="20"/>
                                        </p:tgtEl>
                                        <p:attrNameLst>
                                          <p:attrName>ppt_x</p:attrName>
                                        </p:attrNameLst>
                                      </p:cBhvr>
                                      <p:tavLst>
                                        <p:tav tm="0">
                                          <p:val>
                                            <p:strVal val="1+#ppt_w/2"/>
                                          </p:val>
                                        </p:tav>
                                        <p:tav tm="100000">
                                          <p:val>
                                            <p:strVal val="#ppt_x"/>
                                          </p:val>
                                        </p:tav>
                                      </p:tavLst>
                                    </p:anim>
                                    <p:anim calcmode="lin" valueType="num">
                                      <p:cBhvr additive="base">
                                        <p:cTn id="27"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C0EB53CC-DED4-6B4D-82C5-CBD8A9492FDC}"/>
              </a:ext>
            </a:extLst>
          </p:cNvPr>
          <p:cNvGrpSpPr/>
          <p:nvPr/>
        </p:nvGrpSpPr>
        <p:grpSpPr>
          <a:xfrm>
            <a:off x="0" y="141563"/>
            <a:ext cx="12192000" cy="6716437"/>
            <a:chOff x="-11723" y="153285"/>
            <a:chExt cx="12192000" cy="6716437"/>
          </a:xfrm>
        </p:grpSpPr>
        <p:pic>
          <p:nvPicPr>
            <p:cNvPr id="13" name="Picture 2">
              <a:extLst>
                <a:ext uri="{FF2B5EF4-FFF2-40B4-BE49-F238E27FC236}">
                  <a16:creationId xmlns:a16="http://schemas.microsoft.com/office/drawing/2014/main" id="{818B8C9C-C958-856D-BAF7-C70A81F19B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6868" y="153285"/>
              <a:ext cx="562843" cy="295242"/>
            </a:xfrm>
            <a:prstGeom prst="rect">
              <a:avLst/>
            </a:prstGeom>
            <a:noFill/>
            <a:extLst>
              <a:ext uri="{909E8E84-426E-40DD-AFC4-6F175D3DCCD1}">
                <a14:hiddenFill xmlns:a14="http://schemas.microsoft.com/office/drawing/2010/main">
                  <a:solidFill>
                    <a:srgbClr val="FFFFFF"/>
                  </a:solidFill>
                </a14:hiddenFill>
              </a:ext>
            </a:extLst>
          </p:spPr>
        </p:pic>
        <p:sp>
          <p:nvSpPr>
            <p:cNvPr id="14" name="Arrow: Pentagon 13">
              <a:extLst>
                <a:ext uri="{FF2B5EF4-FFF2-40B4-BE49-F238E27FC236}">
                  <a16:creationId xmlns:a16="http://schemas.microsoft.com/office/drawing/2014/main" id="{D7C3F4FC-5953-EA50-CF23-A598AECDEA8C}"/>
                </a:ext>
              </a:extLst>
            </p:cNvPr>
            <p:cNvSpPr/>
            <p:nvPr/>
          </p:nvSpPr>
          <p:spPr>
            <a:xfrm flipV="1">
              <a:off x="-11723" y="6517340"/>
              <a:ext cx="12192000" cy="352382"/>
            </a:xfrm>
            <a:prstGeom prst="homePlate">
              <a:avLst/>
            </a:prstGeom>
            <a:gradFill flip="none" rotWithShape="1">
              <a:gsLst>
                <a:gs pos="0">
                  <a:schemeClr val="accent1">
                    <a:lumMod val="0"/>
                    <a:lumOff val="100000"/>
                  </a:schemeClr>
                </a:gs>
                <a:gs pos="46000">
                  <a:schemeClr val="accent1">
                    <a:lumMod val="0"/>
                    <a:lumOff val="100000"/>
                  </a:schemeClr>
                </a:gs>
                <a:gs pos="100000">
                  <a:schemeClr val="accent1">
                    <a:lumMod val="100000"/>
                  </a:schemeClr>
                </a:gs>
              </a:gsLst>
              <a:path path="rect">
                <a:fillToRect l="100000" t="100000"/>
              </a:path>
              <a:tileRect r="-100000" b="-100000"/>
            </a:gra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pic>
        <p:nvPicPr>
          <p:cNvPr id="15" name="Picture 14">
            <a:extLst>
              <a:ext uri="{FF2B5EF4-FFF2-40B4-BE49-F238E27FC236}">
                <a16:creationId xmlns:a16="http://schemas.microsoft.com/office/drawing/2014/main" id="{1B4145E9-7F7E-A844-442F-0C0DD45B37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4132" y="87352"/>
            <a:ext cx="677800" cy="427309"/>
          </a:xfrm>
          <a:prstGeom prst="rect">
            <a:avLst/>
          </a:prstGeom>
        </p:spPr>
      </p:pic>
      <p:pic>
        <p:nvPicPr>
          <p:cNvPr id="16" name="Picture 15">
            <a:extLst>
              <a:ext uri="{FF2B5EF4-FFF2-40B4-BE49-F238E27FC236}">
                <a16:creationId xmlns:a16="http://schemas.microsoft.com/office/drawing/2014/main" id="{7A507078-E7E5-D183-2BD7-3A314458F84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80495" y="123670"/>
            <a:ext cx="777382" cy="330387"/>
          </a:xfrm>
          <a:prstGeom prst="rect">
            <a:avLst/>
          </a:prstGeom>
        </p:spPr>
      </p:pic>
      <p:pic>
        <p:nvPicPr>
          <p:cNvPr id="2" name="Picture 1">
            <a:extLst>
              <a:ext uri="{FF2B5EF4-FFF2-40B4-BE49-F238E27FC236}">
                <a16:creationId xmlns:a16="http://schemas.microsoft.com/office/drawing/2014/main" id="{B3B2B069-3D6C-BAE0-A030-32B564C733D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57060" y="2135788"/>
            <a:ext cx="9160305" cy="2465649"/>
          </a:xfrm>
          <a:prstGeom prst="rect">
            <a:avLst/>
          </a:prstGeom>
        </p:spPr>
      </p:pic>
    </p:spTree>
    <p:extLst>
      <p:ext uri="{BB962C8B-B14F-4D97-AF65-F5344CB8AC3E}">
        <p14:creationId xmlns:p14="http://schemas.microsoft.com/office/powerpoint/2010/main" val="2676566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1181</TotalTime>
  <Words>868</Words>
  <Application>Microsoft Office PowerPoint</Application>
  <PresentationFormat>Widescreen</PresentationFormat>
  <Paragraphs>94</Paragraphs>
  <Slides>18</Slides>
  <Notes>0</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Bahnschrift SemiLight Condensed</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Sharon Blanche</dc:creator>
  <cp:lastModifiedBy>Sharon Blanche</cp:lastModifiedBy>
  <cp:revision>3</cp:revision>
  <dcterms:created xsi:type="dcterms:W3CDTF">2022-11-17T05:32:11Z</dcterms:created>
  <dcterms:modified xsi:type="dcterms:W3CDTF">2022-12-09T07:49:46Z</dcterms:modified>
</cp:coreProperties>
</file>